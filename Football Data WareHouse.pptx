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4660"/>
  </p:normalViewPr>
  <p:slideViewPr>
    <p:cSldViewPr snapToGrid="0">
      <p:cViewPr varScale="1">
        <p:scale>
          <a:sx n="150" d="100"/>
          <a:sy n="150" d="100"/>
        </p:scale>
        <p:origin x="62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8C13F74-6262-46B4-A923-9F832FB99BFD}" type="doc">
      <dgm:prSet loTypeId="urn:microsoft.com/office/officeart/2005/8/layout/process1" loCatId="process" qsTypeId="urn:microsoft.com/office/officeart/2005/8/quickstyle/simple1" qsCatId="simple" csTypeId="urn:microsoft.com/office/officeart/2005/8/colors/accent1_2" csCatId="accent1" phldr="1"/>
      <dgm:spPr/>
    </dgm:pt>
    <dgm:pt modelId="{D3211A68-32F3-491B-98BB-6497F28216D3}">
      <dgm:prSet phldrT="[Testo]"/>
      <dgm:spPr/>
      <dgm:t>
        <a:bodyPr/>
        <a:lstStyle/>
        <a:p>
          <a:r>
            <a:rPr lang="it-IT" dirty="0"/>
            <a:t>CSV FILES</a:t>
          </a:r>
        </a:p>
      </dgm:t>
    </dgm:pt>
    <dgm:pt modelId="{E3B77541-6FD0-44E5-A920-E7E20D909D12}" type="parTrans" cxnId="{2A0EDD03-458B-45C9-9069-24BC1BE43863}">
      <dgm:prSet/>
      <dgm:spPr/>
      <dgm:t>
        <a:bodyPr/>
        <a:lstStyle/>
        <a:p>
          <a:endParaRPr lang="it-IT"/>
        </a:p>
      </dgm:t>
    </dgm:pt>
    <dgm:pt modelId="{B0DB6738-D508-433D-A3A6-5B210B1FFE4F}" type="sibTrans" cxnId="{2A0EDD03-458B-45C9-9069-24BC1BE43863}">
      <dgm:prSet/>
      <dgm:spPr/>
      <dgm:t>
        <a:bodyPr/>
        <a:lstStyle/>
        <a:p>
          <a:endParaRPr lang="it-IT"/>
        </a:p>
      </dgm:t>
    </dgm:pt>
    <dgm:pt modelId="{7AD7149C-63F6-4C91-B3F3-05792DBBDFFD}">
      <dgm:prSet phldrT="[Testo]"/>
      <dgm:spPr/>
      <dgm:t>
        <a:bodyPr/>
        <a:lstStyle/>
        <a:p>
          <a:r>
            <a:rPr lang="it-IT" dirty="0"/>
            <a:t>STAGING TABLES</a:t>
          </a:r>
        </a:p>
      </dgm:t>
    </dgm:pt>
    <dgm:pt modelId="{D042921C-142A-4AE9-A937-F3E231125F01}" type="parTrans" cxnId="{0C76CD40-1B30-4318-8A81-F947921D8920}">
      <dgm:prSet/>
      <dgm:spPr/>
      <dgm:t>
        <a:bodyPr/>
        <a:lstStyle/>
        <a:p>
          <a:endParaRPr lang="it-IT"/>
        </a:p>
      </dgm:t>
    </dgm:pt>
    <dgm:pt modelId="{7D4A8154-5670-4E52-8FD1-7FFDF567E33E}" type="sibTrans" cxnId="{0C76CD40-1B30-4318-8A81-F947921D8920}">
      <dgm:prSet/>
      <dgm:spPr/>
      <dgm:t>
        <a:bodyPr/>
        <a:lstStyle/>
        <a:p>
          <a:endParaRPr lang="it-IT"/>
        </a:p>
      </dgm:t>
    </dgm:pt>
    <dgm:pt modelId="{1C40E776-7D26-4514-BAD4-6BFA69EC6D3F}">
      <dgm:prSet phldrT="[Testo]"/>
      <dgm:spPr/>
      <dgm:t>
        <a:bodyPr/>
        <a:lstStyle/>
        <a:p>
          <a:r>
            <a:rPr lang="it-IT" dirty="0"/>
            <a:t>STAR SCHEMA TABLES</a:t>
          </a:r>
        </a:p>
      </dgm:t>
    </dgm:pt>
    <dgm:pt modelId="{33270364-0AE5-4A59-99E4-F35C3EB84E85}" type="parTrans" cxnId="{01B3DF6E-525B-4E66-9D77-FA5A375A500C}">
      <dgm:prSet/>
      <dgm:spPr/>
      <dgm:t>
        <a:bodyPr/>
        <a:lstStyle/>
        <a:p>
          <a:endParaRPr lang="it-IT"/>
        </a:p>
      </dgm:t>
    </dgm:pt>
    <dgm:pt modelId="{94E4F6F6-A27A-4797-AD1D-E90BEADA53E8}" type="sibTrans" cxnId="{01B3DF6E-525B-4E66-9D77-FA5A375A500C}">
      <dgm:prSet/>
      <dgm:spPr/>
      <dgm:t>
        <a:bodyPr/>
        <a:lstStyle/>
        <a:p>
          <a:endParaRPr lang="it-IT"/>
        </a:p>
      </dgm:t>
    </dgm:pt>
    <dgm:pt modelId="{24334D43-5BB2-4B83-9C26-1F193B37F81B}" type="pres">
      <dgm:prSet presAssocID="{F8C13F74-6262-46B4-A923-9F832FB99BFD}" presName="Name0" presStyleCnt="0">
        <dgm:presLayoutVars>
          <dgm:dir/>
          <dgm:resizeHandles val="exact"/>
        </dgm:presLayoutVars>
      </dgm:prSet>
      <dgm:spPr/>
    </dgm:pt>
    <dgm:pt modelId="{4D13650D-E35E-4E62-B68F-6BAACBDCBB86}" type="pres">
      <dgm:prSet presAssocID="{D3211A68-32F3-491B-98BB-6497F28216D3}" presName="node" presStyleLbl="node1" presStyleIdx="0" presStyleCnt="3">
        <dgm:presLayoutVars>
          <dgm:bulletEnabled val="1"/>
        </dgm:presLayoutVars>
      </dgm:prSet>
      <dgm:spPr/>
    </dgm:pt>
    <dgm:pt modelId="{3CDFAFDA-05C7-47E4-92DB-97E983AF6D0B}" type="pres">
      <dgm:prSet presAssocID="{B0DB6738-D508-433D-A3A6-5B210B1FFE4F}" presName="sibTrans" presStyleLbl="sibTrans2D1" presStyleIdx="0" presStyleCnt="2"/>
      <dgm:spPr/>
    </dgm:pt>
    <dgm:pt modelId="{476A189D-A7E3-4D96-91F1-B9E3D06AA506}" type="pres">
      <dgm:prSet presAssocID="{B0DB6738-D508-433D-A3A6-5B210B1FFE4F}" presName="connectorText" presStyleLbl="sibTrans2D1" presStyleIdx="0" presStyleCnt="2"/>
      <dgm:spPr/>
    </dgm:pt>
    <dgm:pt modelId="{FB03D1A2-8B7D-4956-AB0B-03F0406F6F48}" type="pres">
      <dgm:prSet presAssocID="{7AD7149C-63F6-4C91-B3F3-05792DBBDFFD}" presName="node" presStyleLbl="node1" presStyleIdx="1" presStyleCnt="3">
        <dgm:presLayoutVars>
          <dgm:bulletEnabled val="1"/>
        </dgm:presLayoutVars>
      </dgm:prSet>
      <dgm:spPr/>
    </dgm:pt>
    <dgm:pt modelId="{CD8F1826-5D85-4D01-ADF6-06906C825D93}" type="pres">
      <dgm:prSet presAssocID="{7D4A8154-5670-4E52-8FD1-7FFDF567E33E}" presName="sibTrans" presStyleLbl="sibTrans2D1" presStyleIdx="1" presStyleCnt="2"/>
      <dgm:spPr/>
    </dgm:pt>
    <dgm:pt modelId="{31B23B10-BDAF-4911-A680-1A36B38CACF6}" type="pres">
      <dgm:prSet presAssocID="{7D4A8154-5670-4E52-8FD1-7FFDF567E33E}" presName="connectorText" presStyleLbl="sibTrans2D1" presStyleIdx="1" presStyleCnt="2"/>
      <dgm:spPr/>
    </dgm:pt>
    <dgm:pt modelId="{E301B99F-B357-45D7-933A-96DF6F4EED6F}" type="pres">
      <dgm:prSet presAssocID="{1C40E776-7D26-4514-BAD4-6BFA69EC6D3F}" presName="node" presStyleLbl="node1" presStyleIdx="2" presStyleCnt="3">
        <dgm:presLayoutVars>
          <dgm:bulletEnabled val="1"/>
        </dgm:presLayoutVars>
      </dgm:prSet>
      <dgm:spPr/>
    </dgm:pt>
  </dgm:ptLst>
  <dgm:cxnLst>
    <dgm:cxn modelId="{2A0EDD03-458B-45C9-9069-24BC1BE43863}" srcId="{F8C13F74-6262-46B4-A923-9F832FB99BFD}" destId="{D3211A68-32F3-491B-98BB-6497F28216D3}" srcOrd="0" destOrd="0" parTransId="{E3B77541-6FD0-44E5-A920-E7E20D909D12}" sibTransId="{B0DB6738-D508-433D-A3A6-5B210B1FFE4F}"/>
    <dgm:cxn modelId="{70A41828-3C11-4608-A8B1-6A34619D0767}" type="presOf" srcId="{1C40E776-7D26-4514-BAD4-6BFA69EC6D3F}" destId="{E301B99F-B357-45D7-933A-96DF6F4EED6F}" srcOrd="0" destOrd="0" presId="urn:microsoft.com/office/officeart/2005/8/layout/process1"/>
    <dgm:cxn modelId="{B097FB35-662B-42CE-9B71-8887CD0C4A99}" type="presOf" srcId="{7AD7149C-63F6-4C91-B3F3-05792DBBDFFD}" destId="{FB03D1A2-8B7D-4956-AB0B-03F0406F6F48}" srcOrd="0" destOrd="0" presId="urn:microsoft.com/office/officeart/2005/8/layout/process1"/>
    <dgm:cxn modelId="{0C76CD40-1B30-4318-8A81-F947921D8920}" srcId="{F8C13F74-6262-46B4-A923-9F832FB99BFD}" destId="{7AD7149C-63F6-4C91-B3F3-05792DBBDFFD}" srcOrd="1" destOrd="0" parTransId="{D042921C-142A-4AE9-A937-F3E231125F01}" sibTransId="{7D4A8154-5670-4E52-8FD1-7FFDF567E33E}"/>
    <dgm:cxn modelId="{56E41D49-49C2-40A0-A6CA-FB541A0C784B}" type="presOf" srcId="{D3211A68-32F3-491B-98BB-6497F28216D3}" destId="{4D13650D-E35E-4E62-B68F-6BAACBDCBB86}" srcOrd="0" destOrd="0" presId="urn:microsoft.com/office/officeart/2005/8/layout/process1"/>
    <dgm:cxn modelId="{07E9DF4D-DBB7-47B9-B5F9-D0F454891B7B}" type="presOf" srcId="{7D4A8154-5670-4E52-8FD1-7FFDF567E33E}" destId="{CD8F1826-5D85-4D01-ADF6-06906C825D93}" srcOrd="0" destOrd="0" presId="urn:microsoft.com/office/officeart/2005/8/layout/process1"/>
    <dgm:cxn modelId="{01B3DF6E-525B-4E66-9D77-FA5A375A500C}" srcId="{F8C13F74-6262-46B4-A923-9F832FB99BFD}" destId="{1C40E776-7D26-4514-BAD4-6BFA69EC6D3F}" srcOrd="2" destOrd="0" parTransId="{33270364-0AE5-4A59-99E4-F35C3EB84E85}" sibTransId="{94E4F6F6-A27A-4797-AD1D-E90BEADA53E8}"/>
    <dgm:cxn modelId="{34791F70-8421-4C08-B0EA-C8C2A3E343C1}" type="presOf" srcId="{B0DB6738-D508-433D-A3A6-5B210B1FFE4F}" destId="{476A189D-A7E3-4D96-91F1-B9E3D06AA506}" srcOrd="1" destOrd="0" presId="urn:microsoft.com/office/officeart/2005/8/layout/process1"/>
    <dgm:cxn modelId="{CCBB90D4-7173-45A8-A99E-5322D589AF58}" type="presOf" srcId="{F8C13F74-6262-46B4-A923-9F832FB99BFD}" destId="{24334D43-5BB2-4B83-9C26-1F193B37F81B}" srcOrd="0" destOrd="0" presId="urn:microsoft.com/office/officeart/2005/8/layout/process1"/>
    <dgm:cxn modelId="{440318DA-3C9E-48D3-A337-65FD4B1BE617}" type="presOf" srcId="{B0DB6738-D508-433D-A3A6-5B210B1FFE4F}" destId="{3CDFAFDA-05C7-47E4-92DB-97E983AF6D0B}" srcOrd="0" destOrd="0" presId="urn:microsoft.com/office/officeart/2005/8/layout/process1"/>
    <dgm:cxn modelId="{AFC0A8EA-BCE0-4C91-BD24-A9BC6C85B6BC}" type="presOf" srcId="{7D4A8154-5670-4E52-8FD1-7FFDF567E33E}" destId="{31B23B10-BDAF-4911-A680-1A36B38CACF6}" srcOrd="1" destOrd="0" presId="urn:microsoft.com/office/officeart/2005/8/layout/process1"/>
    <dgm:cxn modelId="{7D4EC19F-0AD3-4F10-BCE2-61EADE11FB1E}" type="presParOf" srcId="{24334D43-5BB2-4B83-9C26-1F193B37F81B}" destId="{4D13650D-E35E-4E62-B68F-6BAACBDCBB86}" srcOrd="0" destOrd="0" presId="urn:microsoft.com/office/officeart/2005/8/layout/process1"/>
    <dgm:cxn modelId="{55A2FB1C-A01F-4432-BDB6-8AF48CCE7D7A}" type="presParOf" srcId="{24334D43-5BB2-4B83-9C26-1F193B37F81B}" destId="{3CDFAFDA-05C7-47E4-92DB-97E983AF6D0B}" srcOrd="1" destOrd="0" presId="urn:microsoft.com/office/officeart/2005/8/layout/process1"/>
    <dgm:cxn modelId="{96224B72-E413-468C-9A28-ED84B5ABF5F4}" type="presParOf" srcId="{3CDFAFDA-05C7-47E4-92DB-97E983AF6D0B}" destId="{476A189D-A7E3-4D96-91F1-B9E3D06AA506}" srcOrd="0" destOrd="0" presId="urn:microsoft.com/office/officeart/2005/8/layout/process1"/>
    <dgm:cxn modelId="{C3D608E0-FE25-42BE-80AB-9F8A7EDBF1D0}" type="presParOf" srcId="{24334D43-5BB2-4B83-9C26-1F193B37F81B}" destId="{FB03D1A2-8B7D-4956-AB0B-03F0406F6F48}" srcOrd="2" destOrd="0" presId="urn:microsoft.com/office/officeart/2005/8/layout/process1"/>
    <dgm:cxn modelId="{2A39400F-CD0B-4AC5-879D-39267B26CC1E}" type="presParOf" srcId="{24334D43-5BB2-4B83-9C26-1F193B37F81B}" destId="{CD8F1826-5D85-4D01-ADF6-06906C825D93}" srcOrd="3" destOrd="0" presId="urn:microsoft.com/office/officeart/2005/8/layout/process1"/>
    <dgm:cxn modelId="{31A84072-21E9-454B-BE99-4D4BCFF9F77C}" type="presParOf" srcId="{CD8F1826-5D85-4D01-ADF6-06906C825D93}" destId="{31B23B10-BDAF-4911-A680-1A36B38CACF6}" srcOrd="0" destOrd="0" presId="urn:microsoft.com/office/officeart/2005/8/layout/process1"/>
    <dgm:cxn modelId="{3E98C8E9-8F9A-458F-BDB5-7EE6ACD3A616}" type="presParOf" srcId="{24334D43-5BB2-4B83-9C26-1F193B37F81B}" destId="{E301B99F-B357-45D7-933A-96DF6F4EED6F}"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13650D-E35E-4E62-B68F-6BAACBDCBB86}">
      <dsp:nvSpPr>
        <dsp:cNvPr id="0" name=""/>
        <dsp:cNvSpPr/>
      </dsp:nvSpPr>
      <dsp:spPr>
        <a:xfrm>
          <a:off x="7026" y="82740"/>
          <a:ext cx="2100157" cy="12600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it-IT" sz="2300" kern="1200" dirty="0"/>
            <a:t>CSV FILES</a:t>
          </a:r>
        </a:p>
      </dsp:txBody>
      <dsp:txXfrm>
        <a:off x="43933" y="119647"/>
        <a:ext cx="2026343" cy="1186280"/>
      </dsp:txXfrm>
    </dsp:sp>
    <dsp:sp modelId="{3CDFAFDA-05C7-47E4-92DB-97E983AF6D0B}">
      <dsp:nvSpPr>
        <dsp:cNvPr id="0" name=""/>
        <dsp:cNvSpPr/>
      </dsp:nvSpPr>
      <dsp:spPr>
        <a:xfrm>
          <a:off x="2317199" y="452368"/>
          <a:ext cx="445233" cy="52083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it-IT" sz="1800" kern="1200"/>
        </a:p>
      </dsp:txBody>
      <dsp:txXfrm>
        <a:off x="2317199" y="556536"/>
        <a:ext cx="311663" cy="312502"/>
      </dsp:txXfrm>
    </dsp:sp>
    <dsp:sp modelId="{FB03D1A2-8B7D-4956-AB0B-03F0406F6F48}">
      <dsp:nvSpPr>
        <dsp:cNvPr id="0" name=""/>
        <dsp:cNvSpPr/>
      </dsp:nvSpPr>
      <dsp:spPr>
        <a:xfrm>
          <a:off x="2947246" y="82740"/>
          <a:ext cx="2100157" cy="12600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it-IT" sz="2300" kern="1200" dirty="0"/>
            <a:t>STAGING TABLES</a:t>
          </a:r>
        </a:p>
      </dsp:txBody>
      <dsp:txXfrm>
        <a:off x="2984153" y="119647"/>
        <a:ext cx="2026343" cy="1186280"/>
      </dsp:txXfrm>
    </dsp:sp>
    <dsp:sp modelId="{CD8F1826-5D85-4D01-ADF6-06906C825D93}">
      <dsp:nvSpPr>
        <dsp:cNvPr id="0" name=""/>
        <dsp:cNvSpPr/>
      </dsp:nvSpPr>
      <dsp:spPr>
        <a:xfrm>
          <a:off x="5257419" y="452368"/>
          <a:ext cx="445233" cy="52083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it-IT" sz="1800" kern="1200"/>
        </a:p>
      </dsp:txBody>
      <dsp:txXfrm>
        <a:off x="5257419" y="556536"/>
        <a:ext cx="311663" cy="312502"/>
      </dsp:txXfrm>
    </dsp:sp>
    <dsp:sp modelId="{E301B99F-B357-45D7-933A-96DF6F4EED6F}">
      <dsp:nvSpPr>
        <dsp:cNvPr id="0" name=""/>
        <dsp:cNvSpPr/>
      </dsp:nvSpPr>
      <dsp:spPr>
        <a:xfrm>
          <a:off x="5887466" y="82740"/>
          <a:ext cx="2100157" cy="12600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it-IT" sz="2300" kern="1200" dirty="0"/>
            <a:t>STAR SCHEMA TABLES</a:t>
          </a:r>
        </a:p>
      </dsp:txBody>
      <dsp:txXfrm>
        <a:off x="5924373" y="119647"/>
        <a:ext cx="2026343" cy="1186280"/>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dirty="0"/>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C4DBF3-A730-4D1B-9EB7-DCB5A40FDA9B}" type="datetimeFigureOut">
              <a:rPr lang="it-IT" smtClean="0"/>
              <a:t>11/07/2025</a:t>
            </a:fld>
            <a:endParaRPr lang="it-IT" dirty="0"/>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dirty="0"/>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dirty="0"/>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E5611-52C4-4329-88C3-CBD9F9F9B54A}" type="slidenum">
              <a:rPr lang="it-IT" smtClean="0"/>
              <a:t>‹N›</a:t>
            </a:fld>
            <a:endParaRPr lang="it-IT" dirty="0"/>
          </a:p>
        </p:txBody>
      </p:sp>
    </p:spTree>
    <p:extLst>
      <p:ext uri="{BB962C8B-B14F-4D97-AF65-F5344CB8AC3E}">
        <p14:creationId xmlns:p14="http://schemas.microsoft.com/office/powerpoint/2010/main" val="752314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4B21FF-46C4-1660-F9AE-ED5BE2C11700}"/>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97D0375C-7164-8AA1-4F94-3C02A83D50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52D94E9-CAE5-A631-5B8C-A3EADA31A7AB}"/>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78993D81-6830-8508-9ADF-76FC0DF59B23}"/>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BC36D6F3-763B-1E6E-5BC7-3DBD8EFE07D8}"/>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3143353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B76B192-9396-A933-0668-4B6EF54BB5B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EAF1D6E5-1564-3A59-6A3A-9BA1F56BA72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C6858C20-B863-82AF-A9EB-B3A54096F6DF}"/>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D313C64A-6916-F5E5-FB16-E0B35DDD1AA5}"/>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CDDA5973-ED03-0205-FA1F-6EAA2F8F6161}"/>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2828222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1DE6252-47A9-DC66-8923-65CA47F5F70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DDCCDC03-EC7F-69F4-54BD-9CA06ECAC9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57AC348F-F9F2-4669-C01C-389CD17B4658}"/>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B99AA0E9-3B00-D7E4-CB34-A7B12E4B5A47}"/>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59164E5C-A965-5ABD-50F8-E60DF9D66722}"/>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209470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D6CCB2D-BB84-2F01-DEDA-D72CA0A55BE3}"/>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9976238-C547-EF33-DA71-1C64DF98464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B53ED99-DC7A-EA65-204E-6909A7888D1A}"/>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4FBC385A-8871-1391-88D0-264A2DBBDB35}"/>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6" name="Segnaposto piè di pagina 5">
            <a:extLst>
              <a:ext uri="{FF2B5EF4-FFF2-40B4-BE49-F238E27FC236}">
                <a16:creationId xmlns:a16="http://schemas.microsoft.com/office/drawing/2014/main" id="{26880C97-2378-5AB6-E1D3-D212FB8AE77D}"/>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DF3A3134-0E69-7D24-82C7-FC32D1158A2D}"/>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864721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20FB57A-1254-7BB9-5419-B25126F588A1}"/>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CA8B0AA6-EB1D-B4D9-6EAD-1FC8A4F8B9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54343FB-588F-6AF6-47D8-0392987C5BC6}"/>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3E775261-04B8-B1F2-2DBC-9487AA6C79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A9BD4EBD-53DA-E654-1E1A-2A56A4D2BD82}"/>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4981BEA2-68AB-AA7F-312A-E0B8EEC4A43E}"/>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8" name="Segnaposto piè di pagina 7">
            <a:extLst>
              <a:ext uri="{FF2B5EF4-FFF2-40B4-BE49-F238E27FC236}">
                <a16:creationId xmlns:a16="http://schemas.microsoft.com/office/drawing/2014/main" id="{96140475-613D-585C-3D90-7B2EE727A391}"/>
              </a:ext>
            </a:extLst>
          </p:cNvPr>
          <p:cNvSpPr>
            <a:spLocks noGrp="1"/>
          </p:cNvSpPr>
          <p:nvPr>
            <p:ph type="ftr" sz="quarter" idx="11"/>
          </p:nvPr>
        </p:nvSpPr>
        <p:spPr/>
        <p:txBody>
          <a:bodyPr/>
          <a:lstStyle/>
          <a:p>
            <a:endParaRPr lang="it-IT" dirty="0"/>
          </a:p>
        </p:txBody>
      </p:sp>
      <p:sp>
        <p:nvSpPr>
          <p:cNvPr id="9" name="Segnaposto numero diapositiva 8">
            <a:extLst>
              <a:ext uri="{FF2B5EF4-FFF2-40B4-BE49-F238E27FC236}">
                <a16:creationId xmlns:a16="http://schemas.microsoft.com/office/drawing/2014/main" id="{DA604872-3E31-5ACC-63D5-0DC0AD805E21}"/>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9722725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4471787-AC3E-8491-5002-1A9B2717B70F}"/>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1E1EA8F4-D9AD-5867-9494-D4D95896EA67}"/>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4" name="Segnaposto piè di pagina 3">
            <a:extLst>
              <a:ext uri="{FF2B5EF4-FFF2-40B4-BE49-F238E27FC236}">
                <a16:creationId xmlns:a16="http://schemas.microsoft.com/office/drawing/2014/main" id="{B5E69DA7-A677-2C7F-7801-43DF740C3F20}"/>
              </a:ext>
            </a:extLst>
          </p:cNvPr>
          <p:cNvSpPr>
            <a:spLocks noGrp="1"/>
          </p:cNvSpPr>
          <p:nvPr>
            <p:ph type="ftr" sz="quarter" idx="11"/>
          </p:nvPr>
        </p:nvSpPr>
        <p:spPr/>
        <p:txBody>
          <a:bodyPr/>
          <a:lstStyle/>
          <a:p>
            <a:endParaRPr lang="it-IT" dirty="0"/>
          </a:p>
        </p:txBody>
      </p:sp>
      <p:sp>
        <p:nvSpPr>
          <p:cNvPr id="5" name="Segnaposto numero diapositiva 4">
            <a:extLst>
              <a:ext uri="{FF2B5EF4-FFF2-40B4-BE49-F238E27FC236}">
                <a16:creationId xmlns:a16="http://schemas.microsoft.com/office/drawing/2014/main" id="{9B004CEA-5741-6DAA-9B83-8F88A992090D}"/>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778144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FBE702DF-E746-9060-2DC5-CB99752A0C1D}"/>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3" name="Segnaposto piè di pagina 2">
            <a:extLst>
              <a:ext uri="{FF2B5EF4-FFF2-40B4-BE49-F238E27FC236}">
                <a16:creationId xmlns:a16="http://schemas.microsoft.com/office/drawing/2014/main" id="{820F4159-191E-17AA-B76C-FEB243AEDA3F}"/>
              </a:ext>
            </a:extLst>
          </p:cNvPr>
          <p:cNvSpPr>
            <a:spLocks noGrp="1"/>
          </p:cNvSpPr>
          <p:nvPr>
            <p:ph type="ftr" sz="quarter" idx="11"/>
          </p:nvPr>
        </p:nvSpPr>
        <p:spPr/>
        <p:txBody>
          <a:bodyPr/>
          <a:lstStyle/>
          <a:p>
            <a:endParaRPr lang="it-IT" dirty="0"/>
          </a:p>
        </p:txBody>
      </p:sp>
      <p:sp>
        <p:nvSpPr>
          <p:cNvPr id="4" name="Segnaposto numero diapositiva 3">
            <a:extLst>
              <a:ext uri="{FF2B5EF4-FFF2-40B4-BE49-F238E27FC236}">
                <a16:creationId xmlns:a16="http://schemas.microsoft.com/office/drawing/2014/main" id="{16ED0C37-42A1-099B-8CB5-F0C16FA16D30}"/>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2181322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53D06A5-6E21-3ABD-6F5B-D20908CBB932}"/>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CB98CCED-5EC4-47C4-E8AD-7A007EC3CD8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42A44783-2AB2-2948-1E6E-BC2251C7A3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8B056C15-841D-6781-BE12-2145449B572B}"/>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6" name="Segnaposto piè di pagina 5">
            <a:extLst>
              <a:ext uri="{FF2B5EF4-FFF2-40B4-BE49-F238E27FC236}">
                <a16:creationId xmlns:a16="http://schemas.microsoft.com/office/drawing/2014/main" id="{9FEF09D1-BDF5-E8C3-B163-85907DEC59F2}"/>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2A4D6DB3-B641-48C5-AC8C-25719BA8189A}"/>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530713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0F0C89-580D-C07E-123F-EA278E1FEC1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C888A051-094D-C936-912B-8821D892D4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9778EDDB-7D0F-B98D-E353-11398EC91D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62499AE7-6925-1780-88AC-60192ED720EF}"/>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6" name="Segnaposto piè di pagina 5">
            <a:extLst>
              <a:ext uri="{FF2B5EF4-FFF2-40B4-BE49-F238E27FC236}">
                <a16:creationId xmlns:a16="http://schemas.microsoft.com/office/drawing/2014/main" id="{8E3FECE4-0A68-A9DD-C6EE-7F271DDCD958}"/>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959F9D14-F93D-9B36-D6AD-9E4D736D7074}"/>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370433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77BF36A-82EF-4042-774D-835D80AA658B}"/>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7B5DFD9B-0DE7-C870-F933-191E773F5D5A}"/>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EC3EB76-1A95-A46D-555B-460BD3BCF3ED}"/>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922584C6-AAFA-B261-3902-F950D399BACE}"/>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75845977-C3F1-D50D-35EE-A52C1CDE45CE}"/>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4279803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E6E929E6-D8A0-02CF-DF21-F118BCCEDA9C}"/>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D5571619-FBC0-FA09-70B3-F46CC2AF264C}"/>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4C5A4F9B-2725-A805-909C-4E992D221F2B}"/>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BF1E117E-6EA4-FDA0-9158-8E6D15EBD16E}"/>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829D6EFE-9BEC-6C81-2625-06BA1CFD909B}"/>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3180207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FAC837A9-E98D-2B83-2A45-93298E2C40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56B46D6-0F1F-E4E3-1CD0-994D5BAFCC1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EF453C0-51E1-7A5A-062C-1DD067BB2A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080F3A46-3C6D-0876-411C-DC58DE5510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dirty="0"/>
          </a:p>
        </p:txBody>
      </p:sp>
      <p:sp>
        <p:nvSpPr>
          <p:cNvPr id="6" name="Segnaposto numero diapositiva 5">
            <a:extLst>
              <a:ext uri="{FF2B5EF4-FFF2-40B4-BE49-F238E27FC236}">
                <a16:creationId xmlns:a16="http://schemas.microsoft.com/office/drawing/2014/main" id="{3E1A4A39-DEDE-8263-0930-4B6A914204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B2886A-63A7-46DF-B373-C65921F4F499}" type="slidenum">
              <a:rPr lang="it-IT" smtClean="0"/>
              <a:t>‹N›</a:t>
            </a:fld>
            <a:endParaRPr lang="it-IT" dirty="0"/>
          </a:p>
        </p:txBody>
      </p:sp>
    </p:spTree>
    <p:extLst>
      <p:ext uri="{BB962C8B-B14F-4D97-AF65-F5344CB8AC3E}">
        <p14:creationId xmlns:p14="http://schemas.microsoft.com/office/powerpoint/2010/main" val="314985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1.xml"/><Relationship Id="rId7" Type="http://schemas.openxmlformats.org/officeDocument/2006/relationships/image" Target="../media/image13.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17.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50.png"/></Relationships>
</file>

<file path=ppt/slides/_rels/slide1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www.statsmodels.org/stable/index.html" TargetMode="External"/><Relationship Id="rId3" Type="http://schemas.openxmlformats.org/officeDocument/2006/relationships/hyperlink" Target="https://www.kaggle.com/datasets/conalhenderson/football-data-warehouse/data" TargetMode="External"/><Relationship Id="rId7" Type="http://schemas.openxmlformats.org/officeDocument/2006/relationships/hyperlink" Target="https://matplotlib.org/stable/users/index.html" TargetMode="External"/><Relationship Id="rId2" Type="http://schemas.openxmlformats.org/officeDocument/2006/relationships/hyperlink" Target="https://github.com/mattia9203/Data-Warehouse-on-football-data.git" TargetMode="External"/><Relationship Id="rId1" Type="http://schemas.openxmlformats.org/officeDocument/2006/relationships/slideLayout" Target="../slideLayouts/slideLayout2.xml"/><Relationship Id="rId6" Type="http://schemas.openxmlformats.org/officeDocument/2006/relationships/hyperlink" Target="https://www.postgresql.org/docs/" TargetMode="External"/><Relationship Id="rId5" Type="http://schemas.openxmlformats.org/officeDocument/2006/relationships/hyperlink" Target="https://pandas.pydata.org/docs/" TargetMode="External"/><Relationship Id="rId10" Type="http://schemas.openxmlformats.org/officeDocument/2006/relationships/hyperlink" Target="https://www.pgadmin.org/docs/" TargetMode="External"/><Relationship Id="rId4" Type="http://schemas.openxmlformats.org/officeDocument/2006/relationships/hyperlink" Target="https://www.kaggle.com/datasets/davidcariboo/player-scores/data" TargetMode="External"/><Relationship Id="rId9" Type="http://schemas.openxmlformats.org/officeDocument/2006/relationships/hyperlink" Target="https://docs.sqlalchemy.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9" name="Rectangle 128">
            <a:extLst>
              <a:ext uri="{FF2B5EF4-FFF2-40B4-BE49-F238E27FC236}">
                <a16:creationId xmlns:a16="http://schemas.microsoft.com/office/drawing/2014/main" id="{FB33DC6A-1F1C-4A06-834E-CFF88F1C0B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36" name="Freeform: Shape 130">
            <a:extLst>
              <a:ext uri="{FF2B5EF4-FFF2-40B4-BE49-F238E27FC236}">
                <a16:creationId xmlns:a16="http://schemas.microsoft.com/office/drawing/2014/main" id="{0FE1D5CF-87B8-4A8A-AD3C-01D06A607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6208641" cy="6858000"/>
          </a:xfrm>
          <a:custGeom>
            <a:avLst/>
            <a:gdLst>
              <a:gd name="connsiteX0" fmla="*/ 0 w 6208641"/>
              <a:gd name="connsiteY0" fmla="*/ 0 h 6858000"/>
              <a:gd name="connsiteX1" fmla="*/ 5464181 w 6208641"/>
              <a:gd name="connsiteY1" fmla="*/ 0 h 6858000"/>
              <a:gd name="connsiteX2" fmla="*/ 5538086 w 6208641"/>
              <a:gd name="connsiteY2" fmla="*/ 159684 h 6858000"/>
              <a:gd name="connsiteX3" fmla="*/ 6208641 w 6208641"/>
              <a:gd name="connsiteY3" fmla="*/ 3706589 h 6858000"/>
              <a:gd name="connsiteX4" fmla="*/ 5734754 w 6208641"/>
              <a:gd name="connsiteY4" fmla="*/ 6730443 h 6858000"/>
              <a:gd name="connsiteX5" fmla="*/ 5689361 w 6208641"/>
              <a:gd name="connsiteY5" fmla="*/ 6858000 h 6858000"/>
              <a:gd name="connsiteX6" fmla="*/ 0 w 620864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08641" h="6858000">
                <a:moveTo>
                  <a:pt x="0" y="0"/>
                </a:moveTo>
                <a:lnTo>
                  <a:pt x="5464181" y="0"/>
                </a:lnTo>
                <a:lnTo>
                  <a:pt x="5538086" y="159684"/>
                </a:lnTo>
                <a:cubicBezTo>
                  <a:pt x="5961440" y="1172168"/>
                  <a:pt x="6208641" y="2392735"/>
                  <a:pt x="6208641" y="3706589"/>
                </a:cubicBezTo>
                <a:cubicBezTo>
                  <a:pt x="6208641" y="4801467"/>
                  <a:pt x="6036974" y="5831563"/>
                  <a:pt x="5734754" y="6730443"/>
                </a:cubicBezTo>
                <a:lnTo>
                  <a:pt x="568936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38" name="Freeform: Shape 132">
            <a:extLst>
              <a:ext uri="{FF2B5EF4-FFF2-40B4-BE49-F238E27FC236}">
                <a16:creationId xmlns:a16="http://schemas.microsoft.com/office/drawing/2014/main" id="{60926200-45C2-41E9-839F-31CD5FE4CD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203325" cy="6858000"/>
          </a:xfrm>
          <a:custGeom>
            <a:avLst/>
            <a:gdLst>
              <a:gd name="connsiteX0" fmla="*/ 0 w 6203325"/>
              <a:gd name="connsiteY0" fmla="*/ 0 h 6858000"/>
              <a:gd name="connsiteX1" fmla="*/ 5458865 w 6203325"/>
              <a:gd name="connsiteY1" fmla="*/ 0 h 6858000"/>
              <a:gd name="connsiteX2" fmla="*/ 5532770 w 6203325"/>
              <a:gd name="connsiteY2" fmla="*/ 159684 h 6858000"/>
              <a:gd name="connsiteX3" fmla="*/ 6203325 w 6203325"/>
              <a:gd name="connsiteY3" fmla="*/ 3706589 h 6858000"/>
              <a:gd name="connsiteX4" fmla="*/ 5729438 w 6203325"/>
              <a:gd name="connsiteY4" fmla="*/ 6730443 h 6858000"/>
              <a:gd name="connsiteX5" fmla="*/ 5684045 w 6203325"/>
              <a:gd name="connsiteY5" fmla="*/ 6858000 h 6858000"/>
              <a:gd name="connsiteX6" fmla="*/ 0 w 6203325"/>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03325" h="6858000">
                <a:moveTo>
                  <a:pt x="0" y="0"/>
                </a:moveTo>
                <a:lnTo>
                  <a:pt x="5458865" y="0"/>
                </a:lnTo>
                <a:lnTo>
                  <a:pt x="5532770" y="159684"/>
                </a:lnTo>
                <a:cubicBezTo>
                  <a:pt x="5956124" y="1172168"/>
                  <a:pt x="6203325" y="2392735"/>
                  <a:pt x="6203325" y="3706589"/>
                </a:cubicBezTo>
                <a:cubicBezTo>
                  <a:pt x="6203325" y="4801467"/>
                  <a:pt x="6031658" y="5831563"/>
                  <a:pt x="5729438" y="6730443"/>
                </a:cubicBezTo>
                <a:lnTo>
                  <a:pt x="5684045"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olo 1">
            <a:extLst>
              <a:ext uri="{FF2B5EF4-FFF2-40B4-BE49-F238E27FC236}">
                <a16:creationId xmlns:a16="http://schemas.microsoft.com/office/drawing/2014/main" id="{7DE2DDD6-BBE9-60AF-E587-F47A547643BA}"/>
              </a:ext>
            </a:extLst>
          </p:cNvPr>
          <p:cNvSpPr>
            <a:spLocks noGrp="1"/>
          </p:cNvSpPr>
          <p:nvPr>
            <p:ph type="ctrTitle"/>
          </p:nvPr>
        </p:nvSpPr>
        <p:spPr>
          <a:xfrm>
            <a:off x="489098" y="1106034"/>
            <a:ext cx="5019074" cy="3204134"/>
          </a:xfrm>
        </p:spPr>
        <p:txBody>
          <a:bodyPr anchor="b">
            <a:normAutofit/>
          </a:bodyPr>
          <a:lstStyle/>
          <a:p>
            <a:pPr algn="l"/>
            <a:r>
              <a:rPr lang="it-IT" sz="5400" b="1" dirty="0">
                <a:effectLst>
                  <a:outerShdw blurRad="38100" dist="38100" dir="2700000" algn="tl">
                    <a:srgbClr val="000000">
                      <a:alpha val="43137"/>
                    </a:srgbClr>
                  </a:outerShdw>
                </a:effectLst>
              </a:rPr>
              <a:t>Football Data WareHouse</a:t>
            </a:r>
          </a:p>
        </p:txBody>
      </p:sp>
      <p:sp>
        <p:nvSpPr>
          <p:cNvPr id="3" name="Sottotitolo 2">
            <a:extLst>
              <a:ext uri="{FF2B5EF4-FFF2-40B4-BE49-F238E27FC236}">
                <a16:creationId xmlns:a16="http://schemas.microsoft.com/office/drawing/2014/main" id="{3F86B8EC-3933-B53E-EF09-467D58596D44}"/>
              </a:ext>
            </a:extLst>
          </p:cNvPr>
          <p:cNvSpPr>
            <a:spLocks noGrp="1"/>
          </p:cNvSpPr>
          <p:nvPr>
            <p:ph type="subTitle" idx="1"/>
          </p:nvPr>
        </p:nvSpPr>
        <p:spPr>
          <a:xfrm>
            <a:off x="494124" y="4872922"/>
            <a:ext cx="5013698" cy="1208141"/>
          </a:xfrm>
        </p:spPr>
        <p:txBody>
          <a:bodyPr>
            <a:normAutofit/>
          </a:bodyPr>
          <a:lstStyle/>
          <a:p>
            <a:pPr algn="l"/>
            <a:r>
              <a:rPr lang="it-IT" dirty="0"/>
              <a:t>By</a:t>
            </a:r>
            <a:r>
              <a:rPr lang="it-IT" sz="2800" dirty="0"/>
              <a:t> Mattia Maucione</a:t>
            </a:r>
          </a:p>
          <a:p>
            <a:pPr algn="l"/>
            <a:r>
              <a:rPr lang="it-IT" sz="1800" dirty="0"/>
              <a:t>ID</a:t>
            </a:r>
            <a:r>
              <a:rPr lang="it-IT" sz="2000" dirty="0"/>
              <a:t>: 2007209</a:t>
            </a:r>
          </a:p>
        </p:txBody>
      </p:sp>
      <p:sp>
        <p:nvSpPr>
          <p:cNvPr id="135" name="Rectangle 13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67989"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pic>
        <p:nvPicPr>
          <p:cNvPr id="17" name="Immagine 16" descr="Immagine che contiene testo, forniture per ufficio, Personal Computer, design&#10;&#10;Il contenuto generato dall'IA potrebbe non essere corretto.">
            <a:extLst>
              <a:ext uri="{FF2B5EF4-FFF2-40B4-BE49-F238E27FC236}">
                <a16:creationId xmlns:a16="http://schemas.microsoft.com/office/drawing/2014/main" id="{0A7C6E1F-18F9-D557-F9D0-BD1B25456AC8}"/>
              </a:ext>
            </a:extLst>
          </p:cNvPr>
          <p:cNvPicPr>
            <a:picLocks noChangeAspect="1"/>
          </p:cNvPicPr>
          <p:nvPr/>
        </p:nvPicPr>
        <p:blipFill>
          <a:blip r:embed="rId2"/>
          <a:stretch>
            <a:fillRect/>
          </a:stretch>
        </p:blipFill>
        <p:spPr>
          <a:xfrm>
            <a:off x="8432943" y="625683"/>
            <a:ext cx="1831086" cy="2743200"/>
          </a:xfrm>
          <a:prstGeom prst="rect">
            <a:avLst/>
          </a:prstGeom>
        </p:spPr>
      </p:pic>
      <p:sp>
        <p:nvSpPr>
          <p:cNvPr id="137" name="Rectangle 13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098" y="4546920"/>
            <a:ext cx="501907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5" name="Immagine 4" descr="Immagine che contiene testo, logo, Carattere, Elementi grafici&#10;&#10;Il contenuto generato dall'IA potrebbe non essere corretto.">
            <a:extLst>
              <a:ext uri="{FF2B5EF4-FFF2-40B4-BE49-F238E27FC236}">
                <a16:creationId xmlns:a16="http://schemas.microsoft.com/office/drawing/2014/main" id="{6BEFD79E-FA0F-DADA-AD2B-A08F58C44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4071" y="3944826"/>
            <a:ext cx="4708833" cy="1954165"/>
          </a:xfrm>
          <a:prstGeom prst="rect">
            <a:avLst/>
          </a:prstGeom>
        </p:spPr>
      </p:pic>
    </p:spTree>
    <p:extLst>
      <p:ext uri="{BB962C8B-B14F-4D97-AF65-F5344CB8AC3E}">
        <p14:creationId xmlns:p14="http://schemas.microsoft.com/office/powerpoint/2010/main" val="2466238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9613011-FD5C-DDB2-C6CB-F7943DC84014}"/>
              </a:ext>
            </a:extLst>
          </p:cNvPr>
          <p:cNvSpPr>
            <a:spLocks noGrp="1"/>
          </p:cNvSpPr>
          <p:nvPr>
            <p:ph type="title"/>
          </p:nvPr>
        </p:nvSpPr>
        <p:spPr>
          <a:xfrm>
            <a:off x="654050" y="0"/>
            <a:ext cx="10515600" cy="1325563"/>
          </a:xfrm>
        </p:spPr>
        <p:txBody>
          <a:bodyPr/>
          <a:lstStyle/>
          <a:p>
            <a:pPr algn="ctr"/>
            <a:r>
              <a:rPr lang="en-GB" b="1" noProof="0" dirty="0">
                <a:effectLst>
                  <a:outerShdw blurRad="38100" dist="38100" dir="2700000" algn="tl">
                    <a:srgbClr val="000000">
                      <a:alpha val="43137"/>
                    </a:srgbClr>
                  </a:outerShdw>
                </a:effectLst>
              </a:rPr>
              <a:t>Motivation</a:t>
            </a:r>
            <a:r>
              <a:rPr lang="it-IT" b="1" dirty="0">
                <a:effectLst>
                  <a:outerShdw blurRad="38100" dist="38100" dir="2700000" algn="tl">
                    <a:srgbClr val="000000">
                      <a:alpha val="43137"/>
                    </a:srgbClr>
                  </a:outerShdw>
                </a:effectLst>
              </a:rPr>
              <a:t> &amp; </a:t>
            </a:r>
            <a:r>
              <a:rPr lang="it-IT" b="1" dirty="0" err="1">
                <a:effectLst>
                  <a:outerShdw blurRad="38100" dist="38100" dir="2700000" algn="tl">
                    <a:srgbClr val="000000">
                      <a:alpha val="43137"/>
                    </a:srgbClr>
                  </a:outerShdw>
                </a:effectLst>
              </a:rPr>
              <a:t>objective</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61E8283A-4121-D006-5E9C-B6E9A10B7C5F}"/>
              </a:ext>
            </a:extLst>
          </p:cNvPr>
          <p:cNvSpPr>
            <a:spLocks noGrp="1"/>
          </p:cNvSpPr>
          <p:nvPr>
            <p:ph idx="1"/>
          </p:nvPr>
        </p:nvSpPr>
        <p:spPr>
          <a:xfrm>
            <a:off x="80750" y="1398375"/>
            <a:ext cx="8428630" cy="2357414"/>
          </a:xfrm>
        </p:spPr>
        <p:txBody>
          <a:bodyPr>
            <a:normAutofit fontScale="92500"/>
          </a:bodyPr>
          <a:lstStyle/>
          <a:p>
            <a:r>
              <a:rPr lang="it-IT" dirty="0"/>
              <a:t>Project </a:t>
            </a:r>
            <a:r>
              <a:rPr lang="it-IT" dirty="0" err="1"/>
              <a:t>Description</a:t>
            </a:r>
            <a:r>
              <a:rPr lang="it-IT" dirty="0"/>
              <a:t>:</a:t>
            </a:r>
          </a:p>
          <a:p>
            <a:pPr marL="0" indent="0" algn="just">
              <a:buNone/>
            </a:pPr>
            <a:r>
              <a:rPr lang="en-US" sz="2200" dirty="0"/>
              <a:t>This project focuses on the development of a Data Warehouse to analyze the factors that influence the market value of professional football players across the top five European leagues (Serie A, Premier League, La Liga, Bundesliga, Ligue 1). It integrates two datasets: player performance statistics (2018–2024) and market valuations (2000–2024), harmonized through structured ETL operations.</a:t>
            </a:r>
            <a:endParaRPr lang="it-IT" sz="2200" dirty="0"/>
          </a:p>
        </p:txBody>
      </p:sp>
      <p:sp>
        <p:nvSpPr>
          <p:cNvPr id="4" name="CasellaDiTesto 3">
            <a:extLst>
              <a:ext uri="{FF2B5EF4-FFF2-40B4-BE49-F238E27FC236}">
                <a16:creationId xmlns:a16="http://schemas.microsoft.com/office/drawing/2014/main" id="{AE70AEFE-323F-21BF-CAD3-3FF25F56DF6C}"/>
              </a:ext>
            </a:extLst>
          </p:cNvPr>
          <p:cNvSpPr txBox="1"/>
          <p:nvPr/>
        </p:nvSpPr>
        <p:spPr>
          <a:xfrm>
            <a:off x="5770728" y="3882350"/>
            <a:ext cx="6421272" cy="2893100"/>
          </a:xfrm>
          <a:prstGeom prst="rect">
            <a:avLst/>
          </a:prstGeom>
          <a:noFill/>
        </p:spPr>
        <p:txBody>
          <a:bodyPr wrap="square" rtlCol="0">
            <a:spAutoFit/>
          </a:bodyPr>
          <a:lstStyle/>
          <a:p>
            <a:pPr marL="285750" indent="-285750">
              <a:buFont typeface="Arial" panose="020B0604020202020204" pitchFamily="34" charset="0"/>
              <a:buChar char="•"/>
            </a:pPr>
            <a:r>
              <a:rPr lang="it-IT" sz="2400" dirty="0" err="1"/>
              <a:t>Objective</a:t>
            </a:r>
            <a:endParaRPr lang="it-IT" sz="2400" dirty="0"/>
          </a:p>
          <a:p>
            <a:pPr algn="just"/>
            <a:r>
              <a:rPr lang="en-US" sz="2000" dirty="0"/>
              <a:t>Build a unified and consistent analytical base using a Dimensional Fact Model and a star schema in PostgreSQL, enabling detailed analysis of player valuation trends based on age, performance metrics, league, club, and role. The project includes data preparation, schema design, and statistical analysis performed with SQL and Python.</a:t>
            </a:r>
          </a:p>
          <a:p>
            <a:pPr marL="285750" indent="-285750">
              <a:buFont typeface="Arial" panose="020B0604020202020204" pitchFamily="34" charset="0"/>
              <a:buChar char="•"/>
            </a:pPr>
            <a:endParaRPr lang="it-IT" dirty="0"/>
          </a:p>
        </p:txBody>
      </p:sp>
    </p:spTree>
    <p:extLst>
      <p:ext uri="{BB962C8B-B14F-4D97-AF65-F5344CB8AC3E}">
        <p14:creationId xmlns:p14="http://schemas.microsoft.com/office/powerpoint/2010/main" val="3696224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down)">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down)">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wipe(down)">
                                      <p:cBhvr>
                                        <p:cTn id="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uiExpand="1"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1A285F-40F1-2E16-F7A9-EF012BA80608}"/>
              </a:ext>
            </a:extLst>
          </p:cNvPr>
          <p:cNvSpPr>
            <a:spLocks noGrp="1"/>
          </p:cNvSpPr>
          <p:nvPr>
            <p:ph type="title"/>
          </p:nvPr>
        </p:nvSpPr>
        <p:spPr>
          <a:xfrm>
            <a:off x="914400" y="0"/>
            <a:ext cx="10363200" cy="1117599"/>
          </a:xfrm>
        </p:spPr>
        <p:txBody>
          <a:bodyPr/>
          <a:lstStyle/>
          <a:p>
            <a:pPr algn="ctr"/>
            <a:r>
              <a:rPr lang="it-IT" b="1" dirty="0">
                <a:effectLst>
                  <a:outerShdw blurRad="38100" dist="38100" dir="2700000" algn="tl">
                    <a:srgbClr val="000000">
                      <a:alpha val="43137"/>
                    </a:srgbClr>
                  </a:outerShdw>
                </a:effectLst>
              </a:rPr>
              <a:t>Datasets Overview</a:t>
            </a:r>
          </a:p>
        </p:txBody>
      </p:sp>
      <p:sp>
        <p:nvSpPr>
          <p:cNvPr id="4" name="CasellaDiTesto 3">
            <a:extLst>
              <a:ext uri="{FF2B5EF4-FFF2-40B4-BE49-F238E27FC236}">
                <a16:creationId xmlns:a16="http://schemas.microsoft.com/office/drawing/2014/main" id="{4112B4FA-9423-F881-C52B-F49BF2DD2869}"/>
              </a:ext>
            </a:extLst>
          </p:cNvPr>
          <p:cNvSpPr txBox="1"/>
          <p:nvPr/>
        </p:nvSpPr>
        <p:spPr>
          <a:xfrm>
            <a:off x="0" y="1085850"/>
            <a:ext cx="4273550" cy="338554"/>
          </a:xfrm>
          <a:prstGeom prst="rect">
            <a:avLst/>
          </a:prstGeom>
          <a:noFill/>
        </p:spPr>
        <p:txBody>
          <a:bodyPr wrap="square" rtlCol="0">
            <a:spAutoFit/>
          </a:bodyPr>
          <a:lstStyle/>
          <a:p>
            <a:r>
              <a:rPr lang="it-IT" sz="1600" dirty="0"/>
              <a:t>In this project I join two datasets.</a:t>
            </a:r>
          </a:p>
        </p:txBody>
      </p:sp>
      <p:sp>
        <p:nvSpPr>
          <p:cNvPr id="6" name="CasellaDiTesto 5">
            <a:extLst>
              <a:ext uri="{FF2B5EF4-FFF2-40B4-BE49-F238E27FC236}">
                <a16:creationId xmlns:a16="http://schemas.microsoft.com/office/drawing/2014/main" id="{7C9DE9FD-5851-0E71-529F-5D1818E1C4C0}"/>
              </a:ext>
            </a:extLst>
          </p:cNvPr>
          <p:cNvSpPr txBox="1"/>
          <p:nvPr/>
        </p:nvSpPr>
        <p:spPr>
          <a:xfrm>
            <a:off x="0" y="1453902"/>
            <a:ext cx="4889500" cy="646331"/>
          </a:xfrm>
          <a:prstGeom prst="rect">
            <a:avLst/>
          </a:prstGeom>
          <a:noFill/>
        </p:spPr>
        <p:txBody>
          <a:bodyPr wrap="square" rtlCol="0">
            <a:spAutoFit/>
          </a:bodyPr>
          <a:lstStyle/>
          <a:p>
            <a:pPr marL="342900" indent="-342900">
              <a:buFont typeface="Arial" panose="020B0604020202020204" pitchFamily="34" charset="0"/>
              <a:buChar char="•"/>
            </a:pPr>
            <a:r>
              <a:rPr lang="it-IT" b="1" dirty="0"/>
              <a:t>Performance dataset (2018-2024):</a:t>
            </a:r>
          </a:p>
          <a:p>
            <a:r>
              <a:rPr lang="it-IT" dirty="0"/>
              <a:t>	</a:t>
            </a:r>
          </a:p>
        </p:txBody>
      </p:sp>
      <p:sp>
        <p:nvSpPr>
          <p:cNvPr id="9" name="CasellaDiTesto 8">
            <a:extLst>
              <a:ext uri="{FF2B5EF4-FFF2-40B4-BE49-F238E27FC236}">
                <a16:creationId xmlns:a16="http://schemas.microsoft.com/office/drawing/2014/main" id="{47C1BA37-1A68-46C5-3B20-232CDA32423A}"/>
              </a:ext>
            </a:extLst>
          </p:cNvPr>
          <p:cNvSpPr txBox="1"/>
          <p:nvPr/>
        </p:nvSpPr>
        <p:spPr>
          <a:xfrm>
            <a:off x="0" y="3886200"/>
            <a:ext cx="3746923" cy="369332"/>
          </a:xfrm>
          <a:prstGeom prst="rect">
            <a:avLst/>
          </a:prstGeom>
          <a:noFill/>
        </p:spPr>
        <p:txBody>
          <a:bodyPr wrap="none" rtlCol="0">
            <a:spAutoFit/>
          </a:bodyPr>
          <a:lstStyle/>
          <a:p>
            <a:pPr marL="285750" indent="-285750">
              <a:buFont typeface="Arial" panose="020B0604020202020204" pitchFamily="34" charset="0"/>
              <a:buChar char="•"/>
            </a:pPr>
            <a:r>
              <a:rPr lang="it-IT" b="1" dirty="0"/>
              <a:t>Valuations dataset (2000-2024):</a:t>
            </a:r>
          </a:p>
        </p:txBody>
      </p:sp>
      <p:sp>
        <p:nvSpPr>
          <p:cNvPr id="10" name="CasellaDiTesto 9">
            <a:extLst>
              <a:ext uri="{FF2B5EF4-FFF2-40B4-BE49-F238E27FC236}">
                <a16:creationId xmlns:a16="http://schemas.microsoft.com/office/drawing/2014/main" id="{2F84BA6B-1724-2DAC-64E3-FC824B7ED0B8}"/>
              </a:ext>
            </a:extLst>
          </p:cNvPr>
          <p:cNvSpPr txBox="1"/>
          <p:nvPr/>
        </p:nvSpPr>
        <p:spPr>
          <a:xfrm>
            <a:off x="3911600" y="1715532"/>
            <a:ext cx="8128000" cy="2123658"/>
          </a:xfrm>
          <a:prstGeom prst="rect">
            <a:avLst/>
          </a:prstGeom>
          <a:noFill/>
        </p:spPr>
        <p:txBody>
          <a:bodyPr wrap="square" rtlCol="0">
            <a:spAutoFit/>
          </a:bodyPr>
          <a:lstStyle/>
          <a:p>
            <a:pPr marL="342900" indent="-342900">
              <a:buFont typeface="+mj-lt"/>
              <a:buAutoNum type="arabicPeriod"/>
            </a:pPr>
            <a:r>
              <a:rPr lang="en-US" sz="1600" dirty="0"/>
              <a:t>Offensive metrics (goals, assists, xG, key passes)</a:t>
            </a:r>
            <a:endParaRPr lang="it-IT" sz="1600" dirty="0"/>
          </a:p>
          <a:p>
            <a:pPr marL="342900" indent="-342900">
              <a:buFont typeface="+mj-lt"/>
              <a:buAutoNum type="arabicPeriod"/>
            </a:pPr>
            <a:r>
              <a:rPr lang="en-US" sz="1600" dirty="0"/>
              <a:t>Defensive metrics (tackles, interceptions, blocks)</a:t>
            </a:r>
          </a:p>
          <a:p>
            <a:pPr marL="342900" indent="-342900">
              <a:buFont typeface="+mj-lt"/>
              <a:buAutoNum type="arabicPeriod"/>
            </a:pPr>
            <a:r>
              <a:rPr lang="en-US" sz="1600" dirty="0"/>
              <a:t>Possession and passing data (passess completed, progressive carries)</a:t>
            </a:r>
          </a:p>
          <a:p>
            <a:pPr marL="342900" indent="-342900">
              <a:buFont typeface="+mj-lt"/>
              <a:buAutoNum type="arabicPeriod"/>
            </a:pPr>
            <a:r>
              <a:rPr lang="en-US" sz="1600" dirty="0"/>
              <a:t>Separative CSVs for each aspect (player_defense.csv, player_shooting.csv)</a:t>
            </a:r>
          </a:p>
          <a:p>
            <a:pPr marL="342900" indent="-342900">
              <a:buFont typeface="+mj-lt"/>
              <a:buAutoNum type="arabicPeriod"/>
            </a:pPr>
            <a:endParaRPr lang="en-US" sz="1600" dirty="0"/>
          </a:p>
          <a:p>
            <a:pPr marL="342900" indent="-342900">
              <a:buFont typeface="+mj-lt"/>
              <a:buAutoNum type="arabicPeriod"/>
            </a:pPr>
            <a:endParaRPr lang="en-US" sz="1600" dirty="0"/>
          </a:p>
          <a:p>
            <a:r>
              <a:rPr lang="en-US" sz="1600" dirty="0"/>
              <a:t>Each row represents a </a:t>
            </a:r>
            <a:r>
              <a:rPr lang="en-US" sz="1600" b="1" dirty="0"/>
              <a:t>player-season pair</a:t>
            </a:r>
            <a:r>
              <a:rPr lang="en-US" sz="1600" dirty="0"/>
              <a:t>, and includes team, league, and season metadata.</a:t>
            </a:r>
          </a:p>
        </p:txBody>
      </p:sp>
      <p:sp>
        <p:nvSpPr>
          <p:cNvPr id="18" name="CasellaDiTesto 17">
            <a:extLst>
              <a:ext uri="{FF2B5EF4-FFF2-40B4-BE49-F238E27FC236}">
                <a16:creationId xmlns:a16="http://schemas.microsoft.com/office/drawing/2014/main" id="{6E22F0F1-455C-E393-D135-565C08D9D3E8}"/>
              </a:ext>
            </a:extLst>
          </p:cNvPr>
          <p:cNvSpPr txBox="1"/>
          <p:nvPr/>
        </p:nvSpPr>
        <p:spPr>
          <a:xfrm>
            <a:off x="3911600" y="4210904"/>
            <a:ext cx="7810077" cy="861774"/>
          </a:xfrm>
          <a:prstGeom prst="rect">
            <a:avLst/>
          </a:prstGeom>
          <a:noFill/>
        </p:spPr>
        <p:txBody>
          <a:bodyPr wrap="square" rtlCol="0">
            <a:spAutoFit/>
          </a:bodyPr>
          <a:lstStyle/>
          <a:p>
            <a:pPr marL="342900" indent="-342900">
              <a:buFont typeface="+mj-lt"/>
              <a:buAutoNum type="arabicPeriod"/>
            </a:pPr>
            <a:r>
              <a:rPr lang="en-US" sz="1600" dirty="0"/>
              <a:t>Player name, date of valuation, and market value in euros</a:t>
            </a:r>
          </a:p>
          <a:p>
            <a:pPr marL="342900" indent="-342900">
              <a:buFont typeface="+mj-lt"/>
              <a:buAutoNum type="arabicPeriod"/>
            </a:pPr>
            <a:r>
              <a:rPr lang="en-US" sz="1600" dirty="0"/>
              <a:t>Club, competition (league), nationality, and birth year</a:t>
            </a:r>
          </a:p>
          <a:p>
            <a:pPr marL="342900" indent="-342900">
              <a:buFont typeface="+mj-lt"/>
              <a:buAutoNum type="arabicPeriod"/>
            </a:pPr>
            <a:endParaRPr lang="it-IT" dirty="0"/>
          </a:p>
        </p:txBody>
      </p:sp>
      <p:sp>
        <p:nvSpPr>
          <p:cNvPr id="19" name="CasellaDiTesto 18">
            <a:extLst>
              <a:ext uri="{FF2B5EF4-FFF2-40B4-BE49-F238E27FC236}">
                <a16:creationId xmlns:a16="http://schemas.microsoft.com/office/drawing/2014/main" id="{B33E3D75-B2EA-091A-9DC5-7DE9B3A2B138}"/>
              </a:ext>
            </a:extLst>
          </p:cNvPr>
          <p:cNvSpPr txBox="1"/>
          <p:nvPr/>
        </p:nvSpPr>
        <p:spPr>
          <a:xfrm>
            <a:off x="0" y="5440491"/>
            <a:ext cx="10718704" cy="369332"/>
          </a:xfrm>
          <a:prstGeom prst="rect">
            <a:avLst/>
          </a:prstGeom>
          <a:noFill/>
        </p:spPr>
        <p:txBody>
          <a:bodyPr wrap="none" rtlCol="0">
            <a:spAutoFit/>
          </a:bodyPr>
          <a:lstStyle/>
          <a:p>
            <a:r>
              <a:rPr lang="en-US" dirty="0"/>
              <a:t>Data harmonized with the performance dataset through ETL operations (based on name, season, and club).</a:t>
            </a:r>
            <a:endParaRPr lang="it-IT" dirty="0"/>
          </a:p>
        </p:txBody>
      </p:sp>
    </p:spTree>
    <p:extLst>
      <p:ext uri="{BB962C8B-B14F-4D97-AF65-F5344CB8AC3E}">
        <p14:creationId xmlns:p14="http://schemas.microsoft.com/office/powerpoint/2010/main" val="2581271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inVertical)">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500" fill="hold"/>
                                        <p:tgtEl>
                                          <p:spTgt spid="10"/>
                                        </p:tgtEl>
                                        <p:attrNameLst>
                                          <p:attrName>ppt_x</p:attrName>
                                        </p:attrNameLst>
                                      </p:cBhvr>
                                      <p:tavLst>
                                        <p:tav tm="0">
                                          <p:val>
                                            <p:strVal val="#ppt_x"/>
                                          </p:val>
                                        </p:tav>
                                        <p:tav tm="100000">
                                          <p:val>
                                            <p:strVal val="#ppt_x"/>
                                          </p:val>
                                        </p:tav>
                                      </p:tavLst>
                                    </p:anim>
                                    <p:anim calcmode="lin" valueType="num">
                                      <p:cBhvr additive="base">
                                        <p:cTn id="23"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ppt_x"/>
                                          </p:val>
                                        </p:tav>
                                        <p:tav tm="100000">
                                          <p:val>
                                            <p:strVal val="#ppt_x"/>
                                          </p:val>
                                        </p:tav>
                                      </p:tavLst>
                                    </p:anim>
                                    <p:anim calcmode="lin" valueType="num">
                                      <p:cBhvr additive="base">
                                        <p:cTn id="3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anim calcmode="lin" valueType="num">
                                      <p:cBhvr additive="base">
                                        <p:cTn id="39" dur="500" fill="hold"/>
                                        <p:tgtEl>
                                          <p:spTgt spid="19"/>
                                        </p:tgtEl>
                                        <p:attrNameLst>
                                          <p:attrName>ppt_x</p:attrName>
                                        </p:attrNameLst>
                                      </p:cBhvr>
                                      <p:tavLst>
                                        <p:tav tm="0">
                                          <p:val>
                                            <p:strVal val="#ppt_x"/>
                                          </p:val>
                                        </p:tav>
                                        <p:tav tm="100000">
                                          <p:val>
                                            <p:strVal val="#ppt_x"/>
                                          </p:val>
                                        </p:tav>
                                      </p:tavLst>
                                    </p:anim>
                                    <p:anim calcmode="lin" valueType="num">
                                      <p:cBhvr additive="base">
                                        <p:cTn id="4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P spid="9" grpId="0"/>
      <p:bldP spid="10" grpId="0"/>
      <p:bldP spid="18" grpId="0"/>
      <p:bldP spid="1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1B53B57-E40A-759B-AF3E-22A38C2700B9}"/>
              </a:ext>
            </a:extLst>
          </p:cNvPr>
          <p:cNvSpPr>
            <a:spLocks noGrp="1"/>
          </p:cNvSpPr>
          <p:nvPr>
            <p:ph type="title"/>
          </p:nvPr>
        </p:nvSpPr>
        <p:spPr>
          <a:xfrm>
            <a:off x="838200" y="0"/>
            <a:ext cx="10515600" cy="1325563"/>
          </a:xfrm>
        </p:spPr>
        <p:txBody>
          <a:bodyPr/>
          <a:lstStyle/>
          <a:p>
            <a:pPr algn="ctr"/>
            <a:r>
              <a:rPr lang="it-IT" b="1" dirty="0">
                <a:effectLst>
                  <a:outerShdw blurRad="38100" dist="38100" dir="2700000" algn="tl">
                    <a:srgbClr val="000000">
                      <a:alpha val="43137"/>
                    </a:srgbClr>
                  </a:outerShdw>
                </a:effectLst>
              </a:rPr>
              <a:t>ETL </a:t>
            </a:r>
            <a:r>
              <a:rPr lang="it-IT" b="1" dirty="0" err="1">
                <a:effectLst>
                  <a:outerShdw blurRad="38100" dist="38100" dir="2700000" algn="tl">
                    <a:srgbClr val="000000">
                      <a:alpha val="43137"/>
                    </a:srgbClr>
                  </a:outerShdw>
                </a:effectLst>
              </a:rPr>
              <a:t>Process</a:t>
            </a:r>
            <a:r>
              <a:rPr lang="it-IT" b="1" dirty="0">
                <a:effectLst>
                  <a:outerShdw blurRad="38100" dist="38100" dir="2700000" algn="tl">
                    <a:srgbClr val="000000">
                      <a:alpha val="43137"/>
                    </a:srgbClr>
                  </a:outerShdw>
                </a:effectLst>
              </a:rPr>
              <a:t> - </a:t>
            </a:r>
            <a:r>
              <a:rPr lang="it-IT" b="1" dirty="0" err="1">
                <a:effectLst>
                  <a:outerShdw blurRad="38100" dist="38100" dir="2700000" algn="tl">
                    <a:srgbClr val="000000">
                      <a:alpha val="43137"/>
                    </a:srgbClr>
                  </a:outerShdw>
                </a:effectLst>
              </a:rPr>
              <a:t>Overview</a:t>
            </a:r>
            <a:endParaRPr lang="it-IT" b="1" dirty="0">
              <a:effectLst>
                <a:outerShdw blurRad="38100" dist="38100" dir="2700000" algn="tl">
                  <a:srgbClr val="000000">
                    <a:alpha val="43137"/>
                  </a:srgbClr>
                </a:outerShdw>
              </a:effectLst>
            </a:endParaRPr>
          </a:p>
        </p:txBody>
      </p:sp>
      <p:pic>
        <p:nvPicPr>
          <p:cNvPr id="10" name="Segnaposto contenuto 9" descr="Immagine che contiene schermata, testo, diagramma, Carattere">
            <a:extLst>
              <a:ext uri="{FF2B5EF4-FFF2-40B4-BE49-F238E27FC236}">
                <a16:creationId xmlns:a16="http://schemas.microsoft.com/office/drawing/2014/main" id="{C66E8DCD-9C7F-155C-E393-55B6A1AA11F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0891" y="1579886"/>
            <a:ext cx="2842256" cy="1799678"/>
          </a:xfrm>
        </p:spPr>
      </p:pic>
      <p:sp>
        <p:nvSpPr>
          <p:cNvPr id="11" name="CasellaDiTesto 10">
            <a:extLst>
              <a:ext uri="{FF2B5EF4-FFF2-40B4-BE49-F238E27FC236}">
                <a16:creationId xmlns:a16="http://schemas.microsoft.com/office/drawing/2014/main" id="{A5BE6EC2-F500-0020-F895-7FCC5E68C5F4}"/>
              </a:ext>
            </a:extLst>
          </p:cNvPr>
          <p:cNvSpPr txBox="1"/>
          <p:nvPr/>
        </p:nvSpPr>
        <p:spPr>
          <a:xfrm>
            <a:off x="3708400" y="1325563"/>
            <a:ext cx="8375650" cy="2308324"/>
          </a:xfrm>
          <a:prstGeom prst="rect">
            <a:avLst/>
          </a:prstGeom>
          <a:noFill/>
        </p:spPr>
        <p:txBody>
          <a:bodyPr wrap="square" rtlCol="0">
            <a:spAutoFit/>
          </a:bodyPr>
          <a:lstStyle/>
          <a:p>
            <a:r>
              <a:rPr lang="it-IT" b="1" dirty="0"/>
              <a:t>3 </a:t>
            </a:r>
            <a:r>
              <a:rPr lang="it-IT" b="1" dirty="0" err="1"/>
              <a:t>phases</a:t>
            </a:r>
            <a:r>
              <a:rPr lang="it-IT" dirty="0"/>
              <a:t>:</a:t>
            </a:r>
          </a:p>
          <a:p>
            <a:endParaRPr lang="it-IT" dirty="0"/>
          </a:p>
          <a:p>
            <a:pPr marL="285750" indent="-285750">
              <a:buFont typeface="Arial" panose="020B0604020202020204" pitchFamily="34" charset="0"/>
              <a:buChar char="•"/>
            </a:pPr>
            <a:r>
              <a:rPr lang="it-IT" dirty="0" err="1"/>
              <a:t>Extract</a:t>
            </a:r>
            <a:r>
              <a:rPr lang="it-IT" dirty="0"/>
              <a:t>: </a:t>
            </a:r>
            <a:r>
              <a:rPr lang="en-US" dirty="0"/>
              <a:t>Multiple CSVs (performance and valuation)</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dirty="0" err="1"/>
              <a:t>Transform</a:t>
            </a:r>
            <a:r>
              <a:rPr lang="it-IT" dirty="0"/>
              <a:t>: </a:t>
            </a:r>
            <a:r>
              <a:rPr lang="it-IT" dirty="0" err="1"/>
              <a:t>Cleaning</a:t>
            </a:r>
            <a:r>
              <a:rPr lang="it-IT" dirty="0"/>
              <a:t>, matching, filtering</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dirty="0"/>
              <a:t>Load: </a:t>
            </a:r>
            <a:r>
              <a:rPr lang="en-US" dirty="0"/>
              <a:t>Final CSVs imported into PostgreSQL for DW creation</a:t>
            </a:r>
          </a:p>
          <a:p>
            <a:pPr marL="285750" indent="-285750">
              <a:buFont typeface="Arial" panose="020B0604020202020204" pitchFamily="34" charset="0"/>
              <a:buChar char="•"/>
            </a:pPr>
            <a:endParaRPr lang="it-IT" dirty="0"/>
          </a:p>
        </p:txBody>
      </p:sp>
      <p:sp>
        <p:nvSpPr>
          <p:cNvPr id="13" name="CasellaDiTesto 12">
            <a:extLst>
              <a:ext uri="{FF2B5EF4-FFF2-40B4-BE49-F238E27FC236}">
                <a16:creationId xmlns:a16="http://schemas.microsoft.com/office/drawing/2014/main" id="{CC4D848C-A179-67BB-8327-D5E5880D2F45}"/>
              </a:ext>
            </a:extLst>
          </p:cNvPr>
          <p:cNvSpPr txBox="1"/>
          <p:nvPr/>
        </p:nvSpPr>
        <p:spPr>
          <a:xfrm>
            <a:off x="0" y="3985452"/>
            <a:ext cx="12192000" cy="2739211"/>
          </a:xfrm>
          <a:prstGeom prst="rect">
            <a:avLst/>
          </a:prstGeom>
          <a:noFill/>
        </p:spPr>
        <p:txBody>
          <a:bodyPr wrap="square" rtlCol="0">
            <a:spAutoFit/>
          </a:bodyPr>
          <a:lstStyle/>
          <a:p>
            <a:pPr algn="ctr"/>
            <a:r>
              <a:rPr lang="it-IT" sz="2800" b="1" dirty="0" err="1"/>
              <a:t>Extract</a:t>
            </a:r>
            <a:r>
              <a:rPr lang="it-IT" sz="2800" b="1" dirty="0"/>
              <a:t> </a:t>
            </a:r>
            <a:r>
              <a:rPr lang="it-IT" sz="2800" b="1" dirty="0" err="1"/>
              <a:t>phase</a:t>
            </a:r>
            <a:r>
              <a:rPr lang="it-IT" sz="2800" b="1" dirty="0"/>
              <a:t>:</a:t>
            </a:r>
          </a:p>
          <a:p>
            <a:pPr lvl="0"/>
            <a:r>
              <a:rPr lang="it-IT" dirty="0" err="1"/>
              <a:t>Collected</a:t>
            </a:r>
            <a:r>
              <a:rPr lang="it-IT" dirty="0"/>
              <a:t> multiple datasets from </a:t>
            </a:r>
            <a:r>
              <a:rPr lang="it-IT" dirty="0" err="1"/>
              <a:t>two</a:t>
            </a:r>
            <a:r>
              <a:rPr lang="it-IT" dirty="0"/>
              <a:t> sources:</a:t>
            </a:r>
          </a:p>
          <a:p>
            <a:pPr lvl="0"/>
            <a:endParaRPr lang="it-IT" b="1" dirty="0"/>
          </a:p>
          <a:p>
            <a:pPr marL="285750" lvl="0" indent="-285750">
              <a:buFont typeface="Arial" panose="020B0604020202020204" pitchFamily="34" charset="0"/>
              <a:buChar char="•"/>
            </a:pPr>
            <a:r>
              <a:rPr lang="it-IT" b="1" dirty="0"/>
              <a:t>Dataset 1</a:t>
            </a:r>
            <a:r>
              <a:rPr lang="it-IT" dirty="0"/>
              <a:t>: Player performance </a:t>
            </a:r>
            <a:r>
              <a:rPr lang="it-IT" dirty="0" err="1"/>
              <a:t>statistics</a:t>
            </a:r>
            <a:r>
              <a:rPr lang="it-IT" dirty="0"/>
              <a:t> split </a:t>
            </a:r>
            <a:r>
              <a:rPr lang="it-IT" dirty="0" err="1"/>
              <a:t>into</a:t>
            </a:r>
            <a:r>
              <a:rPr lang="it-IT" dirty="0"/>
              <a:t> multiple </a:t>
            </a:r>
            <a:r>
              <a:rPr lang="it-IT" dirty="0" err="1"/>
              <a:t>CSVs</a:t>
            </a:r>
            <a:r>
              <a:rPr lang="it-IT" dirty="0"/>
              <a:t> (</a:t>
            </a:r>
            <a:r>
              <a:rPr lang="it-IT" dirty="0" err="1"/>
              <a:t>player_defense</a:t>
            </a:r>
            <a:r>
              <a:rPr lang="it-IT" dirty="0"/>
              <a:t>, </a:t>
            </a:r>
            <a:r>
              <a:rPr lang="it-IT" dirty="0" err="1"/>
              <a:t>player_gca</a:t>
            </a:r>
            <a:r>
              <a:rPr lang="it-IT" dirty="0"/>
              <a:t>, </a:t>
            </a:r>
            <a:r>
              <a:rPr lang="it-IT" dirty="0" err="1"/>
              <a:t>player_misc</a:t>
            </a:r>
            <a:r>
              <a:rPr lang="it-IT" dirty="0"/>
              <a:t>, </a:t>
            </a:r>
            <a:r>
              <a:rPr lang="it-IT" dirty="0" err="1"/>
              <a:t>player_shooting</a:t>
            </a:r>
            <a:r>
              <a:rPr lang="it-IT" dirty="0"/>
              <a:t>, </a:t>
            </a:r>
            <a:r>
              <a:rPr lang="it-IT" dirty="0" err="1"/>
              <a:t>player_possession</a:t>
            </a:r>
            <a:r>
              <a:rPr lang="it-IT" dirty="0"/>
              <a:t>, </a:t>
            </a:r>
            <a:r>
              <a:rPr lang="it-IT" dirty="0" err="1"/>
              <a:t>player_passing_type</a:t>
            </a:r>
            <a:r>
              <a:rPr lang="it-IT" dirty="0"/>
              <a:t>, </a:t>
            </a:r>
            <a:r>
              <a:rPr lang="it-IT" dirty="0" err="1"/>
              <a:t>player_passing</a:t>
            </a:r>
            <a:r>
              <a:rPr lang="it-IT" dirty="0"/>
              <a:t>, </a:t>
            </a:r>
            <a:r>
              <a:rPr lang="it-IT" dirty="0" err="1"/>
              <a:t>player_standard_stats</a:t>
            </a:r>
            <a:r>
              <a:rPr lang="it-IT" dirty="0"/>
              <a:t>).</a:t>
            </a:r>
          </a:p>
          <a:p>
            <a:pPr marL="285750" lvl="0" indent="-285750">
              <a:buFont typeface="Arial" panose="020B0604020202020204" pitchFamily="34" charset="0"/>
              <a:buChar char="•"/>
            </a:pPr>
            <a:endParaRPr lang="it-IT" b="1" dirty="0"/>
          </a:p>
          <a:p>
            <a:pPr marL="285750" lvl="0" indent="-285750">
              <a:buFont typeface="Arial" panose="020B0604020202020204" pitchFamily="34" charset="0"/>
              <a:buChar char="•"/>
            </a:pPr>
            <a:r>
              <a:rPr lang="it-IT" b="1" dirty="0"/>
              <a:t>Dataset 2</a:t>
            </a:r>
            <a:r>
              <a:rPr lang="it-IT" dirty="0"/>
              <a:t>: Player </a:t>
            </a:r>
            <a:r>
              <a:rPr lang="it-IT" dirty="0" err="1"/>
              <a:t>valuation</a:t>
            </a:r>
            <a:r>
              <a:rPr lang="it-IT" dirty="0"/>
              <a:t> data with </a:t>
            </a:r>
            <a:r>
              <a:rPr lang="it-IT" dirty="0" err="1"/>
              <a:t>supporting</a:t>
            </a:r>
            <a:r>
              <a:rPr lang="it-IT" dirty="0"/>
              <a:t> metadata (players.csv, clubs.csv, competitions.csv).</a:t>
            </a:r>
          </a:p>
          <a:p>
            <a:pPr marL="285750" lvl="0" indent="-285750">
              <a:buFont typeface="Arial" panose="020B0604020202020204" pitchFamily="34" charset="0"/>
              <a:buChar char="•"/>
            </a:pPr>
            <a:endParaRPr lang="it-IT" dirty="0"/>
          </a:p>
          <a:p>
            <a:pPr marL="285750" indent="-285750">
              <a:buFont typeface="Arial" panose="020B0604020202020204" pitchFamily="34" charset="0"/>
              <a:buChar char="•"/>
            </a:pPr>
            <a:endParaRPr lang="it-IT" dirty="0"/>
          </a:p>
        </p:txBody>
      </p:sp>
    </p:spTree>
    <p:extLst>
      <p:ext uri="{BB962C8B-B14F-4D97-AF65-F5344CB8AC3E}">
        <p14:creationId xmlns:p14="http://schemas.microsoft.com/office/powerpoint/2010/main" val="382353867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1"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B9E831F-6C09-908F-9592-FC63119D4550}"/>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Transform</a:t>
            </a:r>
            <a:r>
              <a:rPr lang="it-IT" b="1" dirty="0">
                <a:effectLst>
                  <a:outerShdw blurRad="38100" dist="38100" dir="2700000" algn="tl">
                    <a:srgbClr val="000000">
                      <a:alpha val="43137"/>
                    </a:srgbClr>
                  </a:outerShdw>
                </a:effectLst>
              </a:rPr>
              <a:t> </a:t>
            </a:r>
            <a:r>
              <a:rPr lang="it-IT" b="1" dirty="0" err="1">
                <a:effectLst>
                  <a:outerShdw blurRad="38100" dist="38100" dir="2700000" algn="tl">
                    <a:srgbClr val="000000">
                      <a:alpha val="43137"/>
                    </a:srgbClr>
                  </a:outerShdw>
                </a:effectLst>
              </a:rPr>
              <a:t>Phase</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BF20B01D-CF8D-5F46-0D1F-12B9F14BD9DE}"/>
              </a:ext>
            </a:extLst>
          </p:cNvPr>
          <p:cNvSpPr>
            <a:spLocks noGrp="1"/>
          </p:cNvSpPr>
          <p:nvPr>
            <p:ph idx="1"/>
          </p:nvPr>
        </p:nvSpPr>
        <p:spPr>
          <a:xfrm>
            <a:off x="0" y="1050925"/>
            <a:ext cx="4775200" cy="2028825"/>
          </a:xfrm>
        </p:spPr>
        <p:txBody>
          <a:bodyPr>
            <a:normAutofit fontScale="55000" lnSpcReduction="20000"/>
          </a:bodyPr>
          <a:lstStyle/>
          <a:p>
            <a:pPr marL="0" indent="0">
              <a:buNone/>
            </a:pPr>
            <a:r>
              <a:rPr lang="it-IT" sz="3600" b="1" dirty="0"/>
              <a:t>Data </a:t>
            </a:r>
            <a:r>
              <a:rPr lang="it-IT" sz="3600" b="1" dirty="0" err="1"/>
              <a:t>cleaning</a:t>
            </a:r>
            <a:r>
              <a:rPr lang="it-IT" sz="3600" b="1" dirty="0"/>
              <a:t>:</a:t>
            </a:r>
          </a:p>
          <a:p>
            <a:pPr lvl="0"/>
            <a:r>
              <a:rPr lang="it-IT" sz="2200" b="1" dirty="0" err="1"/>
              <a:t>Standardized</a:t>
            </a:r>
            <a:r>
              <a:rPr lang="it-IT" sz="2200" b="1" dirty="0"/>
              <a:t> </a:t>
            </a:r>
            <a:r>
              <a:rPr lang="it-IT" sz="2200" b="1" dirty="0" err="1"/>
              <a:t>column</a:t>
            </a:r>
            <a:r>
              <a:rPr lang="it-IT" sz="2200" b="1" dirty="0"/>
              <a:t> names and formats</a:t>
            </a:r>
            <a:r>
              <a:rPr lang="it-IT" sz="2200" dirty="0"/>
              <a:t> </a:t>
            </a:r>
            <a:r>
              <a:rPr lang="it-IT" sz="2200" dirty="0" err="1"/>
              <a:t>across</a:t>
            </a:r>
            <a:r>
              <a:rPr lang="it-IT" sz="2200" dirty="0"/>
              <a:t> </a:t>
            </a:r>
            <a:r>
              <a:rPr lang="it-IT" sz="2200" dirty="0" err="1"/>
              <a:t>all</a:t>
            </a:r>
            <a:r>
              <a:rPr lang="it-IT" sz="2200" dirty="0"/>
              <a:t> </a:t>
            </a:r>
            <a:r>
              <a:rPr lang="it-IT" sz="2200" dirty="0" err="1"/>
              <a:t>CSVs</a:t>
            </a:r>
            <a:r>
              <a:rPr lang="it-IT" sz="2200" dirty="0"/>
              <a:t>.</a:t>
            </a:r>
          </a:p>
          <a:p>
            <a:pPr lvl="0"/>
            <a:r>
              <a:rPr lang="it-IT" sz="2200" b="1" dirty="0" err="1"/>
              <a:t>Converted</a:t>
            </a:r>
            <a:r>
              <a:rPr lang="it-IT" sz="2200" dirty="0"/>
              <a:t> </a:t>
            </a:r>
            <a:r>
              <a:rPr lang="it-IT" sz="2200" dirty="0" err="1"/>
              <a:t>all</a:t>
            </a:r>
            <a:r>
              <a:rPr lang="it-IT" sz="2200" dirty="0"/>
              <a:t> </a:t>
            </a:r>
            <a:r>
              <a:rPr lang="it-IT" sz="2200" dirty="0" err="1"/>
              <a:t>dates</a:t>
            </a:r>
            <a:r>
              <a:rPr lang="it-IT" sz="2200" dirty="0"/>
              <a:t> to YYYY format (e.g., </a:t>
            </a:r>
            <a:r>
              <a:rPr lang="it-IT" sz="2200" dirty="0" err="1"/>
              <a:t>valuation_date</a:t>
            </a:r>
            <a:r>
              <a:rPr lang="it-IT" sz="2200" dirty="0"/>
              <a:t> -&gt; </a:t>
            </a:r>
            <a:r>
              <a:rPr lang="it-IT" sz="2200" dirty="0" err="1"/>
              <a:t>year</a:t>
            </a:r>
            <a:r>
              <a:rPr lang="it-IT" sz="2200" dirty="0"/>
              <a:t>).</a:t>
            </a:r>
          </a:p>
          <a:p>
            <a:pPr lvl="0"/>
            <a:r>
              <a:rPr lang="it-IT" sz="2200" b="1" dirty="0" err="1"/>
              <a:t>Cleaned</a:t>
            </a:r>
            <a:r>
              <a:rPr lang="it-IT" sz="2200" dirty="0"/>
              <a:t> up </a:t>
            </a:r>
            <a:r>
              <a:rPr lang="it-IT" sz="2200" dirty="0" err="1"/>
              <a:t>string</a:t>
            </a:r>
            <a:r>
              <a:rPr lang="it-IT" sz="2200" dirty="0"/>
              <a:t> </a:t>
            </a:r>
            <a:r>
              <a:rPr lang="it-IT" sz="2200" dirty="0" err="1"/>
              <a:t>inconsistencies</a:t>
            </a:r>
            <a:r>
              <a:rPr lang="it-IT" sz="2200" dirty="0"/>
              <a:t> in player and club names.</a:t>
            </a:r>
          </a:p>
          <a:p>
            <a:pPr lvl="0"/>
            <a:r>
              <a:rPr lang="it-IT" sz="2200" b="1" dirty="0" err="1"/>
              <a:t>Removed</a:t>
            </a:r>
            <a:r>
              <a:rPr lang="it-IT" sz="2200" dirty="0"/>
              <a:t> </a:t>
            </a:r>
            <a:r>
              <a:rPr lang="it-IT" sz="2200" dirty="0" err="1"/>
              <a:t>rows</a:t>
            </a:r>
            <a:r>
              <a:rPr lang="it-IT" sz="2200" dirty="0"/>
              <a:t> </a:t>
            </a:r>
            <a:r>
              <a:rPr lang="it-IT" sz="2200" dirty="0" err="1"/>
              <a:t>that</a:t>
            </a:r>
            <a:r>
              <a:rPr lang="it-IT" sz="2200" dirty="0"/>
              <a:t> </a:t>
            </a:r>
            <a:r>
              <a:rPr lang="it-IT" sz="2200" dirty="0" err="1"/>
              <a:t>had</a:t>
            </a:r>
            <a:r>
              <a:rPr lang="it-IT" sz="2200" dirty="0"/>
              <a:t> </a:t>
            </a:r>
            <a:r>
              <a:rPr lang="it-IT" sz="2200" dirty="0" err="1"/>
              <a:t>missing</a:t>
            </a:r>
            <a:r>
              <a:rPr lang="it-IT" sz="2200" dirty="0"/>
              <a:t> </a:t>
            </a:r>
            <a:r>
              <a:rPr lang="it-IT" sz="2200" dirty="0" err="1"/>
              <a:t>critical</a:t>
            </a:r>
            <a:r>
              <a:rPr lang="it-IT" sz="2200" dirty="0"/>
              <a:t> </a:t>
            </a:r>
            <a:r>
              <a:rPr lang="it-IT" sz="2200" dirty="0" err="1"/>
              <a:t>identifiers</a:t>
            </a:r>
            <a:r>
              <a:rPr lang="it-IT" sz="2200" dirty="0"/>
              <a:t> (e.g., </a:t>
            </a:r>
            <a:r>
              <a:rPr lang="it-IT" sz="2500" dirty="0" err="1"/>
              <a:t>missing</a:t>
            </a:r>
            <a:r>
              <a:rPr lang="it-IT" sz="2500" dirty="0"/>
              <a:t> </a:t>
            </a:r>
            <a:r>
              <a:rPr lang="it-IT" sz="2200" dirty="0"/>
              <a:t>player names).</a:t>
            </a:r>
            <a:endParaRPr lang="it-IT" sz="2500" dirty="0"/>
          </a:p>
          <a:p>
            <a:endParaRPr lang="it-IT" dirty="0"/>
          </a:p>
        </p:txBody>
      </p:sp>
      <p:sp>
        <p:nvSpPr>
          <p:cNvPr id="4" name="CasellaDiTesto 3">
            <a:extLst>
              <a:ext uri="{FF2B5EF4-FFF2-40B4-BE49-F238E27FC236}">
                <a16:creationId xmlns:a16="http://schemas.microsoft.com/office/drawing/2014/main" id="{0D7D0526-1918-4B81-A72D-9B83E334E502}"/>
              </a:ext>
            </a:extLst>
          </p:cNvPr>
          <p:cNvSpPr txBox="1"/>
          <p:nvPr/>
        </p:nvSpPr>
        <p:spPr>
          <a:xfrm>
            <a:off x="5334000" y="2514600"/>
            <a:ext cx="6858000" cy="1969770"/>
          </a:xfrm>
          <a:prstGeom prst="rect">
            <a:avLst/>
          </a:prstGeom>
          <a:noFill/>
        </p:spPr>
        <p:txBody>
          <a:bodyPr wrap="square" rtlCol="0">
            <a:spAutoFit/>
          </a:bodyPr>
          <a:lstStyle/>
          <a:p>
            <a:r>
              <a:rPr lang="it-IT" sz="2000" b="1" dirty="0"/>
              <a:t>Player Matching &amp; </a:t>
            </a:r>
            <a:r>
              <a:rPr lang="it-IT" sz="2000" b="1" dirty="0" err="1"/>
              <a:t>Enrichment</a:t>
            </a:r>
            <a:endParaRPr lang="it-IT" sz="2000" b="1" dirty="0"/>
          </a:p>
          <a:p>
            <a:pPr marL="285750" lvl="0" indent="-285750">
              <a:buFont typeface="Arial" panose="020B0604020202020204" pitchFamily="34" charset="0"/>
              <a:buChar char="•"/>
            </a:pPr>
            <a:r>
              <a:rPr lang="it-IT" sz="1200" b="1" dirty="0" err="1"/>
              <a:t>Substituted</a:t>
            </a:r>
            <a:r>
              <a:rPr lang="it-IT" sz="1200" dirty="0"/>
              <a:t> </a:t>
            </a:r>
            <a:r>
              <a:rPr lang="it-IT" sz="1200" dirty="0" err="1"/>
              <a:t>player_id</a:t>
            </a:r>
            <a:r>
              <a:rPr lang="it-IT" sz="1200" dirty="0"/>
              <a:t> in the </a:t>
            </a:r>
            <a:r>
              <a:rPr lang="it-IT" sz="1200" dirty="0" err="1"/>
              <a:t>valuation</a:t>
            </a:r>
            <a:r>
              <a:rPr lang="it-IT" sz="1200" dirty="0"/>
              <a:t> dataset with full player names (</a:t>
            </a:r>
            <a:r>
              <a:rPr lang="it-IT" sz="1200" dirty="0" err="1"/>
              <a:t>first_name</a:t>
            </a:r>
            <a:r>
              <a:rPr lang="it-IT" sz="1200" dirty="0"/>
              <a:t> + </a:t>
            </a:r>
            <a:r>
              <a:rPr lang="it-IT" sz="1200" dirty="0" err="1"/>
              <a:t>last_name</a:t>
            </a:r>
            <a:r>
              <a:rPr lang="it-IT" sz="1200" dirty="0"/>
              <a:t>).</a:t>
            </a:r>
          </a:p>
          <a:p>
            <a:pPr marL="285750" lvl="0" indent="-285750">
              <a:buFont typeface="Arial" panose="020B0604020202020204" pitchFamily="34" charset="0"/>
              <a:buChar char="•"/>
            </a:pPr>
            <a:r>
              <a:rPr lang="it-IT" sz="1200" b="1" dirty="0" err="1"/>
              <a:t>Used</a:t>
            </a:r>
            <a:r>
              <a:rPr lang="it-IT" sz="1200" dirty="0"/>
              <a:t> the players.csv file to </a:t>
            </a:r>
            <a:r>
              <a:rPr lang="it-IT" sz="1200" dirty="0" err="1"/>
              <a:t>fill</a:t>
            </a:r>
            <a:r>
              <a:rPr lang="it-IT" sz="1200" dirty="0"/>
              <a:t> </a:t>
            </a:r>
            <a:r>
              <a:rPr lang="it-IT" sz="1200" dirty="0" err="1"/>
              <a:t>missing</a:t>
            </a:r>
            <a:r>
              <a:rPr lang="it-IT" sz="1200" dirty="0"/>
              <a:t> fields like:</a:t>
            </a:r>
          </a:p>
          <a:p>
            <a:pPr marL="742950" lvl="1" indent="-285750">
              <a:buFont typeface="Wingdings" panose="05000000000000000000" pitchFamily="2" charset="2"/>
              <a:buChar char="Ø"/>
            </a:pPr>
            <a:r>
              <a:rPr lang="it-IT" sz="1200" dirty="0" err="1"/>
              <a:t>nation</a:t>
            </a:r>
            <a:r>
              <a:rPr lang="it-IT" sz="1200" dirty="0"/>
              <a:t> from </a:t>
            </a:r>
            <a:r>
              <a:rPr lang="it-IT" sz="1200" dirty="0" err="1"/>
              <a:t>country_of_citizenship</a:t>
            </a:r>
            <a:r>
              <a:rPr lang="it-IT" sz="1200" dirty="0"/>
              <a:t>;</a:t>
            </a:r>
          </a:p>
          <a:p>
            <a:pPr marL="742950" lvl="1" indent="-285750">
              <a:buFont typeface="Wingdings" panose="05000000000000000000" pitchFamily="2" charset="2"/>
              <a:buChar char="Ø"/>
            </a:pPr>
            <a:r>
              <a:rPr lang="it-IT" sz="1200" dirty="0"/>
              <a:t>country from </a:t>
            </a:r>
            <a:r>
              <a:rPr lang="it-IT" sz="1200" dirty="0" err="1"/>
              <a:t>country_of_birth</a:t>
            </a:r>
            <a:r>
              <a:rPr lang="it-IT" sz="1200" dirty="0"/>
              <a:t>;</a:t>
            </a:r>
          </a:p>
          <a:p>
            <a:pPr marL="742950" lvl="1" indent="-285750">
              <a:buFont typeface="Wingdings" panose="05000000000000000000" pitchFamily="2" charset="2"/>
              <a:buChar char="Ø"/>
            </a:pPr>
            <a:r>
              <a:rPr lang="it-IT" sz="1200" dirty="0" err="1"/>
              <a:t>born</a:t>
            </a:r>
            <a:r>
              <a:rPr lang="it-IT" sz="1200" dirty="0"/>
              <a:t> from </a:t>
            </a:r>
            <a:r>
              <a:rPr lang="it-IT" sz="1200" dirty="0" err="1"/>
              <a:t>date_of_birth</a:t>
            </a:r>
            <a:r>
              <a:rPr lang="it-IT" sz="1200" dirty="0"/>
              <a:t> (</a:t>
            </a:r>
            <a:r>
              <a:rPr lang="it-IT" sz="1200" dirty="0" err="1"/>
              <a:t>converted</a:t>
            </a:r>
            <a:r>
              <a:rPr lang="it-IT" sz="1200" dirty="0"/>
              <a:t> to </a:t>
            </a:r>
            <a:r>
              <a:rPr lang="it-IT" sz="1200" dirty="0" err="1"/>
              <a:t>year</a:t>
            </a:r>
            <a:r>
              <a:rPr lang="it-IT" sz="1200" dirty="0"/>
              <a:t> </a:t>
            </a:r>
            <a:r>
              <a:rPr lang="it-IT" sz="1200" dirty="0" err="1"/>
              <a:t>only</a:t>
            </a:r>
            <a:r>
              <a:rPr lang="it-IT" sz="1200" dirty="0"/>
              <a:t>)</a:t>
            </a:r>
          </a:p>
          <a:p>
            <a:pPr marL="285750" indent="-285750">
              <a:buFont typeface="Arial" panose="020B0604020202020204" pitchFamily="34" charset="0"/>
              <a:buChar char="•"/>
            </a:pPr>
            <a:r>
              <a:rPr lang="it-IT" sz="1200" b="1" dirty="0" err="1"/>
              <a:t>Handled</a:t>
            </a:r>
            <a:r>
              <a:rPr lang="it-IT" sz="1200" dirty="0"/>
              <a:t> </a:t>
            </a:r>
            <a:r>
              <a:rPr lang="it-IT" sz="1200" dirty="0" err="1"/>
              <a:t>cases</a:t>
            </a:r>
            <a:r>
              <a:rPr lang="it-IT" sz="1200" dirty="0"/>
              <a:t> </a:t>
            </a:r>
            <a:r>
              <a:rPr lang="it-IT" sz="1200" dirty="0" err="1"/>
              <a:t>where</a:t>
            </a:r>
            <a:r>
              <a:rPr lang="it-IT" sz="1200" dirty="0"/>
              <a:t> names </a:t>
            </a:r>
            <a:r>
              <a:rPr lang="it-IT" sz="1200" dirty="0" err="1"/>
              <a:t>were</a:t>
            </a:r>
            <a:r>
              <a:rPr lang="it-IT" sz="1200" dirty="0"/>
              <a:t> </a:t>
            </a:r>
            <a:r>
              <a:rPr lang="it-IT" sz="1200" dirty="0" err="1"/>
              <a:t>mismatched</a:t>
            </a:r>
            <a:r>
              <a:rPr lang="it-IT" sz="1200" dirty="0"/>
              <a:t> due to </a:t>
            </a:r>
            <a:r>
              <a:rPr lang="it-IT" sz="1200" dirty="0" err="1"/>
              <a:t>formatting</a:t>
            </a:r>
            <a:r>
              <a:rPr lang="it-IT" sz="1200" dirty="0"/>
              <a:t> (e.g., </a:t>
            </a:r>
            <a:r>
              <a:rPr lang="it-IT" sz="1200" dirty="0" err="1"/>
              <a:t>only</a:t>
            </a:r>
            <a:r>
              <a:rPr lang="it-IT" sz="1200" dirty="0"/>
              <a:t> </a:t>
            </a:r>
            <a:r>
              <a:rPr lang="it-IT" sz="1200" dirty="0" err="1"/>
              <a:t>surname</a:t>
            </a:r>
            <a:r>
              <a:rPr lang="it-IT" sz="1200" dirty="0"/>
              <a:t> or extra </a:t>
            </a:r>
            <a:r>
              <a:rPr lang="it-IT" sz="1200" dirty="0" err="1"/>
              <a:t>spaces</a:t>
            </a:r>
            <a:r>
              <a:rPr lang="it-IT" sz="1200" dirty="0"/>
              <a:t>).</a:t>
            </a:r>
            <a:endParaRPr lang="it-IT" sz="2000" dirty="0"/>
          </a:p>
          <a:p>
            <a:endParaRPr lang="it-IT" dirty="0"/>
          </a:p>
        </p:txBody>
      </p:sp>
      <p:sp>
        <p:nvSpPr>
          <p:cNvPr id="5" name="CasellaDiTesto 4">
            <a:extLst>
              <a:ext uri="{FF2B5EF4-FFF2-40B4-BE49-F238E27FC236}">
                <a16:creationId xmlns:a16="http://schemas.microsoft.com/office/drawing/2014/main" id="{21FAFCF9-C3B9-D30B-3A04-99E558359C9B}"/>
              </a:ext>
            </a:extLst>
          </p:cNvPr>
          <p:cNvSpPr txBox="1"/>
          <p:nvPr/>
        </p:nvSpPr>
        <p:spPr>
          <a:xfrm>
            <a:off x="0" y="4597400"/>
            <a:ext cx="5334000" cy="1815882"/>
          </a:xfrm>
          <a:prstGeom prst="rect">
            <a:avLst/>
          </a:prstGeom>
          <a:noFill/>
        </p:spPr>
        <p:txBody>
          <a:bodyPr wrap="square" rtlCol="0">
            <a:spAutoFit/>
          </a:bodyPr>
          <a:lstStyle/>
          <a:p>
            <a:r>
              <a:rPr lang="it-IT" sz="2000" b="1" dirty="0"/>
              <a:t>Club Name </a:t>
            </a:r>
            <a:r>
              <a:rPr lang="it-IT" sz="2000" b="1" dirty="0" err="1"/>
              <a:t>Normalization</a:t>
            </a:r>
            <a:endParaRPr lang="it-IT" sz="2000" b="1" dirty="0"/>
          </a:p>
          <a:p>
            <a:pPr marL="285750" lvl="0" indent="-285750">
              <a:buFont typeface="Arial" panose="020B0604020202020204" pitchFamily="34" charset="0"/>
              <a:buChar char="•"/>
            </a:pPr>
            <a:r>
              <a:rPr lang="it-IT" sz="1200" b="1" dirty="0" err="1"/>
              <a:t>Resolved</a:t>
            </a:r>
            <a:r>
              <a:rPr lang="it-IT" sz="1200" dirty="0"/>
              <a:t> </a:t>
            </a:r>
            <a:r>
              <a:rPr lang="it-IT" sz="1200" dirty="0" err="1"/>
              <a:t>inconsistent</a:t>
            </a:r>
            <a:r>
              <a:rPr lang="it-IT" sz="1200" dirty="0"/>
              <a:t> club names </a:t>
            </a:r>
            <a:r>
              <a:rPr lang="it-IT" sz="1200" dirty="0" err="1"/>
              <a:t>between</a:t>
            </a:r>
            <a:r>
              <a:rPr lang="it-IT" sz="1200" dirty="0"/>
              <a:t> dataset 1 and dataset 2 </a:t>
            </a:r>
            <a:r>
              <a:rPr lang="it-IT" sz="1200" dirty="0" err="1"/>
              <a:t>using</a:t>
            </a:r>
            <a:r>
              <a:rPr lang="it-IT" sz="1200" dirty="0"/>
              <a:t>:</a:t>
            </a:r>
          </a:p>
          <a:p>
            <a:pPr marL="742950" lvl="1" indent="-285750">
              <a:buFont typeface="Wingdings" panose="05000000000000000000" pitchFamily="2" charset="2"/>
              <a:buChar char="Ø"/>
            </a:pPr>
            <a:r>
              <a:rPr lang="it-IT" sz="1200" dirty="0"/>
              <a:t>Manual mapping for </a:t>
            </a:r>
            <a:r>
              <a:rPr lang="it-IT" sz="1200" dirty="0" err="1"/>
              <a:t>known</a:t>
            </a:r>
            <a:r>
              <a:rPr lang="it-IT" sz="1200" dirty="0"/>
              <a:t> mismatches (e.g., Manchester United Football -&gt; Manchester Utd).</a:t>
            </a:r>
          </a:p>
          <a:p>
            <a:pPr marL="742950" lvl="1" indent="-285750">
              <a:buFont typeface="Wingdings" panose="05000000000000000000" pitchFamily="2" charset="2"/>
              <a:buChar char="Ø"/>
            </a:pPr>
            <a:r>
              <a:rPr lang="it-IT" sz="1200" dirty="0"/>
              <a:t>Fuzzy </a:t>
            </a:r>
            <a:r>
              <a:rPr lang="it-IT" sz="1200" dirty="0" err="1"/>
              <a:t>string</a:t>
            </a:r>
            <a:r>
              <a:rPr lang="it-IT" sz="1200" dirty="0"/>
              <a:t> matching with </a:t>
            </a:r>
            <a:r>
              <a:rPr lang="it-IT" sz="1200" dirty="0" err="1"/>
              <a:t>fallback</a:t>
            </a:r>
            <a:r>
              <a:rPr lang="it-IT" sz="1200" dirty="0"/>
              <a:t> </a:t>
            </a:r>
            <a:r>
              <a:rPr lang="it-IT" sz="1200" dirty="0" err="1"/>
              <a:t>logic</a:t>
            </a:r>
            <a:r>
              <a:rPr lang="it-IT" sz="1200" dirty="0"/>
              <a:t>.</a:t>
            </a:r>
          </a:p>
          <a:p>
            <a:endParaRPr lang="it-IT" sz="1400" dirty="0"/>
          </a:p>
          <a:p>
            <a:endParaRPr lang="it-IT" dirty="0"/>
          </a:p>
        </p:txBody>
      </p:sp>
      <p:pic>
        <p:nvPicPr>
          <p:cNvPr id="7" name="Immagine 6" descr="Immagine che contiene testo, schermata, Carattere&#10;&#10;Il contenuto generato dall'IA potrebbe non essere corretto.">
            <a:extLst>
              <a:ext uri="{FF2B5EF4-FFF2-40B4-BE49-F238E27FC236}">
                <a16:creationId xmlns:a16="http://schemas.microsoft.com/office/drawing/2014/main" id="{BC04E91A-990E-3A20-EEFC-DEFFE5BDCC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20" y="3680103"/>
            <a:ext cx="4566360" cy="778162"/>
          </a:xfrm>
          <a:prstGeom prst="rect">
            <a:avLst/>
          </a:prstGeom>
        </p:spPr>
      </p:pic>
      <p:pic>
        <p:nvPicPr>
          <p:cNvPr id="8" name="Immagine 7" descr="Immagine che contiene testo, schermata, Carattere&#10;&#10;Il contenuto generato dall'IA potrebbe non essere corretto.">
            <a:extLst>
              <a:ext uri="{FF2B5EF4-FFF2-40B4-BE49-F238E27FC236}">
                <a16:creationId xmlns:a16="http://schemas.microsoft.com/office/drawing/2014/main" id="{EE2AB74E-AE94-77F0-AE59-D0F258911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6511" y="4613770"/>
            <a:ext cx="3904309" cy="2014925"/>
          </a:xfrm>
          <a:prstGeom prst="rect">
            <a:avLst/>
          </a:prstGeom>
        </p:spPr>
      </p:pic>
    </p:spTree>
    <p:extLst>
      <p:ext uri="{BB962C8B-B14F-4D97-AF65-F5344CB8AC3E}">
        <p14:creationId xmlns:p14="http://schemas.microsoft.com/office/powerpoint/2010/main" val="165616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anim calcmode="lin" valueType="num">
                                      <p:cBhvr additive="base">
                                        <p:cTn id="30"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2" presetClass="entr" presetSubtype="4" fill="hold" grpId="0" nodeType="click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 calcmode="lin" valueType="num">
                                      <p:cBhvr additive="base">
                                        <p:cTn id="36"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 calcmode="lin" valueType="num">
                                      <p:cBhvr additive="base">
                                        <p:cTn id="42" dur="500" fill="hold"/>
                                        <p:tgtEl>
                                          <p:spTgt spid="4"/>
                                        </p:tgtEl>
                                        <p:attrNameLst>
                                          <p:attrName>ppt_x</p:attrName>
                                        </p:attrNameLst>
                                      </p:cBhvr>
                                      <p:tavLst>
                                        <p:tav tm="0">
                                          <p:val>
                                            <p:strVal val="#ppt_x"/>
                                          </p:val>
                                        </p:tav>
                                        <p:tav tm="100000">
                                          <p:val>
                                            <p:strVal val="#ppt_x"/>
                                          </p:val>
                                        </p:tav>
                                      </p:tavLst>
                                    </p:anim>
                                    <p:anim calcmode="lin" valueType="num">
                                      <p:cBhvr additive="base">
                                        <p:cTn id="4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 calcmode="lin" valueType="num">
                                      <p:cBhvr additive="base">
                                        <p:cTn id="48" dur="500" fill="hold"/>
                                        <p:tgtEl>
                                          <p:spTgt spid="5"/>
                                        </p:tgtEl>
                                        <p:attrNameLst>
                                          <p:attrName>ppt_x</p:attrName>
                                        </p:attrNameLst>
                                      </p:cBhvr>
                                      <p:tavLst>
                                        <p:tav tm="0">
                                          <p:val>
                                            <p:strVal val="#ppt_x"/>
                                          </p:val>
                                        </p:tav>
                                        <p:tav tm="100000">
                                          <p:val>
                                            <p:strVal val="#ppt_x"/>
                                          </p:val>
                                        </p:tav>
                                      </p:tavLst>
                                    </p:anim>
                                    <p:anim calcmode="lin" valueType="num">
                                      <p:cBhvr additive="base">
                                        <p:cTn id="4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22" presetClass="entr" presetSubtype="4" fill="hold" nodeType="clickEffect">
                                  <p:stCondLst>
                                    <p:cond delay="0"/>
                                  </p:stCondLst>
                                  <p:childTnLst>
                                    <p:set>
                                      <p:cBhvr>
                                        <p:cTn id="53" dur="1" fill="hold">
                                          <p:stCondLst>
                                            <p:cond delay="0"/>
                                          </p:stCondLst>
                                        </p:cTn>
                                        <p:tgtEl>
                                          <p:spTgt spid="7"/>
                                        </p:tgtEl>
                                        <p:attrNameLst>
                                          <p:attrName>style.visibility</p:attrName>
                                        </p:attrNameLst>
                                      </p:cBhvr>
                                      <p:to>
                                        <p:strVal val="visible"/>
                                      </p:to>
                                    </p:set>
                                    <p:animEffect transition="in" filter="wipe(down)">
                                      <p:cBhvr>
                                        <p:cTn id="54" dur="500"/>
                                        <p:tgtEl>
                                          <p:spTgt spid="7"/>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4" fill="hold" nodeType="click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86EECD0-1DAE-BA3C-16E2-0BD58650F997}"/>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Transform</a:t>
            </a:r>
            <a:r>
              <a:rPr lang="it-IT" b="1" dirty="0">
                <a:effectLst>
                  <a:outerShdw blurRad="38100" dist="38100" dir="2700000" algn="tl">
                    <a:srgbClr val="000000">
                      <a:alpha val="43137"/>
                    </a:srgbClr>
                  </a:outerShdw>
                </a:effectLst>
              </a:rPr>
              <a:t> </a:t>
            </a:r>
            <a:r>
              <a:rPr lang="it-IT" b="1" dirty="0" err="1">
                <a:effectLst>
                  <a:outerShdw blurRad="38100" dist="38100" dir="2700000" algn="tl">
                    <a:srgbClr val="000000">
                      <a:alpha val="43137"/>
                    </a:srgbClr>
                  </a:outerShdw>
                </a:effectLst>
              </a:rPr>
              <a:t>Phase</a:t>
            </a:r>
            <a:r>
              <a:rPr lang="it-IT" b="1" dirty="0">
                <a:effectLst>
                  <a:outerShdw blurRad="38100" dist="38100" dir="2700000" algn="tl">
                    <a:srgbClr val="000000">
                      <a:alpha val="43137"/>
                    </a:srgbClr>
                  </a:outerShdw>
                </a:effectLst>
              </a:rPr>
              <a:t> </a:t>
            </a:r>
          </a:p>
        </p:txBody>
      </p:sp>
      <p:sp>
        <p:nvSpPr>
          <p:cNvPr id="4" name="CasellaDiTesto 3">
            <a:extLst>
              <a:ext uri="{FF2B5EF4-FFF2-40B4-BE49-F238E27FC236}">
                <a16:creationId xmlns:a16="http://schemas.microsoft.com/office/drawing/2014/main" id="{D5D79330-ED19-B6C4-371F-0908D31F8DE4}"/>
              </a:ext>
            </a:extLst>
          </p:cNvPr>
          <p:cNvSpPr txBox="1"/>
          <p:nvPr/>
        </p:nvSpPr>
        <p:spPr>
          <a:xfrm>
            <a:off x="0" y="1111250"/>
            <a:ext cx="5549900" cy="1723549"/>
          </a:xfrm>
          <a:prstGeom prst="rect">
            <a:avLst/>
          </a:prstGeom>
          <a:noFill/>
        </p:spPr>
        <p:txBody>
          <a:bodyPr wrap="square" rtlCol="0">
            <a:spAutoFit/>
          </a:bodyPr>
          <a:lstStyle/>
          <a:p>
            <a:r>
              <a:rPr lang="it-IT" sz="2000" b="1" dirty="0" err="1"/>
              <a:t>Competition</a:t>
            </a:r>
            <a:r>
              <a:rPr lang="it-IT" sz="2000" b="1" dirty="0"/>
              <a:t> Name Mapping</a:t>
            </a:r>
          </a:p>
          <a:p>
            <a:pPr marL="285750" lvl="0" indent="-285750">
              <a:buFont typeface="Arial" panose="020B0604020202020204" pitchFamily="34" charset="0"/>
              <a:buChar char="•"/>
            </a:pPr>
            <a:r>
              <a:rPr lang="it-IT" sz="1200" b="1" dirty="0" err="1"/>
              <a:t>Mapped</a:t>
            </a:r>
            <a:r>
              <a:rPr lang="it-IT" sz="1200" dirty="0"/>
              <a:t> verbose </a:t>
            </a:r>
            <a:r>
              <a:rPr lang="it-IT" sz="1200" dirty="0" err="1"/>
              <a:t>competition</a:t>
            </a:r>
            <a:r>
              <a:rPr lang="it-IT" sz="1200" dirty="0"/>
              <a:t> names to </a:t>
            </a:r>
            <a:r>
              <a:rPr lang="it-IT" sz="1200" dirty="0" err="1"/>
              <a:t>standardized</a:t>
            </a:r>
            <a:r>
              <a:rPr lang="it-IT" sz="1200" dirty="0"/>
              <a:t> </a:t>
            </a:r>
            <a:r>
              <a:rPr lang="it-IT" sz="1200" dirty="0" err="1"/>
              <a:t>versions</a:t>
            </a:r>
            <a:r>
              <a:rPr lang="it-IT" sz="1200" dirty="0"/>
              <a:t> </a:t>
            </a:r>
            <a:r>
              <a:rPr lang="it-IT" sz="1200" dirty="0" err="1"/>
              <a:t>using</a:t>
            </a:r>
            <a:r>
              <a:rPr lang="it-IT" sz="1200" dirty="0"/>
              <a:t> a </a:t>
            </a:r>
            <a:r>
              <a:rPr lang="it-IT" sz="1200" dirty="0" err="1"/>
              <a:t>manual</a:t>
            </a:r>
            <a:r>
              <a:rPr lang="it-IT" sz="1200" dirty="0"/>
              <a:t> </a:t>
            </a:r>
            <a:r>
              <a:rPr lang="it-IT" sz="1200" dirty="0" err="1"/>
              <a:t>dictionary</a:t>
            </a:r>
            <a:r>
              <a:rPr lang="it-IT" sz="1200" dirty="0"/>
              <a:t>.</a:t>
            </a:r>
          </a:p>
          <a:p>
            <a:pPr marL="285750" lvl="0" indent="-285750">
              <a:buFont typeface="Arial" panose="020B0604020202020204" pitchFamily="34" charset="0"/>
              <a:buChar char="•"/>
            </a:pPr>
            <a:r>
              <a:rPr lang="it-IT" sz="1200" b="1" dirty="0" err="1"/>
              <a:t>Dropped</a:t>
            </a:r>
            <a:r>
              <a:rPr lang="it-IT" sz="1200" dirty="0"/>
              <a:t> </a:t>
            </a:r>
            <a:r>
              <a:rPr lang="it-IT" sz="1200" dirty="0" err="1"/>
              <a:t>rows</a:t>
            </a:r>
            <a:r>
              <a:rPr lang="it-IT" sz="1200" dirty="0"/>
              <a:t> for </a:t>
            </a:r>
            <a:r>
              <a:rPr lang="it-IT" sz="1200" dirty="0" err="1"/>
              <a:t>competitions</a:t>
            </a:r>
            <a:r>
              <a:rPr lang="it-IT" sz="1200" dirty="0"/>
              <a:t> </a:t>
            </a:r>
            <a:r>
              <a:rPr lang="it-IT" sz="1200" dirty="0" err="1"/>
              <a:t>outside</a:t>
            </a:r>
            <a:r>
              <a:rPr lang="it-IT" sz="1200" dirty="0"/>
              <a:t> the top 5 </a:t>
            </a:r>
            <a:r>
              <a:rPr lang="it-IT" sz="1200" dirty="0" err="1"/>
              <a:t>leagues</a:t>
            </a:r>
            <a:r>
              <a:rPr lang="it-IT" sz="1200" dirty="0"/>
              <a:t> (Premier League, Serie A, La Liga, Bundesliga, </a:t>
            </a:r>
            <a:r>
              <a:rPr lang="it-IT" sz="1200" dirty="0" err="1"/>
              <a:t>Ligue</a:t>
            </a:r>
            <a:r>
              <a:rPr lang="it-IT" sz="1200" dirty="0"/>
              <a:t> 1).</a:t>
            </a:r>
          </a:p>
          <a:p>
            <a:endParaRPr lang="it-IT" sz="2000" dirty="0"/>
          </a:p>
          <a:p>
            <a:endParaRPr lang="it-IT" dirty="0"/>
          </a:p>
        </p:txBody>
      </p:sp>
      <p:sp>
        <p:nvSpPr>
          <p:cNvPr id="5" name="CasellaDiTesto 4">
            <a:extLst>
              <a:ext uri="{FF2B5EF4-FFF2-40B4-BE49-F238E27FC236}">
                <a16:creationId xmlns:a16="http://schemas.microsoft.com/office/drawing/2014/main" id="{15FAC422-0D5B-3CFF-72E3-C0182A87D7B8}"/>
              </a:ext>
            </a:extLst>
          </p:cNvPr>
          <p:cNvSpPr txBox="1"/>
          <p:nvPr/>
        </p:nvSpPr>
        <p:spPr>
          <a:xfrm>
            <a:off x="6096000" y="2657892"/>
            <a:ext cx="6254750" cy="2123658"/>
          </a:xfrm>
          <a:prstGeom prst="rect">
            <a:avLst/>
          </a:prstGeom>
          <a:noFill/>
        </p:spPr>
        <p:txBody>
          <a:bodyPr wrap="square" rtlCol="0">
            <a:spAutoFit/>
          </a:bodyPr>
          <a:lstStyle/>
          <a:p>
            <a:r>
              <a:rPr lang="it-IT" sz="2000" b="1" dirty="0" err="1"/>
              <a:t>Enriching</a:t>
            </a:r>
            <a:r>
              <a:rPr lang="it-IT" sz="2000" b="1" dirty="0"/>
              <a:t> Club-</a:t>
            </a:r>
            <a:r>
              <a:rPr lang="it-IT" sz="2000" b="1" dirty="0" err="1"/>
              <a:t>Year</a:t>
            </a:r>
            <a:r>
              <a:rPr lang="it-IT" sz="2000" b="1" dirty="0"/>
              <a:t> Information</a:t>
            </a:r>
          </a:p>
          <a:p>
            <a:pPr marL="285750" lvl="0" indent="-285750">
              <a:buFont typeface="Arial" panose="020B0604020202020204" pitchFamily="34" charset="0"/>
              <a:buChar char="•"/>
            </a:pPr>
            <a:r>
              <a:rPr lang="it-IT" sz="1200" dirty="0"/>
              <a:t>In dataset 2, </a:t>
            </a:r>
            <a:r>
              <a:rPr lang="it-IT" sz="1200" b="1" dirty="0" err="1"/>
              <a:t>added</a:t>
            </a:r>
            <a:r>
              <a:rPr lang="it-IT" sz="1200" dirty="0"/>
              <a:t> a </a:t>
            </a:r>
            <a:r>
              <a:rPr lang="it-IT" sz="1200" dirty="0" err="1"/>
              <a:t>club_in_year</a:t>
            </a:r>
            <a:r>
              <a:rPr lang="it-IT" sz="1200" dirty="0"/>
              <a:t> </a:t>
            </a:r>
            <a:r>
              <a:rPr lang="it-IT" sz="1200" dirty="0" err="1"/>
              <a:t>column</a:t>
            </a:r>
            <a:r>
              <a:rPr lang="it-IT" sz="1200" dirty="0"/>
              <a:t> by:</a:t>
            </a:r>
          </a:p>
          <a:p>
            <a:pPr marL="742950" lvl="1" indent="-285750">
              <a:buFont typeface="Wingdings" panose="05000000000000000000" pitchFamily="2" charset="2"/>
              <a:buChar char="Ø"/>
            </a:pPr>
            <a:r>
              <a:rPr lang="it-IT" sz="1200" dirty="0" err="1"/>
              <a:t>Searching</a:t>
            </a:r>
            <a:r>
              <a:rPr lang="it-IT" sz="1200" dirty="0"/>
              <a:t> </a:t>
            </a:r>
            <a:r>
              <a:rPr lang="it-IT" sz="1200" dirty="0" err="1"/>
              <a:t>each</a:t>
            </a:r>
            <a:r>
              <a:rPr lang="it-IT" sz="1200" dirty="0"/>
              <a:t> dataset_1 file for matching (</a:t>
            </a:r>
            <a:r>
              <a:rPr lang="it-IT" sz="1200" dirty="0" err="1"/>
              <a:t>player_name</a:t>
            </a:r>
            <a:r>
              <a:rPr lang="it-IT" sz="1200" dirty="0"/>
              <a:t>, season).</a:t>
            </a:r>
          </a:p>
          <a:p>
            <a:pPr marL="742950" lvl="1" indent="-285750">
              <a:buFont typeface="Wingdings" panose="05000000000000000000" pitchFamily="2" charset="2"/>
              <a:buChar char="Ø"/>
            </a:pPr>
            <a:endParaRPr lang="it-IT" sz="1200" dirty="0"/>
          </a:p>
          <a:p>
            <a:pPr marL="742950" lvl="1" indent="-285750">
              <a:buFont typeface="Wingdings" panose="05000000000000000000" pitchFamily="2" charset="2"/>
              <a:buChar char="Ø"/>
            </a:pPr>
            <a:r>
              <a:rPr lang="it-IT" sz="1200" dirty="0" err="1"/>
              <a:t>Extracting</a:t>
            </a:r>
            <a:r>
              <a:rPr lang="it-IT" sz="1200" dirty="0"/>
              <a:t> the </a:t>
            </a:r>
            <a:r>
              <a:rPr lang="it-IT" sz="1200" dirty="0" err="1"/>
              <a:t>squad</a:t>
            </a:r>
            <a:r>
              <a:rPr lang="it-IT" sz="1200" dirty="0"/>
              <a:t> (club name) from the </a:t>
            </a:r>
            <a:r>
              <a:rPr lang="it-IT" sz="1200" dirty="0" err="1"/>
              <a:t>year</a:t>
            </a:r>
            <a:r>
              <a:rPr lang="it-IT" sz="1200" dirty="0"/>
              <a:t> of </a:t>
            </a:r>
            <a:r>
              <a:rPr lang="it-IT" sz="1200" dirty="0" err="1"/>
              <a:t>interest</a:t>
            </a:r>
            <a:r>
              <a:rPr lang="it-IT" sz="1200" dirty="0"/>
              <a:t>.</a:t>
            </a:r>
          </a:p>
          <a:p>
            <a:pPr marL="742950" lvl="1" indent="-285750">
              <a:buFont typeface="Wingdings" panose="05000000000000000000" pitchFamily="2" charset="2"/>
              <a:buChar char="Ø"/>
            </a:pPr>
            <a:endParaRPr lang="it-IT" sz="1200" dirty="0"/>
          </a:p>
          <a:p>
            <a:pPr marL="742950" lvl="1" indent="-285750">
              <a:buFont typeface="Wingdings" panose="05000000000000000000" pitchFamily="2" charset="2"/>
              <a:buChar char="Ø"/>
            </a:pPr>
            <a:r>
              <a:rPr lang="it-IT" sz="1200" dirty="0"/>
              <a:t>Using </a:t>
            </a:r>
            <a:r>
              <a:rPr lang="it-IT" sz="1200" dirty="0" err="1"/>
              <a:t>fallback</a:t>
            </a:r>
            <a:r>
              <a:rPr lang="it-IT" sz="1200" dirty="0"/>
              <a:t> to </a:t>
            </a:r>
            <a:r>
              <a:rPr lang="it-IT" sz="1200" dirty="0" err="1"/>
              <a:t>current</a:t>
            </a:r>
            <a:r>
              <a:rPr lang="it-IT" sz="1200" dirty="0"/>
              <a:t> club </a:t>
            </a:r>
            <a:r>
              <a:rPr lang="it-IT" sz="1200" dirty="0" err="1"/>
              <a:t>if</a:t>
            </a:r>
            <a:r>
              <a:rPr lang="it-IT" sz="1200" dirty="0"/>
              <a:t> none </a:t>
            </a:r>
            <a:r>
              <a:rPr lang="it-IT" sz="1200" dirty="0" err="1"/>
              <a:t>was</a:t>
            </a:r>
            <a:r>
              <a:rPr lang="it-IT" sz="1200" dirty="0"/>
              <a:t> </a:t>
            </a:r>
            <a:r>
              <a:rPr lang="it-IT" sz="1200" dirty="0" err="1"/>
              <a:t>found</a:t>
            </a:r>
            <a:r>
              <a:rPr lang="it-IT" sz="1200" dirty="0"/>
              <a:t>.</a:t>
            </a:r>
          </a:p>
          <a:p>
            <a:endParaRPr lang="it-IT" sz="2000" b="1" dirty="0"/>
          </a:p>
          <a:p>
            <a:endParaRPr lang="it-IT" sz="2000" dirty="0"/>
          </a:p>
        </p:txBody>
      </p:sp>
      <p:sp>
        <p:nvSpPr>
          <p:cNvPr id="8" name="CasellaDiTesto 7">
            <a:extLst>
              <a:ext uri="{FF2B5EF4-FFF2-40B4-BE49-F238E27FC236}">
                <a16:creationId xmlns:a16="http://schemas.microsoft.com/office/drawing/2014/main" id="{EE2C2B31-5CCC-993C-34F6-8BA1D33C9FB6}"/>
              </a:ext>
            </a:extLst>
          </p:cNvPr>
          <p:cNvSpPr txBox="1"/>
          <p:nvPr/>
        </p:nvSpPr>
        <p:spPr>
          <a:xfrm>
            <a:off x="0" y="4931142"/>
            <a:ext cx="5549900" cy="1631216"/>
          </a:xfrm>
          <a:prstGeom prst="rect">
            <a:avLst/>
          </a:prstGeom>
          <a:noFill/>
        </p:spPr>
        <p:txBody>
          <a:bodyPr wrap="square" rtlCol="0">
            <a:spAutoFit/>
          </a:bodyPr>
          <a:lstStyle/>
          <a:p>
            <a:r>
              <a:rPr lang="it-IT" sz="2000" b="1" dirty="0"/>
              <a:t>Global </a:t>
            </a:r>
            <a:r>
              <a:rPr lang="it-IT" sz="2000" b="1" dirty="0" err="1"/>
              <a:t>Missing</a:t>
            </a:r>
            <a:r>
              <a:rPr lang="it-IT" sz="2000" b="1" dirty="0"/>
              <a:t> Value </a:t>
            </a:r>
            <a:r>
              <a:rPr lang="it-IT" sz="2000" b="1" dirty="0" err="1"/>
              <a:t>Resolution</a:t>
            </a:r>
            <a:endParaRPr lang="it-IT" sz="2000" b="1" dirty="0"/>
          </a:p>
          <a:p>
            <a:pPr marL="285750" lvl="0" indent="-285750">
              <a:buFont typeface="Arial" panose="020B0604020202020204" pitchFamily="34" charset="0"/>
              <a:buChar char="•"/>
            </a:pPr>
            <a:r>
              <a:rPr lang="it-IT" sz="1200" b="1" dirty="0" err="1"/>
              <a:t>Repaired</a:t>
            </a:r>
            <a:r>
              <a:rPr lang="it-IT" sz="1200" dirty="0"/>
              <a:t> </a:t>
            </a:r>
            <a:r>
              <a:rPr lang="it-IT" sz="1200" dirty="0" err="1"/>
              <a:t>missing</a:t>
            </a:r>
            <a:r>
              <a:rPr lang="it-IT" sz="1200" dirty="0"/>
              <a:t> </a:t>
            </a:r>
            <a:r>
              <a:rPr lang="it-IT" sz="1200" dirty="0" err="1"/>
              <a:t>values</a:t>
            </a:r>
            <a:r>
              <a:rPr lang="it-IT" sz="1200" dirty="0"/>
              <a:t> in key fields (</a:t>
            </a:r>
            <a:r>
              <a:rPr lang="it-IT" sz="1200" dirty="0" err="1"/>
              <a:t>born</a:t>
            </a:r>
            <a:r>
              <a:rPr lang="it-IT" sz="1200" dirty="0"/>
              <a:t>, country, </a:t>
            </a:r>
            <a:r>
              <a:rPr lang="it-IT" sz="1200" dirty="0" err="1"/>
              <a:t>continent</a:t>
            </a:r>
            <a:r>
              <a:rPr lang="it-IT" sz="1200" dirty="0"/>
              <a:t>, </a:t>
            </a:r>
            <a:r>
              <a:rPr lang="it-IT" sz="1200" dirty="0" err="1"/>
              <a:t>nation</a:t>
            </a:r>
            <a:r>
              <a:rPr lang="it-IT" sz="1200" dirty="0"/>
              <a:t>, age) </a:t>
            </a:r>
            <a:r>
              <a:rPr lang="it-IT" sz="1200" dirty="0" err="1"/>
              <a:t>using</a:t>
            </a:r>
            <a:r>
              <a:rPr lang="it-IT" sz="1200" dirty="0"/>
              <a:t>:</a:t>
            </a:r>
          </a:p>
          <a:p>
            <a:pPr marL="742950" lvl="1" indent="-285750">
              <a:buFont typeface="Wingdings" panose="05000000000000000000" pitchFamily="2" charset="2"/>
              <a:buChar char="Ø"/>
            </a:pPr>
            <a:r>
              <a:rPr lang="it-IT" sz="1200" dirty="0" err="1"/>
              <a:t>Secondary</a:t>
            </a:r>
            <a:r>
              <a:rPr lang="it-IT" sz="1200" dirty="0"/>
              <a:t> dataset joins (players.csv)</a:t>
            </a:r>
          </a:p>
          <a:p>
            <a:pPr lvl="1"/>
            <a:r>
              <a:rPr lang="it-IT" sz="1200" dirty="0"/>
              <a:t>Value </a:t>
            </a:r>
            <a:r>
              <a:rPr lang="it-IT" sz="1200" dirty="0" err="1"/>
              <a:t>inference</a:t>
            </a:r>
            <a:r>
              <a:rPr lang="it-IT" sz="1200" dirty="0"/>
              <a:t> from </a:t>
            </a:r>
            <a:r>
              <a:rPr lang="it-IT" sz="1200" dirty="0" err="1"/>
              <a:t>same</a:t>
            </a:r>
            <a:r>
              <a:rPr lang="it-IT" sz="1200" dirty="0"/>
              <a:t>-country </a:t>
            </a:r>
            <a:r>
              <a:rPr lang="it-IT" sz="1200" dirty="0" err="1"/>
              <a:t>rows</a:t>
            </a:r>
            <a:r>
              <a:rPr lang="it-IT" sz="1200" dirty="0"/>
              <a:t> in </a:t>
            </a:r>
            <a:r>
              <a:rPr lang="it-IT" sz="1200" dirty="0" err="1"/>
              <a:t>other</a:t>
            </a:r>
            <a:r>
              <a:rPr lang="it-IT" sz="1200" dirty="0"/>
              <a:t> files.</a:t>
            </a:r>
          </a:p>
          <a:p>
            <a:pPr marL="742950" lvl="1" indent="-285750">
              <a:buFont typeface="Wingdings" panose="05000000000000000000" pitchFamily="2" charset="2"/>
              <a:buChar char="Ø"/>
            </a:pPr>
            <a:r>
              <a:rPr lang="it-IT" sz="1200" dirty="0" err="1"/>
              <a:t>Computed</a:t>
            </a:r>
            <a:r>
              <a:rPr lang="it-IT" sz="1200" dirty="0"/>
              <a:t> age </a:t>
            </a:r>
            <a:r>
              <a:rPr lang="it-IT" sz="1200" dirty="0" err="1"/>
              <a:t>using</a:t>
            </a:r>
            <a:r>
              <a:rPr lang="it-IT" sz="1200" dirty="0"/>
              <a:t> season - </a:t>
            </a:r>
            <a:r>
              <a:rPr lang="it-IT" sz="1200" dirty="0" err="1"/>
              <a:t>born</a:t>
            </a:r>
            <a:r>
              <a:rPr lang="it-IT" sz="1200" dirty="0"/>
              <a:t>.</a:t>
            </a:r>
          </a:p>
          <a:p>
            <a:endParaRPr lang="it-IT" sz="2000" b="1" dirty="0"/>
          </a:p>
        </p:txBody>
      </p:sp>
      <p:pic>
        <p:nvPicPr>
          <p:cNvPr id="6" name="Immagine 5" descr="Immagine che contiene testo, schermata, Carattere, numero&#10;&#10;Il contenuto generato dall'IA potrebbe non essere corretto.">
            <a:extLst>
              <a:ext uri="{FF2B5EF4-FFF2-40B4-BE49-F238E27FC236}">
                <a16:creationId xmlns:a16="http://schemas.microsoft.com/office/drawing/2014/main" id="{DBBC9471-C5CD-9515-97F0-2D6FB99A5D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10300" y="1111250"/>
            <a:ext cx="3534268" cy="1295581"/>
          </a:xfrm>
          <a:prstGeom prst="rect">
            <a:avLst/>
          </a:prstGeom>
        </p:spPr>
      </p:pic>
      <p:pic>
        <p:nvPicPr>
          <p:cNvPr id="7" name="Immagine 6" descr="Immagine che contiene testo, schermata, Carattere&#10;&#10;Il contenuto generato dall'IA potrebbe non essere corretto.">
            <a:extLst>
              <a:ext uri="{FF2B5EF4-FFF2-40B4-BE49-F238E27FC236}">
                <a16:creationId xmlns:a16="http://schemas.microsoft.com/office/drawing/2014/main" id="{C2C73E9D-5C0E-9997-0944-397A737D04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78" y="2525498"/>
            <a:ext cx="3787964" cy="1983002"/>
          </a:xfrm>
          <a:prstGeom prst="rect">
            <a:avLst/>
          </a:prstGeom>
        </p:spPr>
      </p:pic>
    </p:spTree>
    <p:extLst>
      <p:ext uri="{BB962C8B-B14F-4D97-AF65-F5344CB8AC3E}">
        <p14:creationId xmlns:p14="http://schemas.microsoft.com/office/powerpoint/2010/main" val="2607530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down)">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500" fill="hold"/>
                                        <p:tgtEl>
                                          <p:spTgt spid="5"/>
                                        </p:tgtEl>
                                        <p:attrNameLst>
                                          <p:attrName>ppt_x</p:attrName>
                                        </p:attrNameLst>
                                      </p:cBhvr>
                                      <p:tavLst>
                                        <p:tav tm="0">
                                          <p:val>
                                            <p:strVal val="#ppt_x"/>
                                          </p:val>
                                        </p:tav>
                                        <p:tav tm="100000">
                                          <p:val>
                                            <p:strVal val="#ppt_x"/>
                                          </p:val>
                                        </p:tav>
                                      </p:tavLst>
                                    </p:anim>
                                    <p:anim calcmode="lin" valueType="num">
                                      <p:cBhvr additive="base">
                                        <p:cTn id="2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wipe(down)">
                                      <p:cBhvr>
                                        <p:cTn id="29" dur="50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grpId="0" nodeType="clickEffect">
                                  <p:stCondLst>
                                    <p:cond delay="0"/>
                                  </p:stCondLst>
                                  <p:childTnLst>
                                    <p:set>
                                      <p:cBhvr>
                                        <p:cTn id="33" dur="1" fill="hold">
                                          <p:stCondLst>
                                            <p:cond delay="0"/>
                                          </p:stCondLst>
                                        </p:cTn>
                                        <p:tgtEl>
                                          <p:spTgt spid="8"/>
                                        </p:tgtEl>
                                        <p:attrNameLst>
                                          <p:attrName>style.visibility</p:attrName>
                                        </p:attrNameLst>
                                      </p:cBhvr>
                                      <p:to>
                                        <p:strVal val="visible"/>
                                      </p:to>
                                    </p:set>
                                    <p:anim calcmode="lin" valueType="num">
                                      <p:cBhvr additive="base">
                                        <p:cTn id="34" dur="500" fill="hold"/>
                                        <p:tgtEl>
                                          <p:spTgt spid="8"/>
                                        </p:tgtEl>
                                        <p:attrNameLst>
                                          <p:attrName>ppt_x</p:attrName>
                                        </p:attrNameLst>
                                      </p:cBhvr>
                                      <p:tavLst>
                                        <p:tav tm="0">
                                          <p:val>
                                            <p:strVal val="#ppt_x"/>
                                          </p:val>
                                        </p:tav>
                                        <p:tav tm="100000">
                                          <p:val>
                                            <p:strVal val="#ppt_x"/>
                                          </p:val>
                                        </p:tav>
                                      </p:tavLst>
                                    </p:anim>
                                    <p:anim calcmode="lin" valueType="num">
                                      <p:cBhvr additive="base">
                                        <p:cTn id="35"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BE3606D-86F9-B24C-1969-D2317056BCF9}"/>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Preparation</a:t>
            </a:r>
            <a:r>
              <a:rPr lang="it-IT" b="1" dirty="0">
                <a:effectLst>
                  <a:outerShdw blurRad="38100" dist="38100" dir="2700000" algn="tl">
                    <a:srgbClr val="000000">
                      <a:alpha val="43137"/>
                    </a:srgbClr>
                  </a:outerShdw>
                </a:effectLst>
              </a:rPr>
              <a:t> and Load </a:t>
            </a:r>
            <a:r>
              <a:rPr lang="it-IT" b="1" dirty="0" err="1">
                <a:effectLst>
                  <a:outerShdw blurRad="38100" dist="38100" dir="2700000" algn="tl">
                    <a:srgbClr val="000000">
                      <a:alpha val="43137"/>
                    </a:srgbClr>
                  </a:outerShdw>
                </a:effectLst>
              </a:rPr>
              <a:t>Phase</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7755192C-54AC-0E9D-F853-DF16CD05CD0D}"/>
              </a:ext>
            </a:extLst>
          </p:cNvPr>
          <p:cNvSpPr>
            <a:spLocks noGrp="1"/>
          </p:cNvSpPr>
          <p:nvPr>
            <p:ph idx="1"/>
          </p:nvPr>
        </p:nvSpPr>
        <p:spPr>
          <a:xfrm>
            <a:off x="0" y="1146175"/>
            <a:ext cx="5581650" cy="1546225"/>
          </a:xfrm>
        </p:spPr>
        <p:txBody>
          <a:bodyPr>
            <a:normAutofit/>
          </a:bodyPr>
          <a:lstStyle/>
          <a:p>
            <a:pPr marL="0" indent="0">
              <a:buNone/>
            </a:pPr>
            <a:r>
              <a:rPr lang="it-IT" sz="2000" b="1" dirty="0"/>
              <a:t>Global </a:t>
            </a:r>
            <a:r>
              <a:rPr lang="it-IT" sz="2000" b="1" dirty="0" err="1"/>
              <a:t>Pair</a:t>
            </a:r>
            <a:r>
              <a:rPr lang="it-IT" sz="2000" b="1" dirty="0"/>
              <a:t> Scoring</a:t>
            </a:r>
          </a:p>
          <a:p>
            <a:pPr lvl="0"/>
            <a:r>
              <a:rPr lang="it-IT" sz="1200" b="1" dirty="0" err="1"/>
              <a:t>Computed</a:t>
            </a:r>
            <a:r>
              <a:rPr lang="it-IT" sz="1200" dirty="0"/>
              <a:t> (player, season) </a:t>
            </a:r>
            <a:r>
              <a:rPr lang="it-IT" sz="1200" dirty="0" err="1"/>
              <a:t>pairs</a:t>
            </a:r>
            <a:r>
              <a:rPr lang="it-IT" sz="1200" dirty="0"/>
              <a:t> </a:t>
            </a:r>
            <a:r>
              <a:rPr lang="it-IT" sz="1200" dirty="0" err="1"/>
              <a:t>present</a:t>
            </a:r>
            <a:r>
              <a:rPr lang="it-IT" sz="1200" dirty="0"/>
              <a:t> in </a:t>
            </a:r>
            <a:r>
              <a:rPr lang="it-IT" sz="1200" b="1" dirty="0" err="1"/>
              <a:t>all</a:t>
            </a:r>
            <a:r>
              <a:rPr lang="it-IT" sz="1200" dirty="0"/>
              <a:t> </a:t>
            </a:r>
            <a:r>
              <a:rPr lang="it-IT" sz="1200" dirty="0" err="1"/>
              <a:t>stats</a:t>
            </a:r>
            <a:r>
              <a:rPr lang="it-IT" sz="1200" dirty="0"/>
              <a:t> files </a:t>
            </a:r>
            <a:r>
              <a:rPr lang="it-IT" sz="1200" b="1" dirty="0"/>
              <a:t>and</a:t>
            </a:r>
            <a:r>
              <a:rPr lang="it-IT" sz="1200" dirty="0"/>
              <a:t> the </a:t>
            </a:r>
            <a:r>
              <a:rPr lang="it-IT" sz="1200" dirty="0" err="1"/>
              <a:t>valuation</a:t>
            </a:r>
            <a:r>
              <a:rPr lang="it-IT" sz="1200" dirty="0"/>
              <a:t> file.</a:t>
            </a:r>
          </a:p>
          <a:p>
            <a:pPr lvl="0"/>
            <a:r>
              <a:rPr lang="it-IT" sz="1200" b="1" dirty="0" err="1"/>
              <a:t>Counted</a:t>
            </a:r>
            <a:r>
              <a:rPr lang="it-IT" sz="1200" dirty="0"/>
              <a:t> </a:t>
            </a:r>
            <a:r>
              <a:rPr lang="it-IT" sz="1200" dirty="0" err="1"/>
              <a:t>total</a:t>
            </a:r>
            <a:r>
              <a:rPr lang="it-IT" sz="1200" dirty="0"/>
              <a:t> </a:t>
            </a:r>
            <a:r>
              <a:rPr lang="it-IT" sz="1200" dirty="0" err="1"/>
              <a:t>missing</a:t>
            </a:r>
            <a:r>
              <a:rPr lang="it-IT" sz="1200" dirty="0"/>
              <a:t> </a:t>
            </a:r>
            <a:r>
              <a:rPr lang="it-IT" sz="1200" dirty="0" err="1"/>
              <a:t>cells</a:t>
            </a:r>
            <a:r>
              <a:rPr lang="it-IT" sz="1200" dirty="0"/>
              <a:t> </a:t>
            </a:r>
            <a:r>
              <a:rPr lang="it-IT" sz="1200" dirty="0" err="1"/>
              <a:t>across</a:t>
            </a:r>
            <a:r>
              <a:rPr lang="it-IT" sz="1200" dirty="0"/>
              <a:t> </a:t>
            </a:r>
            <a:r>
              <a:rPr lang="it-IT" sz="1200" dirty="0" err="1"/>
              <a:t>all</a:t>
            </a:r>
            <a:r>
              <a:rPr lang="it-IT" sz="1200" dirty="0"/>
              <a:t> </a:t>
            </a:r>
            <a:r>
              <a:rPr lang="it-IT" sz="1200" dirty="0" err="1"/>
              <a:t>stats</a:t>
            </a:r>
            <a:r>
              <a:rPr lang="it-IT" sz="1200" dirty="0"/>
              <a:t> files </a:t>
            </a:r>
            <a:r>
              <a:rPr lang="it-IT" sz="1200" b="1" dirty="0"/>
              <a:t>per </a:t>
            </a:r>
            <a:r>
              <a:rPr lang="it-IT" sz="1200" b="1" dirty="0" err="1"/>
              <a:t>pair</a:t>
            </a:r>
            <a:r>
              <a:rPr lang="it-IT" sz="1200" dirty="0"/>
              <a:t>.</a:t>
            </a:r>
          </a:p>
          <a:p>
            <a:pPr lvl="0"/>
            <a:r>
              <a:rPr lang="it-IT" sz="1200" b="1" dirty="0" err="1"/>
              <a:t>Selected</a:t>
            </a:r>
            <a:r>
              <a:rPr lang="it-IT" sz="1200" dirty="0"/>
              <a:t> the </a:t>
            </a:r>
            <a:r>
              <a:rPr lang="it-IT" sz="1200" b="1" dirty="0"/>
              <a:t>8,000 best player-season </a:t>
            </a:r>
            <a:r>
              <a:rPr lang="it-IT" sz="1200" b="1" dirty="0" err="1"/>
              <a:t>pairs</a:t>
            </a:r>
            <a:r>
              <a:rPr lang="it-IT" sz="1200" dirty="0"/>
              <a:t> with the </a:t>
            </a:r>
            <a:r>
              <a:rPr lang="it-IT" sz="1200" dirty="0" err="1"/>
              <a:t>lowest</a:t>
            </a:r>
            <a:r>
              <a:rPr lang="it-IT" sz="1200" dirty="0"/>
              <a:t> </a:t>
            </a:r>
            <a:r>
              <a:rPr lang="it-IT" sz="1200" dirty="0" err="1"/>
              <a:t>null</a:t>
            </a:r>
            <a:r>
              <a:rPr lang="it-IT" sz="1200" dirty="0"/>
              <a:t> </a:t>
            </a:r>
            <a:r>
              <a:rPr lang="it-IT" sz="1200" dirty="0" err="1"/>
              <a:t>count</a:t>
            </a:r>
            <a:r>
              <a:rPr lang="it-IT" sz="1200" dirty="0"/>
              <a:t>.</a:t>
            </a:r>
          </a:p>
          <a:p>
            <a:pPr marL="0" indent="0">
              <a:buNone/>
            </a:pPr>
            <a:endParaRPr lang="it-IT" sz="2000" dirty="0"/>
          </a:p>
        </p:txBody>
      </p:sp>
      <p:sp>
        <p:nvSpPr>
          <p:cNvPr id="4" name="CasellaDiTesto 3">
            <a:extLst>
              <a:ext uri="{FF2B5EF4-FFF2-40B4-BE49-F238E27FC236}">
                <a16:creationId xmlns:a16="http://schemas.microsoft.com/office/drawing/2014/main" id="{DFF1CFF0-48A3-8D8F-AB01-58966C6EDAC5}"/>
              </a:ext>
            </a:extLst>
          </p:cNvPr>
          <p:cNvSpPr txBox="1"/>
          <p:nvPr/>
        </p:nvSpPr>
        <p:spPr>
          <a:xfrm>
            <a:off x="0" y="3172966"/>
            <a:ext cx="5588000" cy="1077218"/>
          </a:xfrm>
          <a:prstGeom prst="rect">
            <a:avLst/>
          </a:prstGeom>
          <a:noFill/>
        </p:spPr>
        <p:txBody>
          <a:bodyPr wrap="square" rtlCol="0">
            <a:spAutoFit/>
          </a:bodyPr>
          <a:lstStyle/>
          <a:p>
            <a:r>
              <a:rPr lang="it-IT" sz="2000" b="1" dirty="0"/>
              <a:t>Filtering &amp; Export</a:t>
            </a:r>
          </a:p>
          <a:p>
            <a:pPr marL="285750" lvl="0" indent="-285750">
              <a:buFont typeface="Arial" panose="020B0604020202020204" pitchFamily="34" charset="0"/>
              <a:buChar char="•"/>
            </a:pPr>
            <a:r>
              <a:rPr lang="it-IT" sz="1200" b="1" dirty="0" err="1"/>
              <a:t>Filtered</a:t>
            </a:r>
            <a:r>
              <a:rPr lang="it-IT" sz="1200" dirty="0"/>
              <a:t> </a:t>
            </a:r>
            <a:r>
              <a:rPr lang="it-IT" sz="1200" dirty="0" err="1"/>
              <a:t>every</a:t>
            </a:r>
            <a:r>
              <a:rPr lang="it-IT" sz="1200" dirty="0"/>
              <a:t> </a:t>
            </a:r>
            <a:r>
              <a:rPr lang="it-IT" sz="1200" dirty="0" err="1"/>
              <a:t>stats</a:t>
            </a:r>
            <a:r>
              <a:rPr lang="it-IT" sz="1200" dirty="0"/>
              <a:t> file and the </a:t>
            </a:r>
            <a:r>
              <a:rPr lang="it-IT" sz="1200" dirty="0" err="1"/>
              <a:t>valuation</a:t>
            </a:r>
            <a:r>
              <a:rPr lang="it-IT" sz="1200" dirty="0"/>
              <a:t> file to </a:t>
            </a:r>
            <a:r>
              <a:rPr lang="it-IT" sz="1200" dirty="0" err="1"/>
              <a:t>retain</a:t>
            </a:r>
            <a:r>
              <a:rPr lang="it-IT" sz="1200" dirty="0"/>
              <a:t> </a:t>
            </a:r>
            <a:r>
              <a:rPr lang="it-IT" sz="1200" dirty="0" err="1"/>
              <a:t>only</a:t>
            </a:r>
            <a:r>
              <a:rPr lang="it-IT" sz="1200" dirty="0"/>
              <a:t> the top 8,000 </a:t>
            </a:r>
            <a:r>
              <a:rPr lang="it-IT" sz="1200" dirty="0" err="1"/>
              <a:t>pairs</a:t>
            </a:r>
            <a:r>
              <a:rPr lang="it-IT" sz="1200" dirty="0"/>
              <a:t>.</a:t>
            </a:r>
          </a:p>
          <a:p>
            <a:pPr marL="285750" lvl="0" indent="-285750">
              <a:buFont typeface="Arial" panose="020B0604020202020204" pitchFamily="34" charset="0"/>
              <a:buChar char="•"/>
            </a:pPr>
            <a:r>
              <a:rPr lang="it-IT" sz="1200" b="1" dirty="0" err="1"/>
              <a:t>Ensured</a:t>
            </a:r>
            <a:r>
              <a:rPr lang="it-IT" sz="1200" dirty="0"/>
              <a:t> </a:t>
            </a:r>
            <a:r>
              <a:rPr lang="it-IT" sz="1200" dirty="0" err="1"/>
              <a:t>all</a:t>
            </a:r>
            <a:r>
              <a:rPr lang="it-IT" sz="1200" dirty="0"/>
              <a:t> files </a:t>
            </a:r>
            <a:r>
              <a:rPr lang="it-IT" sz="1200" dirty="0" err="1"/>
              <a:t>had</a:t>
            </a:r>
            <a:r>
              <a:rPr lang="it-IT" sz="1200" dirty="0"/>
              <a:t> </a:t>
            </a:r>
            <a:r>
              <a:rPr lang="it-IT" sz="1200" dirty="0" err="1"/>
              <a:t>identical</a:t>
            </a:r>
            <a:r>
              <a:rPr lang="it-IT" sz="1200" dirty="0"/>
              <a:t> sets of player-season keys.</a:t>
            </a:r>
          </a:p>
          <a:p>
            <a:endParaRPr lang="it-IT" sz="2000" dirty="0"/>
          </a:p>
        </p:txBody>
      </p:sp>
      <p:sp>
        <p:nvSpPr>
          <p:cNvPr id="5" name="CasellaDiTesto 4">
            <a:extLst>
              <a:ext uri="{FF2B5EF4-FFF2-40B4-BE49-F238E27FC236}">
                <a16:creationId xmlns:a16="http://schemas.microsoft.com/office/drawing/2014/main" id="{CBF129BC-E9DE-61A1-381F-1B5C9A4E7C6D}"/>
              </a:ext>
            </a:extLst>
          </p:cNvPr>
          <p:cNvSpPr txBox="1"/>
          <p:nvPr/>
        </p:nvSpPr>
        <p:spPr>
          <a:xfrm>
            <a:off x="0" y="4876800"/>
            <a:ext cx="5499100" cy="1508105"/>
          </a:xfrm>
          <a:prstGeom prst="rect">
            <a:avLst/>
          </a:prstGeom>
          <a:noFill/>
        </p:spPr>
        <p:txBody>
          <a:bodyPr wrap="square" rtlCol="0">
            <a:spAutoFit/>
          </a:bodyPr>
          <a:lstStyle/>
          <a:p>
            <a:r>
              <a:rPr lang="it-IT" sz="2000" b="1" dirty="0"/>
              <a:t>Load </a:t>
            </a:r>
            <a:r>
              <a:rPr lang="it-IT" sz="2000" b="1" dirty="0" err="1"/>
              <a:t>Preparation</a:t>
            </a:r>
            <a:endParaRPr lang="it-IT" sz="2000" b="1" dirty="0"/>
          </a:p>
          <a:p>
            <a:pPr marL="285750" lvl="0" indent="-285750">
              <a:buFont typeface="Arial" panose="020B0604020202020204" pitchFamily="34" charset="0"/>
              <a:buChar char="•"/>
            </a:pPr>
            <a:r>
              <a:rPr lang="it-IT" sz="1200" dirty="0" err="1"/>
              <a:t>Final</a:t>
            </a:r>
            <a:r>
              <a:rPr lang="it-IT" sz="1200" dirty="0"/>
              <a:t> </a:t>
            </a:r>
            <a:r>
              <a:rPr lang="it-IT" sz="1200" dirty="0" err="1"/>
              <a:t>CSVs</a:t>
            </a:r>
            <a:r>
              <a:rPr lang="it-IT" sz="1200" dirty="0"/>
              <a:t> are </a:t>
            </a:r>
            <a:r>
              <a:rPr lang="it-IT" sz="1200" dirty="0" err="1"/>
              <a:t>now</a:t>
            </a:r>
            <a:r>
              <a:rPr lang="it-IT" sz="1200" dirty="0"/>
              <a:t> </a:t>
            </a:r>
            <a:r>
              <a:rPr lang="it-IT" sz="1200" dirty="0" err="1"/>
              <a:t>clean</a:t>
            </a:r>
            <a:r>
              <a:rPr lang="it-IT" sz="1200" dirty="0"/>
              <a:t>, </a:t>
            </a:r>
            <a:r>
              <a:rPr lang="it-IT" sz="1200" dirty="0" err="1"/>
              <a:t>aligned</a:t>
            </a:r>
            <a:r>
              <a:rPr lang="it-IT" sz="1200" dirty="0"/>
              <a:t>, and </a:t>
            </a:r>
            <a:r>
              <a:rPr lang="it-IT" sz="1200" dirty="0" err="1"/>
              <a:t>optimized</a:t>
            </a:r>
            <a:r>
              <a:rPr lang="it-IT" sz="1200" dirty="0"/>
              <a:t>.</a:t>
            </a:r>
          </a:p>
          <a:p>
            <a:pPr marL="285750" lvl="0" indent="-285750">
              <a:buFont typeface="Arial" panose="020B0604020202020204" pitchFamily="34" charset="0"/>
              <a:buChar char="•"/>
            </a:pPr>
            <a:r>
              <a:rPr lang="it-IT" sz="1200" dirty="0" err="1"/>
              <a:t>Each</a:t>
            </a:r>
            <a:r>
              <a:rPr lang="it-IT" sz="1200" dirty="0"/>
              <a:t> file </a:t>
            </a:r>
            <a:r>
              <a:rPr lang="it-IT" sz="1200" dirty="0" err="1"/>
              <a:t>is</a:t>
            </a:r>
            <a:r>
              <a:rPr lang="it-IT" sz="1200" dirty="0"/>
              <a:t> ready for import </a:t>
            </a:r>
            <a:r>
              <a:rPr lang="it-IT" sz="1200" dirty="0" err="1"/>
              <a:t>into</a:t>
            </a:r>
            <a:r>
              <a:rPr lang="it-IT" sz="1200" dirty="0"/>
              <a:t> </a:t>
            </a:r>
            <a:r>
              <a:rPr lang="it-IT" sz="1200" dirty="0" err="1"/>
              <a:t>PostgreSQL</a:t>
            </a:r>
            <a:r>
              <a:rPr lang="it-IT" sz="1200" dirty="0"/>
              <a:t>.</a:t>
            </a:r>
          </a:p>
          <a:p>
            <a:pPr marL="285750" lvl="0" indent="-285750">
              <a:buFont typeface="Arial" panose="020B0604020202020204" pitchFamily="34" charset="0"/>
              <a:buChar char="•"/>
            </a:pPr>
            <a:r>
              <a:rPr lang="it-IT" sz="1200" dirty="0"/>
              <a:t>Keys (player, season) can be </a:t>
            </a:r>
            <a:r>
              <a:rPr lang="it-IT" sz="1200" dirty="0" err="1"/>
              <a:t>used</a:t>
            </a:r>
            <a:r>
              <a:rPr lang="it-IT" sz="1200" dirty="0"/>
              <a:t> to join </a:t>
            </a:r>
            <a:r>
              <a:rPr lang="it-IT" sz="1200" dirty="0" err="1"/>
              <a:t>fact</a:t>
            </a:r>
            <a:r>
              <a:rPr lang="it-IT" sz="1200" dirty="0"/>
              <a:t> and </a:t>
            </a:r>
            <a:r>
              <a:rPr lang="it-IT" sz="1200" dirty="0" err="1"/>
              <a:t>dimension</a:t>
            </a:r>
            <a:r>
              <a:rPr lang="it-IT" sz="1200" dirty="0"/>
              <a:t> </a:t>
            </a:r>
            <a:r>
              <a:rPr lang="it-IT" sz="1200" dirty="0" err="1"/>
              <a:t>tables</a:t>
            </a:r>
            <a:r>
              <a:rPr lang="it-IT" sz="1200" dirty="0"/>
              <a:t>.</a:t>
            </a:r>
          </a:p>
          <a:p>
            <a:endParaRPr lang="it-IT" sz="1400" b="1" dirty="0"/>
          </a:p>
          <a:p>
            <a:endParaRPr lang="it-IT" sz="2000" dirty="0"/>
          </a:p>
        </p:txBody>
      </p:sp>
      <p:pic>
        <p:nvPicPr>
          <p:cNvPr id="7" name="Immagine 6" descr="Immagine che contiene testo, schermata, software&#10;&#10;Il contenuto generato dall'IA potrebbe non essere corretto.">
            <a:extLst>
              <a:ext uri="{FF2B5EF4-FFF2-40B4-BE49-F238E27FC236}">
                <a16:creationId xmlns:a16="http://schemas.microsoft.com/office/drawing/2014/main" id="{DC8FE6BC-2733-A410-BD02-DF6229E1B2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0850" y="1203325"/>
            <a:ext cx="4685398" cy="5016500"/>
          </a:xfrm>
          <a:prstGeom prst="rect">
            <a:avLst/>
          </a:prstGeom>
        </p:spPr>
      </p:pic>
    </p:spTree>
    <p:extLst>
      <p:ext uri="{BB962C8B-B14F-4D97-AF65-F5344CB8AC3E}">
        <p14:creationId xmlns:p14="http://schemas.microsoft.com/office/powerpoint/2010/main" val="3262198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anim calcmode="lin" valueType="num">
                                      <p:cBhvr additive="base">
                                        <p:cTn id="30"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2" presetClass="entr" presetSubtype="4"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grpId="0" nodeType="clickEffect">
                                  <p:stCondLst>
                                    <p:cond delay="0"/>
                                  </p:stCondLst>
                                  <p:childTnLst>
                                    <p:set>
                                      <p:cBhvr>
                                        <p:cTn id="41" dur="1" fill="hold">
                                          <p:stCondLst>
                                            <p:cond delay="0"/>
                                          </p:stCondLst>
                                        </p:cTn>
                                        <p:tgtEl>
                                          <p:spTgt spid="5"/>
                                        </p:tgtEl>
                                        <p:attrNameLst>
                                          <p:attrName>style.visibility</p:attrName>
                                        </p:attrNameLst>
                                      </p:cBhvr>
                                      <p:to>
                                        <p:strVal val="visible"/>
                                      </p:to>
                                    </p:set>
                                    <p:anim calcmode="lin" valueType="num">
                                      <p:cBhvr additive="base">
                                        <p:cTn id="42" dur="500" fill="hold"/>
                                        <p:tgtEl>
                                          <p:spTgt spid="5"/>
                                        </p:tgtEl>
                                        <p:attrNameLst>
                                          <p:attrName>ppt_x</p:attrName>
                                        </p:attrNameLst>
                                      </p:cBhvr>
                                      <p:tavLst>
                                        <p:tav tm="0">
                                          <p:val>
                                            <p:strVal val="#ppt_x"/>
                                          </p:val>
                                        </p:tav>
                                        <p:tav tm="100000">
                                          <p:val>
                                            <p:strVal val="#ppt_x"/>
                                          </p:val>
                                        </p:tav>
                                      </p:tavLst>
                                    </p:anim>
                                    <p:anim calcmode="lin" valueType="num">
                                      <p:cBhvr additive="base">
                                        <p:cTn id="4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1000"/>
                                        <p:tgtEl>
                                          <p:spTgt spid="7"/>
                                        </p:tgtEl>
                                      </p:cBhvr>
                                    </p:animEffect>
                                    <p:anim calcmode="lin" valueType="num">
                                      <p:cBhvr>
                                        <p:cTn id="49" dur="1000" fill="hold"/>
                                        <p:tgtEl>
                                          <p:spTgt spid="7"/>
                                        </p:tgtEl>
                                        <p:attrNameLst>
                                          <p:attrName>ppt_x</p:attrName>
                                        </p:attrNameLst>
                                      </p:cBhvr>
                                      <p:tavLst>
                                        <p:tav tm="0">
                                          <p:val>
                                            <p:strVal val="#ppt_x"/>
                                          </p:val>
                                        </p:tav>
                                        <p:tav tm="100000">
                                          <p:val>
                                            <p:strVal val="#ppt_x"/>
                                          </p:val>
                                        </p:tav>
                                      </p:tavLst>
                                    </p:anim>
                                    <p:anim calcmode="lin" valueType="num">
                                      <p:cBhvr>
                                        <p:cTn id="5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FF40FD2-9937-7C7A-FA27-998652205457}"/>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ETL </a:t>
            </a:r>
            <a:r>
              <a:rPr lang="it-IT" b="1" dirty="0" err="1">
                <a:effectLst>
                  <a:outerShdw blurRad="38100" dist="38100" dir="2700000" algn="tl">
                    <a:srgbClr val="000000">
                      <a:alpha val="43137"/>
                    </a:srgbClr>
                  </a:outerShdw>
                </a:effectLst>
              </a:rPr>
              <a:t>Process</a:t>
            </a:r>
            <a:r>
              <a:rPr lang="it-IT" b="1" dirty="0">
                <a:effectLst>
                  <a:outerShdw blurRad="38100" dist="38100" dir="2700000" algn="tl">
                    <a:srgbClr val="000000">
                      <a:alpha val="43137"/>
                    </a:srgbClr>
                  </a:outerShdw>
                </a:effectLst>
              </a:rPr>
              <a:t> – </a:t>
            </a:r>
            <a:r>
              <a:rPr lang="it-IT" b="1" dirty="0" err="1">
                <a:effectLst>
                  <a:outerShdw blurRad="38100" dist="38100" dir="2700000" algn="tl">
                    <a:srgbClr val="000000">
                      <a:alpha val="43137"/>
                    </a:srgbClr>
                  </a:outerShdw>
                </a:effectLst>
              </a:rPr>
              <a:t>Final</a:t>
            </a:r>
            <a:r>
              <a:rPr lang="it-IT" b="1" dirty="0">
                <a:effectLst>
                  <a:outerShdw blurRad="38100" dist="38100" dir="2700000" algn="tl">
                    <a:srgbClr val="000000">
                      <a:alpha val="43137"/>
                    </a:srgbClr>
                  </a:outerShdw>
                </a:effectLst>
              </a:rPr>
              <a:t> </a:t>
            </a:r>
            <a:r>
              <a:rPr lang="it-IT" b="1" dirty="0" err="1">
                <a:effectLst>
                  <a:outerShdw blurRad="38100" dist="38100" dir="2700000" algn="tl">
                    <a:srgbClr val="000000">
                      <a:alpha val="43137"/>
                    </a:srgbClr>
                  </a:outerShdw>
                </a:effectLst>
              </a:rPr>
              <a:t>considerations</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12943C22-F52E-5C8A-4FB7-1BEFBC6B45E9}"/>
              </a:ext>
            </a:extLst>
          </p:cNvPr>
          <p:cNvSpPr>
            <a:spLocks noGrp="1"/>
          </p:cNvSpPr>
          <p:nvPr>
            <p:ph idx="1"/>
          </p:nvPr>
        </p:nvSpPr>
        <p:spPr>
          <a:xfrm>
            <a:off x="0" y="1089024"/>
            <a:ext cx="12192000" cy="4537075"/>
          </a:xfrm>
        </p:spPr>
        <p:txBody>
          <a:bodyPr>
            <a:normAutofit/>
          </a:bodyPr>
          <a:lstStyle/>
          <a:p>
            <a:r>
              <a:rPr lang="it-IT" sz="2000" dirty="0" err="1"/>
              <a:t>Now</a:t>
            </a:r>
            <a:r>
              <a:rPr lang="it-IT" sz="2000" dirty="0"/>
              <a:t> </a:t>
            </a:r>
            <a:r>
              <a:rPr lang="it-IT" sz="2000" dirty="0" err="1"/>
              <a:t>we</a:t>
            </a:r>
            <a:r>
              <a:rPr lang="it-IT" sz="2000" dirty="0"/>
              <a:t> </a:t>
            </a:r>
            <a:r>
              <a:rPr lang="it-IT" sz="2000" dirty="0" err="1"/>
              <a:t>have</a:t>
            </a:r>
            <a:r>
              <a:rPr lang="it-IT" sz="2000" dirty="0"/>
              <a:t> </a:t>
            </a:r>
            <a:r>
              <a:rPr lang="it-IT" sz="2000" dirty="0" err="1"/>
              <a:t>everything</a:t>
            </a:r>
            <a:r>
              <a:rPr lang="it-IT" sz="2000" dirty="0"/>
              <a:t> to make a DFM and load to </a:t>
            </a:r>
            <a:r>
              <a:rPr lang="it-IT" sz="2000" dirty="0" err="1"/>
              <a:t>PostgreSQL</a:t>
            </a:r>
            <a:r>
              <a:rPr lang="it-IT" sz="2000" dirty="0"/>
              <a:t>, in </a:t>
            </a:r>
            <a:r>
              <a:rPr lang="it-IT" sz="2000" dirty="0" err="1"/>
              <a:t>fact</a:t>
            </a:r>
            <a:r>
              <a:rPr lang="it-IT" sz="2000" dirty="0"/>
              <a:t> </a:t>
            </a:r>
            <a:r>
              <a:rPr lang="it-IT" sz="2000" dirty="0" err="1"/>
              <a:t>we</a:t>
            </a:r>
            <a:r>
              <a:rPr lang="it-IT" sz="2000" dirty="0"/>
              <a:t> </a:t>
            </a:r>
            <a:r>
              <a:rPr lang="it-IT" sz="2000" dirty="0" err="1"/>
              <a:t>have</a:t>
            </a:r>
            <a:r>
              <a:rPr lang="it-IT" sz="2000" dirty="0"/>
              <a:t> </a:t>
            </a:r>
            <a:r>
              <a:rPr lang="it-IT" sz="2000" dirty="0" err="1"/>
              <a:t>each</a:t>
            </a:r>
            <a:r>
              <a:rPr lang="it-IT" sz="2000" dirty="0"/>
              <a:t> file of </a:t>
            </a:r>
            <a:r>
              <a:rPr lang="it-IT" sz="2000" dirty="0" err="1"/>
              <a:t>either</a:t>
            </a:r>
            <a:r>
              <a:rPr lang="it-IT" sz="2000" dirty="0"/>
              <a:t> dataset 1 and dataset 2 with the </a:t>
            </a:r>
            <a:r>
              <a:rPr lang="it-IT" sz="2000" dirty="0" err="1"/>
              <a:t>same</a:t>
            </a:r>
            <a:r>
              <a:rPr lang="it-IT" sz="2000" dirty="0"/>
              <a:t> </a:t>
            </a:r>
            <a:r>
              <a:rPr lang="it-IT" sz="2000" b="1" dirty="0"/>
              <a:t>player-season </a:t>
            </a:r>
            <a:r>
              <a:rPr lang="it-IT" sz="2000" b="1" dirty="0" err="1"/>
              <a:t>pair</a:t>
            </a:r>
            <a:r>
              <a:rPr lang="it-IT" sz="2000" b="1" dirty="0"/>
              <a:t> </a:t>
            </a:r>
            <a:r>
              <a:rPr lang="it-IT" sz="2000" dirty="0"/>
              <a:t>and </a:t>
            </a:r>
            <a:r>
              <a:rPr lang="it-IT" sz="2000" dirty="0" err="1"/>
              <a:t>obviously</a:t>
            </a:r>
            <a:r>
              <a:rPr lang="it-IT" sz="2000" dirty="0"/>
              <a:t> </a:t>
            </a:r>
            <a:r>
              <a:rPr lang="it-IT" sz="2000" dirty="0" err="1"/>
              <a:t>different</a:t>
            </a:r>
            <a:r>
              <a:rPr lang="it-IT" sz="2000" dirty="0"/>
              <a:t> </a:t>
            </a:r>
            <a:r>
              <a:rPr lang="it-IT" sz="2000" dirty="0" err="1"/>
              <a:t>columns</a:t>
            </a:r>
            <a:r>
              <a:rPr lang="it-IT" sz="2000" dirty="0"/>
              <a:t>.</a:t>
            </a:r>
          </a:p>
        </p:txBody>
      </p:sp>
      <p:pic>
        <p:nvPicPr>
          <p:cNvPr id="5" name="Immagine 4" descr="Immagine che contiene testo, schermata, Carattere&#10;&#10;Il contenuto generato dall'IA potrebbe non essere corretto.">
            <a:extLst>
              <a:ext uri="{FF2B5EF4-FFF2-40B4-BE49-F238E27FC236}">
                <a16:creationId xmlns:a16="http://schemas.microsoft.com/office/drawing/2014/main" id="{25C5BBE7-2ABF-83C2-98D6-E604B95AC1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76" y="3140108"/>
            <a:ext cx="3775123" cy="2098640"/>
          </a:xfrm>
          <a:prstGeom prst="rect">
            <a:avLst/>
          </a:prstGeom>
        </p:spPr>
      </p:pic>
      <p:cxnSp>
        <p:nvCxnSpPr>
          <p:cNvPr id="7" name="Connettore 2 6">
            <a:extLst>
              <a:ext uri="{FF2B5EF4-FFF2-40B4-BE49-F238E27FC236}">
                <a16:creationId xmlns:a16="http://schemas.microsoft.com/office/drawing/2014/main" id="{B0A5FCB5-9D4C-7B14-5A64-75DE76331E7E}"/>
              </a:ext>
            </a:extLst>
          </p:cNvPr>
          <p:cNvCxnSpPr>
            <a:cxnSpLocks/>
          </p:cNvCxnSpPr>
          <p:nvPr/>
        </p:nvCxnSpPr>
        <p:spPr>
          <a:xfrm>
            <a:off x="4239999" y="4141943"/>
            <a:ext cx="171184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9" name="Immagine 8" descr="Immagine che contiene testo, schermata, Carattere&#10;&#10;Il contenuto generato dall'IA potrebbe non essere corretto.">
            <a:extLst>
              <a:ext uri="{FF2B5EF4-FFF2-40B4-BE49-F238E27FC236}">
                <a16:creationId xmlns:a16="http://schemas.microsoft.com/office/drawing/2014/main" id="{5AD2D1AA-43E7-664A-BE42-514090EA73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1847" y="3140108"/>
            <a:ext cx="5211454" cy="2098635"/>
          </a:xfrm>
          <a:prstGeom prst="rect">
            <a:avLst/>
          </a:prstGeom>
        </p:spPr>
      </p:pic>
    </p:spTree>
    <p:extLst>
      <p:ext uri="{BB962C8B-B14F-4D97-AF65-F5344CB8AC3E}">
        <p14:creationId xmlns:p14="http://schemas.microsoft.com/office/powerpoint/2010/main" val="323817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anim calcmode="lin" valueType="num">
                                      <p:cBhvr>
                                        <p:cTn id="19" dur="1000" fill="hold"/>
                                        <p:tgtEl>
                                          <p:spTgt spid="5"/>
                                        </p:tgtEl>
                                        <p:attrNameLst>
                                          <p:attrName>ppt_x</p:attrName>
                                        </p:attrNameLst>
                                      </p:cBhvr>
                                      <p:tavLst>
                                        <p:tav tm="0">
                                          <p:val>
                                            <p:strVal val="#ppt_x"/>
                                          </p:val>
                                        </p:tav>
                                        <p:tav tm="100000">
                                          <p:val>
                                            <p:strVal val="#ppt_x"/>
                                          </p:val>
                                        </p:tav>
                                      </p:tavLst>
                                    </p:anim>
                                    <p:anim calcmode="lin" valueType="num">
                                      <p:cBhvr>
                                        <p:cTn id="20"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ppt_x</p:attrName>
                                        </p:attrNameLst>
                                      </p:cBhvr>
                                      <p:tavLst>
                                        <p:tav tm="0">
                                          <p:val>
                                            <p:strVal val="#ppt_x"/>
                                          </p:val>
                                        </p:tav>
                                        <p:tav tm="100000">
                                          <p:val>
                                            <p:strVal val="#ppt_x"/>
                                          </p:val>
                                        </p:tav>
                                      </p:tavLst>
                                    </p:anim>
                                    <p:anim calcmode="lin" valueType="num">
                                      <p:cBhvr>
                                        <p:cTn id="27"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anim calcmode="lin" valueType="num">
                                      <p:cBhvr>
                                        <p:cTn id="33" dur="1000" fill="hold"/>
                                        <p:tgtEl>
                                          <p:spTgt spid="9"/>
                                        </p:tgtEl>
                                        <p:attrNameLst>
                                          <p:attrName>ppt_x</p:attrName>
                                        </p:attrNameLst>
                                      </p:cBhvr>
                                      <p:tavLst>
                                        <p:tav tm="0">
                                          <p:val>
                                            <p:strVal val="#ppt_x"/>
                                          </p:val>
                                        </p:tav>
                                        <p:tav tm="100000">
                                          <p:val>
                                            <p:strVal val="#ppt_x"/>
                                          </p:val>
                                        </p:tav>
                                      </p:tavLst>
                                    </p:anim>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AE71751-2B85-9A9F-B36E-C5EAF75F28F9}"/>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DFM Schema</a:t>
            </a:r>
          </a:p>
        </p:txBody>
      </p:sp>
      <p:pic>
        <p:nvPicPr>
          <p:cNvPr id="5" name="Segnaposto contenuto 4" descr="Immagine che contiene testo, diagramma, schermata, bianco e nero&#10;&#10;Il contenuto generato dall'IA potrebbe non essere corretto.">
            <a:extLst>
              <a:ext uri="{FF2B5EF4-FFF2-40B4-BE49-F238E27FC236}">
                <a16:creationId xmlns:a16="http://schemas.microsoft.com/office/drawing/2014/main" id="{6D9493CA-FF2E-D228-1C95-4AD5E178643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5014" y="1137551"/>
            <a:ext cx="7233167" cy="5418746"/>
          </a:xfrm>
        </p:spPr>
      </p:pic>
    </p:spTree>
    <p:extLst>
      <p:ext uri="{BB962C8B-B14F-4D97-AF65-F5344CB8AC3E}">
        <p14:creationId xmlns:p14="http://schemas.microsoft.com/office/powerpoint/2010/main" val="3161981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C78EC61-692C-12F6-CD8C-00A2344FE9C7}"/>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PostgreSQL</a:t>
            </a:r>
            <a:r>
              <a:rPr lang="it-IT" b="1" dirty="0">
                <a:effectLst>
                  <a:outerShdw blurRad="38100" dist="38100" dir="2700000" algn="tl">
                    <a:srgbClr val="000000">
                      <a:alpha val="43137"/>
                    </a:srgbClr>
                  </a:outerShdw>
                </a:effectLst>
              </a:rPr>
              <a:t> and Star Schema</a:t>
            </a:r>
          </a:p>
        </p:txBody>
      </p:sp>
      <p:pic>
        <p:nvPicPr>
          <p:cNvPr id="9" name="Segnaposto contenuto 8" descr="Immagine che contiene testo, schermata, numero, Parallelo&#10;&#10;Il contenuto generato dall'IA potrebbe non essere corretto.">
            <a:extLst>
              <a:ext uri="{FF2B5EF4-FFF2-40B4-BE49-F238E27FC236}">
                <a16:creationId xmlns:a16="http://schemas.microsoft.com/office/drawing/2014/main" id="{71C89C4B-EDA6-CF19-CA28-5531110AA1B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2515" y="1132278"/>
            <a:ext cx="7131034" cy="5548301"/>
          </a:xfrm>
        </p:spPr>
      </p:pic>
      <p:sp>
        <p:nvSpPr>
          <p:cNvPr id="10" name="CasellaDiTesto 9">
            <a:extLst>
              <a:ext uri="{FF2B5EF4-FFF2-40B4-BE49-F238E27FC236}">
                <a16:creationId xmlns:a16="http://schemas.microsoft.com/office/drawing/2014/main" id="{FF3645F3-DA41-7D51-19E8-38182CC015AE}"/>
              </a:ext>
            </a:extLst>
          </p:cNvPr>
          <p:cNvSpPr txBox="1"/>
          <p:nvPr/>
        </p:nvSpPr>
        <p:spPr>
          <a:xfrm>
            <a:off x="7486176" y="3005635"/>
            <a:ext cx="4513480" cy="954107"/>
          </a:xfrm>
          <a:prstGeom prst="rect">
            <a:avLst/>
          </a:prstGeom>
          <a:noFill/>
        </p:spPr>
        <p:txBody>
          <a:bodyPr wrap="none" rtlCol="0">
            <a:spAutoFit/>
          </a:bodyPr>
          <a:lstStyle/>
          <a:p>
            <a:r>
              <a:rPr lang="en-US" sz="1400" dirty="0"/>
              <a:t>• Built on a central fact table: </a:t>
            </a:r>
            <a:r>
              <a:rPr lang="en-US" sz="1400" dirty="0" err="1"/>
              <a:t>fact_player</a:t>
            </a:r>
            <a:endParaRPr lang="en-US" sz="1400" dirty="0"/>
          </a:p>
          <a:p>
            <a:r>
              <a:rPr lang="en-US" sz="1400" dirty="0"/>
              <a:t>• Connected to 4 dimensions:</a:t>
            </a:r>
          </a:p>
          <a:p>
            <a:r>
              <a:rPr lang="en-US" sz="1400" dirty="0"/>
              <a:t>   – </a:t>
            </a:r>
            <a:r>
              <a:rPr lang="en-US" sz="1400" dirty="0" err="1"/>
              <a:t>dim_player</a:t>
            </a:r>
            <a:r>
              <a:rPr lang="en-US" sz="1400" dirty="0"/>
              <a:t>, </a:t>
            </a:r>
            <a:r>
              <a:rPr lang="en-US" sz="1400" dirty="0" err="1"/>
              <a:t>dim_season</a:t>
            </a:r>
            <a:r>
              <a:rPr lang="en-US" sz="1400" dirty="0"/>
              <a:t>, </a:t>
            </a:r>
            <a:r>
              <a:rPr lang="en-US" sz="1400" dirty="0" err="1"/>
              <a:t>dim_club</a:t>
            </a:r>
            <a:r>
              <a:rPr lang="en-US" sz="1400" dirty="0"/>
              <a:t>, </a:t>
            </a:r>
            <a:r>
              <a:rPr lang="en-US" sz="1400" dirty="0" err="1"/>
              <a:t>dim_competition</a:t>
            </a:r>
            <a:endParaRPr lang="en-US" sz="1400" dirty="0"/>
          </a:p>
          <a:p>
            <a:r>
              <a:rPr lang="en-US" sz="1400" dirty="0"/>
              <a:t>• Foreign keys enforce relational integrity</a:t>
            </a:r>
            <a:endParaRPr lang="it-IT" sz="1400" dirty="0"/>
          </a:p>
        </p:txBody>
      </p:sp>
    </p:spTree>
    <p:extLst>
      <p:ext uri="{BB962C8B-B14F-4D97-AF65-F5344CB8AC3E}">
        <p14:creationId xmlns:p14="http://schemas.microsoft.com/office/powerpoint/2010/main" val="20371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down)">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18575D7-5774-B9E9-7FC4-27063847C8A5}"/>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Population</a:t>
            </a:r>
            <a:r>
              <a:rPr lang="it-IT" b="1" dirty="0">
                <a:effectLst>
                  <a:outerShdw blurRad="38100" dist="38100" dir="2700000" algn="tl">
                    <a:srgbClr val="000000">
                      <a:alpha val="43137"/>
                    </a:srgbClr>
                  </a:outerShdw>
                </a:effectLst>
              </a:rPr>
              <a:t> of the database</a:t>
            </a:r>
          </a:p>
        </p:txBody>
      </p:sp>
      <p:graphicFrame>
        <p:nvGraphicFramePr>
          <p:cNvPr id="4" name="Segnaposto contenuto 3">
            <a:extLst>
              <a:ext uri="{FF2B5EF4-FFF2-40B4-BE49-F238E27FC236}">
                <a16:creationId xmlns:a16="http://schemas.microsoft.com/office/drawing/2014/main" id="{B490C41A-08E1-AC73-9D3E-4633300745A7}"/>
              </a:ext>
            </a:extLst>
          </p:cNvPr>
          <p:cNvGraphicFramePr>
            <a:graphicFrameLocks noGrp="1"/>
          </p:cNvGraphicFramePr>
          <p:nvPr>
            <p:ph idx="1"/>
            <p:extLst>
              <p:ext uri="{D42A27DB-BD31-4B8C-83A1-F6EECF244321}">
                <p14:modId xmlns:p14="http://schemas.microsoft.com/office/powerpoint/2010/main" val="337723334"/>
              </p:ext>
            </p:extLst>
          </p:nvPr>
        </p:nvGraphicFramePr>
        <p:xfrm>
          <a:off x="2098675" y="1144587"/>
          <a:ext cx="7994650" cy="14255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CasellaDiTesto 6">
            <a:extLst>
              <a:ext uri="{FF2B5EF4-FFF2-40B4-BE49-F238E27FC236}">
                <a16:creationId xmlns:a16="http://schemas.microsoft.com/office/drawing/2014/main" id="{2E959F83-9801-D27A-01A7-AE8BBB695BCF}"/>
              </a:ext>
            </a:extLst>
          </p:cNvPr>
          <p:cNvSpPr txBox="1"/>
          <p:nvPr/>
        </p:nvSpPr>
        <p:spPr>
          <a:xfrm>
            <a:off x="0" y="2769969"/>
            <a:ext cx="11994107" cy="1046440"/>
          </a:xfrm>
          <a:prstGeom prst="rect">
            <a:avLst/>
          </a:prstGeom>
          <a:noFill/>
        </p:spPr>
        <p:txBody>
          <a:bodyPr wrap="square" rtlCol="0">
            <a:spAutoFit/>
          </a:bodyPr>
          <a:lstStyle/>
          <a:p>
            <a:r>
              <a:rPr lang="it-IT" dirty="0"/>
              <a:t>CSV </a:t>
            </a:r>
            <a:r>
              <a:rPr lang="it-IT" dirty="0">
                <a:sym typeface="Wingdings" panose="05000000000000000000" pitchFamily="2" charset="2"/>
              </a:rPr>
              <a:t> STAGING TABLES : </a:t>
            </a:r>
            <a:r>
              <a:rPr lang="it-IT" sz="1400" b="1" dirty="0">
                <a:sym typeface="Wingdings" panose="05000000000000000000" pitchFamily="2" charset="2"/>
              </a:rPr>
              <a:t>COPY COMMAND </a:t>
            </a:r>
          </a:p>
          <a:p>
            <a:r>
              <a:rPr lang="it-IT" sz="1400" b="1" dirty="0" err="1">
                <a:sym typeface="Wingdings" panose="05000000000000000000" pitchFamily="2" charset="2"/>
              </a:rPr>
              <a:t>Example</a:t>
            </a:r>
            <a:r>
              <a:rPr lang="it-IT" sz="1400" b="1" dirty="0">
                <a:sym typeface="Wingdings" panose="05000000000000000000" pitchFamily="2" charset="2"/>
              </a:rPr>
              <a:t>:</a:t>
            </a:r>
          </a:p>
          <a:p>
            <a:r>
              <a:rPr lang="it-IT" sz="1200" dirty="0"/>
              <a:t>\copy </a:t>
            </a:r>
            <a:r>
              <a:rPr lang="it-IT" sz="1200" dirty="0" err="1"/>
              <a:t>staging.stg_players</a:t>
            </a:r>
            <a:r>
              <a:rPr lang="it-IT" sz="1200" dirty="0"/>
              <a:t> FROM 'C:/Users/matti/Desktop/Data-</a:t>
            </a:r>
            <a:r>
              <a:rPr lang="it-IT" sz="1200" dirty="0" err="1"/>
              <a:t>Warehouse</a:t>
            </a:r>
            <a:r>
              <a:rPr lang="it-IT" sz="1200" dirty="0"/>
              <a:t>-on-football-data/data/global_selected_8000/selected_players.csv' DELIMITER ',' CSV HEADER;</a:t>
            </a:r>
          </a:p>
          <a:p>
            <a:pPr marL="342900" indent="-342900">
              <a:buFont typeface="+mj-lt"/>
              <a:buAutoNum type="arabicPeriod"/>
            </a:pPr>
            <a:endParaRPr lang="it-IT" dirty="0"/>
          </a:p>
        </p:txBody>
      </p:sp>
      <p:sp>
        <p:nvSpPr>
          <p:cNvPr id="3" name="CasellaDiTesto 2">
            <a:extLst>
              <a:ext uri="{FF2B5EF4-FFF2-40B4-BE49-F238E27FC236}">
                <a16:creationId xmlns:a16="http://schemas.microsoft.com/office/drawing/2014/main" id="{2EBA0111-C77E-24CF-AE3E-D91C271A54C1}"/>
              </a:ext>
            </a:extLst>
          </p:cNvPr>
          <p:cNvSpPr txBox="1"/>
          <p:nvPr/>
        </p:nvSpPr>
        <p:spPr>
          <a:xfrm>
            <a:off x="-44450" y="3616354"/>
            <a:ext cx="11911557" cy="369332"/>
          </a:xfrm>
          <a:prstGeom prst="rect">
            <a:avLst/>
          </a:prstGeom>
          <a:noFill/>
        </p:spPr>
        <p:txBody>
          <a:bodyPr wrap="square" rtlCol="0">
            <a:spAutoFit/>
          </a:bodyPr>
          <a:lstStyle/>
          <a:p>
            <a:pPr marL="342900" indent="-342900">
              <a:buFont typeface="+mj-lt"/>
              <a:buAutoNum type="arabicPeriod"/>
            </a:pPr>
            <a:endParaRPr lang="it-IT" dirty="0"/>
          </a:p>
        </p:txBody>
      </p:sp>
      <p:sp>
        <p:nvSpPr>
          <p:cNvPr id="5" name="CasellaDiTesto 4">
            <a:extLst>
              <a:ext uri="{FF2B5EF4-FFF2-40B4-BE49-F238E27FC236}">
                <a16:creationId xmlns:a16="http://schemas.microsoft.com/office/drawing/2014/main" id="{E16C966D-E076-827E-04D3-030F8CE758F5}"/>
              </a:ext>
            </a:extLst>
          </p:cNvPr>
          <p:cNvSpPr txBox="1"/>
          <p:nvPr/>
        </p:nvSpPr>
        <p:spPr>
          <a:xfrm>
            <a:off x="-19457" y="3676041"/>
            <a:ext cx="6115457" cy="584775"/>
          </a:xfrm>
          <a:prstGeom prst="rect">
            <a:avLst/>
          </a:prstGeom>
          <a:noFill/>
        </p:spPr>
        <p:txBody>
          <a:bodyPr wrap="none" rtlCol="0">
            <a:spAutoFit/>
          </a:bodyPr>
          <a:lstStyle/>
          <a:p>
            <a:r>
              <a:rPr lang="it-IT" dirty="0"/>
              <a:t>STAGING TABLES </a:t>
            </a:r>
            <a:r>
              <a:rPr lang="it-IT" dirty="0">
                <a:sym typeface="Wingdings" panose="05000000000000000000" pitchFamily="2" charset="2"/>
              </a:rPr>
              <a:t> STAR SCHEMA TABLES: </a:t>
            </a:r>
            <a:r>
              <a:rPr lang="it-IT" sz="1400" b="1" dirty="0">
                <a:sym typeface="Wingdings" panose="05000000000000000000" pitchFamily="2" charset="2"/>
              </a:rPr>
              <a:t>INSERT COMMAND</a:t>
            </a:r>
          </a:p>
          <a:p>
            <a:r>
              <a:rPr lang="it-IT" sz="1400" b="1" dirty="0" err="1">
                <a:sym typeface="Wingdings" panose="05000000000000000000" pitchFamily="2" charset="2"/>
              </a:rPr>
              <a:t>Example</a:t>
            </a:r>
            <a:r>
              <a:rPr lang="it-IT" sz="1400" b="1" dirty="0">
                <a:sym typeface="Wingdings" panose="05000000000000000000" pitchFamily="2" charset="2"/>
              </a:rPr>
              <a:t>:</a:t>
            </a:r>
            <a:endParaRPr lang="it-IT" b="1" dirty="0"/>
          </a:p>
        </p:txBody>
      </p:sp>
      <p:pic>
        <p:nvPicPr>
          <p:cNvPr id="8" name="Immagine 7" descr="Immagine che contiene testo, Carattere, linea, schermata&#10;&#10;Il contenuto generato dall'IA potrebbe non essere corretto.">
            <a:extLst>
              <a:ext uri="{FF2B5EF4-FFF2-40B4-BE49-F238E27FC236}">
                <a16:creationId xmlns:a16="http://schemas.microsoft.com/office/drawing/2014/main" id="{F52AA7EB-9939-6552-61D0-599EC4D7EB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4278073"/>
            <a:ext cx="4451741" cy="492114"/>
          </a:xfrm>
          <a:prstGeom prst="rect">
            <a:avLst/>
          </a:prstGeom>
        </p:spPr>
      </p:pic>
      <p:pic>
        <p:nvPicPr>
          <p:cNvPr id="11" name="Immagine 10" descr="Immagine che contiene testo, schermata, Carattere&#10;&#10;Il contenuto generato dall'IA potrebbe non essere corretto.">
            <a:extLst>
              <a:ext uri="{FF2B5EF4-FFF2-40B4-BE49-F238E27FC236}">
                <a16:creationId xmlns:a16="http://schemas.microsoft.com/office/drawing/2014/main" id="{BF671DB6-1751-BE29-F2D7-035A04B6BA4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572250" y="3816409"/>
            <a:ext cx="4870450" cy="1759608"/>
          </a:xfrm>
          <a:prstGeom prst="rect">
            <a:avLst/>
          </a:prstGeom>
        </p:spPr>
      </p:pic>
      <p:cxnSp>
        <p:nvCxnSpPr>
          <p:cNvPr id="15" name="Connettore 2 14">
            <a:extLst>
              <a:ext uri="{FF2B5EF4-FFF2-40B4-BE49-F238E27FC236}">
                <a16:creationId xmlns:a16="http://schemas.microsoft.com/office/drawing/2014/main" id="{AF5355F2-3D38-06A3-42A9-1816E51B62CC}"/>
              </a:ext>
            </a:extLst>
          </p:cNvPr>
          <p:cNvCxnSpPr/>
          <p:nvPr/>
        </p:nvCxnSpPr>
        <p:spPr>
          <a:xfrm flipH="1">
            <a:off x="5861050" y="4819650"/>
            <a:ext cx="622300" cy="9207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CasellaDiTesto 15">
            <a:extLst>
              <a:ext uri="{FF2B5EF4-FFF2-40B4-BE49-F238E27FC236}">
                <a16:creationId xmlns:a16="http://schemas.microsoft.com/office/drawing/2014/main" id="{F8BCCDD6-27A9-C5D8-7F5B-8CCE1F67BD2E}"/>
              </a:ext>
            </a:extLst>
          </p:cNvPr>
          <p:cNvSpPr txBox="1"/>
          <p:nvPr/>
        </p:nvSpPr>
        <p:spPr>
          <a:xfrm>
            <a:off x="57150" y="5371068"/>
            <a:ext cx="5473700" cy="369332"/>
          </a:xfrm>
          <a:prstGeom prst="rect">
            <a:avLst/>
          </a:prstGeom>
          <a:noFill/>
        </p:spPr>
        <p:txBody>
          <a:bodyPr wrap="square" rtlCol="0">
            <a:spAutoFit/>
          </a:bodyPr>
          <a:lstStyle/>
          <a:p>
            <a:r>
              <a:rPr lang="en-US" dirty="0">
                <a:effectLst>
                  <a:outerShdw blurRad="38100" dist="38100" dir="2700000" algn="tl">
                    <a:srgbClr val="000000">
                      <a:alpha val="43137"/>
                    </a:srgbClr>
                  </a:outerShdw>
                </a:effectLst>
              </a:rPr>
              <a:t>Sample Player-Season Records Across Dimensions</a:t>
            </a:r>
            <a:endParaRPr lang="it-IT" dirty="0">
              <a:effectLst>
                <a:outerShdw blurRad="38100" dist="38100" dir="2700000" algn="tl">
                  <a:srgbClr val="000000">
                    <a:alpha val="43137"/>
                  </a:srgbClr>
                </a:outerShdw>
              </a:effectLst>
            </a:endParaRPr>
          </a:p>
        </p:txBody>
      </p:sp>
      <p:pic>
        <p:nvPicPr>
          <p:cNvPr id="9" name="Immagine 8">
            <a:extLst>
              <a:ext uri="{FF2B5EF4-FFF2-40B4-BE49-F238E27FC236}">
                <a16:creationId xmlns:a16="http://schemas.microsoft.com/office/drawing/2014/main" id="{6845C4DF-4105-1DC2-5050-C6834C846C9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1600" y="5932487"/>
            <a:ext cx="6426200" cy="721536"/>
          </a:xfrm>
          <a:prstGeom prst="rect">
            <a:avLst/>
          </a:prstGeom>
        </p:spPr>
      </p:pic>
    </p:spTree>
    <p:extLst>
      <p:ext uri="{BB962C8B-B14F-4D97-AF65-F5344CB8AC3E}">
        <p14:creationId xmlns:p14="http://schemas.microsoft.com/office/powerpoint/2010/main" val="2242018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ppt_x"/>
                                          </p:val>
                                        </p:tav>
                                        <p:tav tm="100000">
                                          <p:val>
                                            <p:strVal val="#ppt_x"/>
                                          </p:val>
                                        </p:tav>
                                      </p:tavLst>
                                    </p:anim>
                                    <p:anim calcmode="lin" valueType="num">
                                      <p:cBhvr additive="base">
                                        <p:cTn id="1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500" fill="hold"/>
                                        <p:tgtEl>
                                          <p:spTgt spid="5"/>
                                        </p:tgtEl>
                                        <p:attrNameLst>
                                          <p:attrName>ppt_x</p:attrName>
                                        </p:attrNameLst>
                                      </p:cBhvr>
                                      <p:tavLst>
                                        <p:tav tm="0">
                                          <p:val>
                                            <p:strVal val="#ppt_x"/>
                                          </p:val>
                                        </p:tav>
                                        <p:tav tm="100000">
                                          <p:val>
                                            <p:strVal val="#ppt_x"/>
                                          </p:val>
                                        </p:tav>
                                      </p:tavLst>
                                    </p:anim>
                                    <p:anim calcmode="lin" valueType="num">
                                      <p:cBhvr additive="base">
                                        <p:cTn id="2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1000"/>
                                        <p:tgtEl>
                                          <p:spTgt spid="8"/>
                                        </p:tgtEl>
                                      </p:cBhvr>
                                    </p:animEffect>
                                    <p:anim calcmode="lin" valueType="num">
                                      <p:cBhvr>
                                        <p:cTn id="30" dur="1000" fill="hold"/>
                                        <p:tgtEl>
                                          <p:spTgt spid="8"/>
                                        </p:tgtEl>
                                        <p:attrNameLst>
                                          <p:attrName>ppt_x</p:attrName>
                                        </p:attrNameLst>
                                      </p:cBhvr>
                                      <p:tavLst>
                                        <p:tav tm="0">
                                          <p:val>
                                            <p:strVal val="#ppt_x"/>
                                          </p:val>
                                        </p:tav>
                                        <p:tav tm="100000">
                                          <p:val>
                                            <p:strVal val="#ppt_x"/>
                                          </p:val>
                                        </p:tav>
                                      </p:tavLst>
                                    </p:anim>
                                    <p:anim calcmode="lin" valueType="num">
                                      <p:cBhvr>
                                        <p:cTn id="3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anim calcmode="lin" valueType="num">
                                      <p:cBhvr>
                                        <p:cTn id="37" dur="1000" fill="hold"/>
                                        <p:tgtEl>
                                          <p:spTgt spid="11"/>
                                        </p:tgtEl>
                                        <p:attrNameLst>
                                          <p:attrName>ppt_x</p:attrName>
                                        </p:attrNameLst>
                                      </p:cBhvr>
                                      <p:tavLst>
                                        <p:tav tm="0">
                                          <p:val>
                                            <p:strVal val="#ppt_x"/>
                                          </p:val>
                                        </p:tav>
                                        <p:tav tm="100000">
                                          <p:val>
                                            <p:strVal val="#ppt_x"/>
                                          </p:val>
                                        </p:tav>
                                      </p:tavLst>
                                    </p:anim>
                                    <p:anim calcmode="lin" valueType="num">
                                      <p:cBhvr>
                                        <p:cTn id="38"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4" presetClass="entr" presetSubtype="10" fill="hold" nodeType="click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randombar(horizontal)">
                                      <p:cBhvr>
                                        <p:cTn id="43" dur="500"/>
                                        <p:tgtEl>
                                          <p:spTgt spid="15"/>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1000"/>
                                        <p:tgtEl>
                                          <p:spTgt spid="9"/>
                                        </p:tgtEl>
                                      </p:cBhvr>
                                    </p:animEffect>
                                    <p:anim calcmode="lin" valueType="num">
                                      <p:cBhvr>
                                        <p:cTn id="49" dur="1000" fill="hold"/>
                                        <p:tgtEl>
                                          <p:spTgt spid="9"/>
                                        </p:tgtEl>
                                        <p:attrNameLst>
                                          <p:attrName>ppt_x</p:attrName>
                                        </p:attrNameLst>
                                      </p:cBhvr>
                                      <p:tavLst>
                                        <p:tav tm="0">
                                          <p:val>
                                            <p:strVal val="#ppt_x"/>
                                          </p:val>
                                        </p:tav>
                                        <p:tav tm="100000">
                                          <p:val>
                                            <p:strVal val="#ppt_x"/>
                                          </p:val>
                                        </p:tav>
                                      </p:tavLst>
                                    </p:anim>
                                    <p:anim calcmode="lin" valueType="num">
                                      <p:cBhvr>
                                        <p:cTn id="5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4" grpId="0">
        <p:bldAsOne/>
      </p:bldGraphic>
      <p:bldP spid="7" grpId="0"/>
      <p:bldP spid="5" grpId="0"/>
      <p:bldP spid="1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1C0DD-AFB2-168E-2FFC-DDE478C8A04C}"/>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SQL VIEWS USED FOR THE ANALYSIS</a:t>
            </a:r>
          </a:p>
        </p:txBody>
      </p:sp>
      <p:sp>
        <p:nvSpPr>
          <p:cNvPr id="3" name="Segnaposto contenuto 2">
            <a:extLst>
              <a:ext uri="{FF2B5EF4-FFF2-40B4-BE49-F238E27FC236}">
                <a16:creationId xmlns:a16="http://schemas.microsoft.com/office/drawing/2014/main" id="{3D7AD1CF-FB67-539D-1E4C-5462BEE1BC32}"/>
              </a:ext>
            </a:extLst>
          </p:cNvPr>
          <p:cNvSpPr>
            <a:spLocks noGrp="1"/>
          </p:cNvSpPr>
          <p:nvPr>
            <p:ph idx="1"/>
          </p:nvPr>
        </p:nvSpPr>
        <p:spPr>
          <a:xfrm>
            <a:off x="0" y="1301926"/>
            <a:ext cx="8121552" cy="1162486"/>
          </a:xfrm>
        </p:spPr>
        <p:txBody>
          <a:bodyPr>
            <a:normAutofit/>
          </a:bodyPr>
          <a:lstStyle/>
          <a:p>
            <a:r>
              <a:rPr lang="en-US" sz="1800" dirty="0"/>
              <a:t> Each analysis relies on a dedicated SQL view built on the star schema.</a:t>
            </a:r>
          </a:p>
          <a:p>
            <a:r>
              <a:rPr lang="en-US" sz="1800" dirty="0"/>
              <a:t> Views encapsulate role-based filters, joined metrics, and precomputed fields.</a:t>
            </a:r>
          </a:p>
          <a:p>
            <a:r>
              <a:rPr lang="en-US" sz="1800" dirty="0"/>
              <a:t> They ensure consistency, reusability, and clean integration with Python.</a:t>
            </a:r>
          </a:p>
          <a:p>
            <a:endParaRPr lang="it-IT" dirty="0"/>
          </a:p>
        </p:txBody>
      </p:sp>
      <p:sp>
        <p:nvSpPr>
          <p:cNvPr id="4" name="CasellaDiTesto 3">
            <a:extLst>
              <a:ext uri="{FF2B5EF4-FFF2-40B4-BE49-F238E27FC236}">
                <a16:creationId xmlns:a16="http://schemas.microsoft.com/office/drawing/2014/main" id="{13980157-335C-5627-7974-B3CF0050BFB0}"/>
              </a:ext>
            </a:extLst>
          </p:cNvPr>
          <p:cNvSpPr txBox="1"/>
          <p:nvPr/>
        </p:nvSpPr>
        <p:spPr>
          <a:xfrm>
            <a:off x="0" y="2891852"/>
            <a:ext cx="12192000" cy="646331"/>
          </a:xfrm>
          <a:prstGeom prst="rect">
            <a:avLst/>
          </a:prstGeom>
          <a:noFill/>
        </p:spPr>
        <p:txBody>
          <a:bodyPr wrap="square" rtlCol="0">
            <a:spAutoFit/>
          </a:bodyPr>
          <a:lstStyle/>
          <a:p>
            <a:r>
              <a:rPr lang="it-IT" dirty="0" err="1"/>
              <a:t>Obviously</a:t>
            </a:r>
            <a:r>
              <a:rPr lang="it-IT" dirty="0"/>
              <a:t>, first of </a:t>
            </a:r>
            <a:r>
              <a:rPr lang="it-IT" dirty="0" err="1"/>
              <a:t>all</a:t>
            </a:r>
            <a:r>
              <a:rPr lang="it-IT" dirty="0"/>
              <a:t> </a:t>
            </a:r>
            <a:r>
              <a:rPr lang="it-IT" dirty="0" err="1"/>
              <a:t>we</a:t>
            </a:r>
            <a:r>
              <a:rPr lang="it-IT" dirty="0"/>
              <a:t> </a:t>
            </a:r>
            <a:r>
              <a:rPr lang="it-IT" dirty="0" err="1"/>
              <a:t>have</a:t>
            </a:r>
            <a:r>
              <a:rPr lang="it-IT" dirty="0"/>
              <a:t> to </a:t>
            </a:r>
            <a:r>
              <a:rPr lang="it-IT" dirty="0" err="1"/>
              <a:t>connect</a:t>
            </a:r>
            <a:r>
              <a:rPr lang="it-IT" dirty="0"/>
              <a:t> the database and Python. </a:t>
            </a:r>
            <a:r>
              <a:rPr lang="en-US" dirty="0"/>
              <a:t>All SQL views were queried directly from Python using </a:t>
            </a:r>
            <a:r>
              <a:rPr lang="en-US" b="1" dirty="0" err="1"/>
              <a:t>SQLAlchemy</a:t>
            </a:r>
            <a:r>
              <a:rPr lang="en-US" dirty="0"/>
              <a:t> as the database engine and </a:t>
            </a:r>
            <a:r>
              <a:rPr lang="en-US" b="1" dirty="0"/>
              <a:t>pandas</a:t>
            </a:r>
            <a:r>
              <a:rPr lang="en-US" dirty="0"/>
              <a:t> for data manipulation</a:t>
            </a:r>
            <a:endParaRPr lang="it-IT" dirty="0"/>
          </a:p>
        </p:txBody>
      </p:sp>
      <p:pic>
        <p:nvPicPr>
          <p:cNvPr id="8" name="Immagine 7" descr="Immagine che contiene testo, schermata, Carattere&#10;&#10;Il contenuto generato dall'IA potrebbe non essere corretto.">
            <a:extLst>
              <a:ext uri="{FF2B5EF4-FFF2-40B4-BE49-F238E27FC236}">
                <a16:creationId xmlns:a16="http://schemas.microsoft.com/office/drawing/2014/main" id="{BD59136E-D97D-EB68-8ED9-7638A29126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69202" y="1343818"/>
            <a:ext cx="3771998" cy="1372386"/>
          </a:xfrm>
          <a:prstGeom prst="rect">
            <a:avLst/>
          </a:prstGeom>
        </p:spPr>
      </p:pic>
      <p:pic>
        <p:nvPicPr>
          <p:cNvPr id="6" name="Immagine 5" descr="Immagine che contiene testo, schermata, Carattere, documento&#10;&#10;Il contenuto generato dall'IA potrebbe non essere corretto.">
            <a:extLst>
              <a:ext uri="{FF2B5EF4-FFF2-40B4-BE49-F238E27FC236}">
                <a16:creationId xmlns:a16="http://schemas.microsoft.com/office/drawing/2014/main" id="{D8ADB3F6-E9EA-1CAC-0EBF-62F7861049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902" y="3652063"/>
            <a:ext cx="4540347" cy="1919403"/>
          </a:xfrm>
          <a:prstGeom prst="rect">
            <a:avLst/>
          </a:prstGeom>
        </p:spPr>
      </p:pic>
      <p:cxnSp>
        <p:nvCxnSpPr>
          <p:cNvPr id="9" name="Connettore 2 8">
            <a:extLst>
              <a:ext uri="{FF2B5EF4-FFF2-40B4-BE49-F238E27FC236}">
                <a16:creationId xmlns:a16="http://schemas.microsoft.com/office/drawing/2014/main" id="{02229ACE-916B-0E47-6898-01532070D4D0}"/>
              </a:ext>
            </a:extLst>
          </p:cNvPr>
          <p:cNvCxnSpPr>
            <a:cxnSpLocks/>
          </p:cNvCxnSpPr>
          <p:nvPr/>
        </p:nvCxnSpPr>
        <p:spPr>
          <a:xfrm>
            <a:off x="4845050" y="5010150"/>
            <a:ext cx="939800" cy="5459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1" name="Immagine 10">
            <a:extLst>
              <a:ext uri="{FF2B5EF4-FFF2-40B4-BE49-F238E27FC236}">
                <a16:creationId xmlns:a16="http://schemas.microsoft.com/office/drawing/2014/main" id="{22CBF735-0D9D-CF5E-A474-B7FE75560B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11850" y="5514182"/>
            <a:ext cx="6153248" cy="1029099"/>
          </a:xfrm>
          <a:prstGeom prst="rect">
            <a:avLst/>
          </a:prstGeom>
        </p:spPr>
      </p:pic>
    </p:spTree>
    <p:extLst>
      <p:ext uri="{BB962C8B-B14F-4D97-AF65-F5344CB8AC3E}">
        <p14:creationId xmlns:p14="http://schemas.microsoft.com/office/powerpoint/2010/main" val="888874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fill="hold"/>
                                        <p:tgtEl>
                                          <p:spTgt spid="4"/>
                                        </p:tgtEl>
                                        <p:attrNameLst>
                                          <p:attrName>ppt_x</p:attrName>
                                        </p:attrNameLst>
                                      </p:cBhvr>
                                      <p:tavLst>
                                        <p:tav tm="0">
                                          <p:val>
                                            <p:strVal val="#ppt_x"/>
                                          </p:val>
                                        </p:tav>
                                        <p:tav tm="100000">
                                          <p:val>
                                            <p:strVal val="#ppt_x"/>
                                          </p:val>
                                        </p:tav>
                                      </p:tavLst>
                                    </p:anim>
                                    <p:anim calcmode="lin" valueType="num">
                                      <p:cBhvr additive="base">
                                        <p:cTn id="31"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1000"/>
                                        <p:tgtEl>
                                          <p:spTgt spid="8"/>
                                        </p:tgtEl>
                                      </p:cBhvr>
                                    </p:animEffect>
                                    <p:anim calcmode="lin" valueType="num">
                                      <p:cBhvr>
                                        <p:cTn id="37" dur="1000" fill="hold"/>
                                        <p:tgtEl>
                                          <p:spTgt spid="8"/>
                                        </p:tgtEl>
                                        <p:attrNameLst>
                                          <p:attrName>ppt_x</p:attrName>
                                        </p:attrNameLst>
                                      </p:cBhvr>
                                      <p:tavLst>
                                        <p:tav tm="0">
                                          <p:val>
                                            <p:strVal val="#ppt_x"/>
                                          </p:val>
                                        </p:tav>
                                        <p:tav tm="100000">
                                          <p:val>
                                            <p:strVal val="#ppt_x"/>
                                          </p:val>
                                        </p:tav>
                                      </p:tavLst>
                                    </p:anim>
                                    <p:anim calcmode="lin" valueType="num">
                                      <p:cBhvr>
                                        <p:cTn id="3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6"/>
                                        </p:tgtEl>
                                        <p:attrNameLst>
                                          <p:attrName>style.visibility</p:attrName>
                                        </p:attrNameLst>
                                      </p:cBhvr>
                                      <p:to>
                                        <p:strVal val="visible"/>
                                      </p:to>
                                    </p:set>
                                    <p:animEffect transition="in" filter="fade">
                                      <p:cBhvr>
                                        <p:cTn id="43" dur="1000"/>
                                        <p:tgtEl>
                                          <p:spTgt spid="6"/>
                                        </p:tgtEl>
                                      </p:cBhvr>
                                    </p:animEffect>
                                    <p:anim calcmode="lin" valueType="num">
                                      <p:cBhvr>
                                        <p:cTn id="44" dur="1000" fill="hold"/>
                                        <p:tgtEl>
                                          <p:spTgt spid="6"/>
                                        </p:tgtEl>
                                        <p:attrNameLst>
                                          <p:attrName>ppt_x</p:attrName>
                                        </p:attrNameLst>
                                      </p:cBhvr>
                                      <p:tavLst>
                                        <p:tav tm="0">
                                          <p:val>
                                            <p:strVal val="#ppt_x"/>
                                          </p:val>
                                        </p:tav>
                                        <p:tav tm="100000">
                                          <p:val>
                                            <p:strVal val="#ppt_x"/>
                                          </p:val>
                                        </p:tav>
                                      </p:tavLst>
                                    </p:anim>
                                    <p:anim calcmode="lin" valueType="num">
                                      <p:cBhvr>
                                        <p:cTn id="45"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2" presetClass="entr" presetSubtype="4"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down)">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1000"/>
                                        <p:tgtEl>
                                          <p:spTgt spid="11"/>
                                        </p:tgtEl>
                                      </p:cBhvr>
                                    </p:animEffect>
                                    <p:anim calcmode="lin" valueType="num">
                                      <p:cBhvr>
                                        <p:cTn id="56" dur="1000" fill="hold"/>
                                        <p:tgtEl>
                                          <p:spTgt spid="11"/>
                                        </p:tgtEl>
                                        <p:attrNameLst>
                                          <p:attrName>ppt_x</p:attrName>
                                        </p:attrNameLst>
                                      </p:cBhvr>
                                      <p:tavLst>
                                        <p:tav tm="0">
                                          <p:val>
                                            <p:strVal val="#ppt_x"/>
                                          </p:val>
                                        </p:tav>
                                        <p:tav tm="100000">
                                          <p:val>
                                            <p:strVal val="#ppt_x"/>
                                          </p:val>
                                        </p:tav>
                                      </p:tavLst>
                                    </p:anim>
                                    <p:anim calcmode="lin" valueType="num">
                                      <p:cBhvr>
                                        <p:cTn id="57"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0E07E-643D-1023-6416-D44E1E2D8998}"/>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ANALYSIS 1 : AGE vs MARKET VALUE</a:t>
            </a:r>
          </a:p>
        </p:txBody>
      </p:sp>
      <p:sp>
        <p:nvSpPr>
          <p:cNvPr id="4" name="CasellaDiTesto 3">
            <a:extLst>
              <a:ext uri="{FF2B5EF4-FFF2-40B4-BE49-F238E27FC236}">
                <a16:creationId xmlns:a16="http://schemas.microsoft.com/office/drawing/2014/main" id="{ED1BFA79-AB58-6595-9262-1E5117D3B712}"/>
              </a:ext>
            </a:extLst>
          </p:cNvPr>
          <p:cNvSpPr txBox="1"/>
          <p:nvPr/>
        </p:nvSpPr>
        <p:spPr>
          <a:xfrm>
            <a:off x="0" y="1206500"/>
            <a:ext cx="7173439" cy="646331"/>
          </a:xfrm>
          <a:prstGeom prst="rect">
            <a:avLst/>
          </a:prstGeom>
          <a:noFill/>
        </p:spPr>
        <p:txBody>
          <a:bodyPr wrap="none" rtlCol="0">
            <a:spAutoFit/>
          </a:bodyPr>
          <a:lstStyle/>
          <a:p>
            <a:r>
              <a:rPr lang="en-US" b="1" dirty="0"/>
              <a:t>Goal</a:t>
            </a:r>
            <a:r>
              <a:rPr lang="en-US" dirty="0"/>
              <a:t>: </a:t>
            </a:r>
            <a:r>
              <a:rPr lang="en-US" sz="1600" dirty="0"/>
              <a:t>Evaluate how age affects market value among similar-performing players</a:t>
            </a:r>
            <a:endParaRPr lang="en-US" dirty="0"/>
          </a:p>
          <a:p>
            <a:endParaRPr lang="it-IT" dirty="0"/>
          </a:p>
        </p:txBody>
      </p:sp>
      <p:sp>
        <p:nvSpPr>
          <p:cNvPr id="10" name="CasellaDiTesto 9">
            <a:extLst>
              <a:ext uri="{FF2B5EF4-FFF2-40B4-BE49-F238E27FC236}">
                <a16:creationId xmlns:a16="http://schemas.microsoft.com/office/drawing/2014/main" id="{234198A8-8EA8-C48C-FAB6-DCCA12F34ABB}"/>
              </a:ext>
            </a:extLst>
          </p:cNvPr>
          <p:cNvSpPr txBox="1"/>
          <p:nvPr/>
        </p:nvSpPr>
        <p:spPr>
          <a:xfrm>
            <a:off x="0" y="1587500"/>
            <a:ext cx="11722100" cy="1138773"/>
          </a:xfrm>
          <a:prstGeom prst="rect">
            <a:avLst/>
          </a:prstGeom>
          <a:noFill/>
        </p:spPr>
        <p:txBody>
          <a:bodyPr wrap="square" rtlCol="0">
            <a:spAutoFit/>
          </a:bodyPr>
          <a:lstStyle/>
          <a:p>
            <a:r>
              <a:rPr lang="it-IT" b="1" dirty="0"/>
              <a:t>Method:</a:t>
            </a:r>
          </a:p>
          <a:p>
            <a:pPr marL="1200150" lvl="2" indent="-285750">
              <a:buFont typeface="Arial" panose="020B0604020202020204" pitchFamily="34" charset="0"/>
              <a:buChar char="•"/>
            </a:pPr>
            <a:r>
              <a:rPr lang="en-US" sz="1600" dirty="0"/>
              <a:t>Selected player pairs with 5+ year age gap and similar stats</a:t>
            </a:r>
          </a:p>
          <a:p>
            <a:pPr marL="1200150" lvl="2" indent="-285750">
              <a:buFont typeface="Arial" panose="020B0604020202020204" pitchFamily="34" charset="0"/>
              <a:buChar char="•"/>
            </a:pPr>
            <a:r>
              <a:rPr lang="en-US" sz="1600" dirty="0"/>
              <a:t>Computed age gap and value gap for each pair</a:t>
            </a:r>
          </a:p>
          <a:p>
            <a:pPr marL="1200150" lvl="2" indent="-285750">
              <a:buFont typeface="Arial" panose="020B0604020202020204" pitchFamily="34" charset="0"/>
              <a:buChar char="•"/>
            </a:pPr>
            <a:r>
              <a:rPr lang="en-US" sz="1600" dirty="0"/>
              <a:t>Performed linear regression and plotted scatter + boxplots</a:t>
            </a:r>
          </a:p>
        </p:txBody>
      </p:sp>
      <p:pic>
        <p:nvPicPr>
          <p:cNvPr id="15" name="Immagine 14" descr="Immagine che contiene testo, schermata, diagramma, Rettangolo&#10;&#10;Il contenuto generato dall'IA potrebbe non essere corretto.">
            <a:extLst>
              <a:ext uri="{FF2B5EF4-FFF2-40B4-BE49-F238E27FC236}">
                <a16:creationId xmlns:a16="http://schemas.microsoft.com/office/drawing/2014/main" id="{D0B30335-FA6B-65DF-E735-721C59CBAC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57" y="3180851"/>
            <a:ext cx="2473393" cy="1605232"/>
          </a:xfrm>
          <a:prstGeom prst="rect">
            <a:avLst/>
          </a:prstGeom>
        </p:spPr>
      </p:pic>
      <p:pic>
        <p:nvPicPr>
          <p:cNvPr id="17" name="Immagine 16" descr="Immagine che contiene linea, testo, Diagramma, diagramma&#10;&#10;Il contenuto generato dall'IA potrebbe non essere corretto.">
            <a:extLst>
              <a:ext uri="{FF2B5EF4-FFF2-40B4-BE49-F238E27FC236}">
                <a16:creationId xmlns:a16="http://schemas.microsoft.com/office/drawing/2014/main" id="{76AC76E9-0FF8-782A-F6B9-A854BDEDD4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957" y="5169233"/>
            <a:ext cx="2473393" cy="1617300"/>
          </a:xfrm>
          <a:prstGeom prst="rect">
            <a:avLst/>
          </a:prstGeom>
        </p:spPr>
      </p:pic>
      <p:pic>
        <p:nvPicPr>
          <p:cNvPr id="19" name="Immagine 18" descr="Immagine che contiene testo, schermata, diagramma, Rettangolo&#10;&#10;Il contenuto generato dall'IA potrebbe non essere corretto.">
            <a:extLst>
              <a:ext uri="{FF2B5EF4-FFF2-40B4-BE49-F238E27FC236}">
                <a16:creationId xmlns:a16="http://schemas.microsoft.com/office/drawing/2014/main" id="{6A0EAD7D-956A-6C86-7CF2-40608B7FEB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25413" y="3180851"/>
            <a:ext cx="2628387" cy="1532153"/>
          </a:xfrm>
          <a:prstGeom prst="rect">
            <a:avLst/>
          </a:prstGeom>
        </p:spPr>
      </p:pic>
      <p:pic>
        <p:nvPicPr>
          <p:cNvPr id="21" name="Immagine 20" descr="Immagine che contiene testo, linea, Diagramma, diagramma&#10;&#10;Il contenuto generato dall'IA potrebbe non essere corretto.">
            <a:extLst>
              <a:ext uri="{FF2B5EF4-FFF2-40B4-BE49-F238E27FC236}">
                <a16:creationId xmlns:a16="http://schemas.microsoft.com/office/drawing/2014/main" id="{45E1F463-D184-1D0B-6285-4964F81CC3C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25412" y="5142359"/>
            <a:ext cx="2628387" cy="1642742"/>
          </a:xfrm>
          <a:prstGeom prst="rect">
            <a:avLst/>
          </a:prstGeom>
        </p:spPr>
      </p:pic>
      <p:pic>
        <p:nvPicPr>
          <p:cNvPr id="23" name="Immagine 22" descr="Immagine che contiene testo, schermata, diagramma, Rettangolo&#10;&#10;Il contenuto generato dall'IA potrebbe non essere corretto.">
            <a:extLst>
              <a:ext uri="{FF2B5EF4-FFF2-40B4-BE49-F238E27FC236}">
                <a16:creationId xmlns:a16="http://schemas.microsoft.com/office/drawing/2014/main" id="{A6F24634-39A1-6894-1D86-53123DD946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408" y="3180852"/>
            <a:ext cx="2473393" cy="1605231"/>
          </a:xfrm>
          <a:prstGeom prst="rect">
            <a:avLst/>
          </a:prstGeom>
        </p:spPr>
      </p:pic>
      <p:pic>
        <p:nvPicPr>
          <p:cNvPr id="25" name="Immagine 24" descr="Immagine che contiene testo, linea, Diagramma, diagramma&#10;&#10;Il contenuto generato dall'IA potrebbe non essere corretto.">
            <a:extLst>
              <a:ext uri="{FF2B5EF4-FFF2-40B4-BE49-F238E27FC236}">
                <a16:creationId xmlns:a16="http://schemas.microsoft.com/office/drawing/2014/main" id="{1F31AAF5-54E9-1FAE-C49C-A24D7090729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86406" y="5109873"/>
            <a:ext cx="2473393" cy="1605231"/>
          </a:xfrm>
          <a:prstGeom prst="rect">
            <a:avLst/>
          </a:prstGeom>
        </p:spPr>
      </p:pic>
    </p:spTree>
    <p:extLst>
      <p:ext uri="{BB962C8B-B14F-4D97-AF65-F5344CB8AC3E}">
        <p14:creationId xmlns:p14="http://schemas.microsoft.com/office/powerpoint/2010/main" val="455729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 calcmode="lin" valueType="num">
                                      <p:cBhvr additive="base">
                                        <p:cTn id="18" dur="500" fill="hold"/>
                                        <p:tgtEl>
                                          <p:spTgt spid="10"/>
                                        </p:tgtEl>
                                        <p:attrNameLst>
                                          <p:attrName>ppt_x</p:attrName>
                                        </p:attrNameLst>
                                      </p:cBhvr>
                                      <p:tavLst>
                                        <p:tav tm="0">
                                          <p:val>
                                            <p:strVal val="#ppt_x"/>
                                          </p:val>
                                        </p:tav>
                                        <p:tav tm="100000">
                                          <p:val>
                                            <p:strVal val="#ppt_x"/>
                                          </p:val>
                                        </p:tav>
                                      </p:tavLst>
                                    </p:anim>
                                    <p:anim calcmode="lin" valueType="num">
                                      <p:cBhvr additive="base">
                                        <p:cTn id="19"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1000"/>
                                        <p:tgtEl>
                                          <p:spTgt spid="15"/>
                                        </p:tgtEl>
                                      </p:cBhvr>
                                    </p:animEffect>
                                    <p:anim calcmode="lin" valueType="num">
                                      <p:cBhvr>
                                        <p:cTn id="25" dur="1000" fill="hold"/>
                                        <p:tgtEl>
                                          <p:spTgt spid="15"/>
                                        </p:tgtEl>
                                        <p:attrNameLst>
                                          <p:attrName>ppt_x</p:attrName>
                                        </p:attrNameLst>
                                      </p:cBhvr>
                                      <p:tavLst>
                                        <p:tav tm="0">
                                          <p:val>
                                            <p:strVal val="#ppt_x"/>
                                          </p:val>
                                        </p:tav>
                                        <p:tav tm="100000">
                                          <p:val>
                                            <p:strVal val="#ppt_x"/>
                                          </p:val>
                                        </p:tav>
                                      </p:tavLst>
                                    </p:anim>
                                    <p:anim calcmode="lin" valueType="num">
                                      <p:cBhvr>
                                        <p:cTn id="26" dur="1000" fill="hold"/>
                                        <p:tgtEl>
                                          <p:spTgt spid="15"/>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1000"/>
                                        <p:tgtEl>
                                          <p:spTgt spid="17"/>
                                        </p:tgtEl>
                                      </p:cBhvr>
                                    </p:animEffect>
                                    <p:anim calcmode="lin" valueType="num">
                                      <p:cBhvr>
                                        <p:cTn id="30" dur="1000" fill="hold"/>
                                        <p:tgtEl>
                                          <p:spTgt spid="17"/>
                                        </p:tgtEl>
                                        <p:attrNameLst>
                                          <p:attrName>ppt_x</p:attrName>
                                        </p:attrNameLst>
                                      </p:cBhvr>
                                      <p:tavLst>
                                        <p:tav tm="0">
                                          <p:val>
                                            <p:strVal val="#ppt_x"/>
                                          </p:val>
                                        </p:tav>
                                        <p:tav tm="100000">
                                          <p:val>
                                            <p:strVal val="#ppt_x"/>
                                          </p:val>
                                        </p:tav>
                                      </p:tavLst>
                                    </p:anim>
                                    <p:anim calcmode="lin" valueType="num">
                                      <p:cBhvr>
                                        <p:cTn id="31"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1000"/>
                                        <p:tgtEl>
                                          <p:spTgt spid="23"/>
                                        </p:tgtEl>
                                      </p:cBhvr>
                                    </p:animEffect>
                                    <p:anim calcmode="lin" valueType="num">
                                      <p:cBhvr>
                                        <p:cTn id="37" dur="1000" fill="hold"/>
                                        <p:tgtEl>
                                          <p:spTgt spid="23"/>
                                        </p:tgtEl>
                                        <p:attrNameLst>
                                          <p:attrName>ppt_x</p:attrName>
                                        </p:attrNameLst>
                                      </p:cBhvr>
                                      <p:tavLst>
                                        <p:tav tm="0">
                                          <p:val>
                                            <p:strVal val="#ppt_x"/>
                                          </p:val>
                                        </p:tav>
                                        <p:tav tm="100000">
                                          <p:val>
                                            <p:strVal val="#ppt_x"/>
                                          </p:val>
                                        </p:tav>
                                      </p:tavLst>
                                    </p:anim>
                                    <p:anim calcmode="lin" valueType="num">
                                      <p:cBhvr>
                                        <p:cTn id="38" dur="1000" fill="hold"/>
                                        <p:tgtEl>
                                          <p:spTgt spid="2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1000"/>
                                        <p:tgtEl>
                                          <p:spTgt spid="25"/>
                                        </p:tgtEl>
                                      </p:cBhvr>
                                    </p:animEffect>
                                    <p:anim calcmode="lin" valueType="num">
                                      <p:cBhvr>
                                        <p:cTn id="42" dur="1000" fill="hold"/>
                                        <p:tgtEl>
                                          <p:spTgt spid="25"/>
                                        </p:tgtEl>
                                        <p:attrNameLst>
                                          <p:attrName>ppt_x</p:attrName>
                                        </p:attrNameLst>
                                      </p:cBhvr>
                                      <p:tavLst>
                                        <p:tav tm="0">
                                          <p:val>
                                            <p:strVal val="#ppt_x"/>
                                          </p:val>
                                        </p:tav>
                                        <p:tav tm="100000">
                                          <p:val>
                                            <p:strVal val="#ppt_x"/>
                                          </p:val>
                                        </p:tav>
                                      </p:tavLst>
                                    </p:anim>
                                    <p:anim calcmode="lin" valueType="num">
                                      <p:cBhvr>
                                        <p:cTn id="43" dur="10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1000"/>
                                        <p:tgtEl>
                                          <p:spTgt spid="19"/>
                                        </p:tgtEl>
                                      </p:cBhvr>
                                    </p:animEffect>
                                    <p:anim calcmode="lin" valueType="num">
                                      <p:cBhvr>
                                        <p:cTn id="49" dur="1000" fill="hold"/>
                                        <p:tgtEl>
                                          <p:spTgt spid="19"/>
                                        </p:tgtEl>
                                        <p:attrNameLst>
                                          <p:attrName>ppt_x</p:attrName>
                                        </p:attrNameLst>
                                      </p:cBhvr>
                                      <p:tavLst>
                                        <p:tav tm="0">
                                          <p:val>
                                            <p:strVal val="#ppt_x"/>
                                          </p:val>
                                        </p:tav>
                                        <p:tav tm="100000">
                                          <p:val>
                                            <p:strVal val="#ppt_x"/>
                                          </p:val>
                                        </p:tav>
                                      </p:tavLst>
                                    </p:anim>
                                    <p:anim calcmode="lin" valueType="num">
                                      <p:cBhvr>
                                        <p:cTn id="50" dur="1000" fill="hold"/>
                                        <p:tgtEl>
                                          <p:spTgt spid="19"/>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1000"/>
                                        <p:tgtEl>
                                          <p:spTgt spid="21"/>
                                        </p:tgtEl>
                                      </p:cBhvr>
                                    </p:animEffect>
                                    <p:anim calcmode="lin" valueType="num">
                                      <p:cBhvr>
                                        <p:cTn id="54" dur="1000" fill="hold"/>
                                        <p:tgtEl>
                                          <p:spTgt spid="21"/>
                                        </p:tgtEl>
                                        <p:attrNameLst>
                                          <p:attrName>ppt_x</p:attrName>
                                        </p:attrNameLst>
                                      </p:cBhvr>
                                      <p:tavLst>
                                        <p:tav tm="0">
                                          <p:val>
                                            <p:strVal val="#ppt_x"/>
                                          </p:val>
                                        </p:tav>
                                        <p:tav tm="100000">
                                          <p:val>
                                            <p:strVal val="#ppt_x"/>
                                          </p:val>
                                        </p:tav>
                                      </p:tavLst>
                                    </p:anim>
                                    <p:anim calcmode="lin" valueType="num">
                                      <p:cBhvr>
                                        <p:cTn id="55"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DFDEEC-F6C5-E207-8080-D5CB27F38883}"/>
              </a:ext>
            </a:extLst>
          </p:cNvPr>
          <p:cNvSpPr>
            <a:spLocks noGrp="1"/>
          </p:cNvSpPr>
          <p:nvPr>
            <p:ph type="title"/>
          </p:nvPr>
        </p:nvSpPr>
        <p:spPr>
          <a:xfrm>
            <a:off x="768350" y="18255"/>
            <a:ext cx="10655300" cy="1325563"/>
          </a:xfrm>
        </p:spPr>
        <p:txBody>
          <a:bodyPr/>
          <a:lstStyle/>
          <a:p>
            <a:pPr algn="ctr"/>
            <a:r>
              <a:rPr lang="it-IT" b="1" dirty="0">
                <a:effectLst>
                  <a:outerShdw blurRad="38100" dist="38100" dir="2700000" algn="tl">
                    <a:srgbClr val="000000">
                      <a:alpha val="43137"/>
                    </a:srgbClr>
                  </a:outerShdw>
                </a:effectLst>
              </a:rPr>
              <a:t>ANALYSIS 2 : </a:t>
            </a:r>
            <a:r>
              <a:rPr lang="en-US" b="1" dirty="0">
                <a:effectLst>
                  <a:outerShdw blurRad="38100" dist="38100" dir="2700000" algn="tl">
                    <a:srgbClr val="000000">
                      <a:alpha val="43137"/>
                    </a:srgbClr>
                  </a:outerShdw>
                </a:effectLst>
              </a:rPr>
              <a:t>Metric Importance by Role (R²)</a:t>
            </a:r>
            <a:r>
              <a:rPr lang="it-IT" b="1" dirty="0">
                <a:effectLst>
                  <a:outerShdw blurRad="38100" dist="38100" dir="2700000" algn="tl">
                    <a:srgbClr val="000000">
                      <a:alpha val="43137"/>
                    </a:srgbClr>
                  </a:outerShdw>
                </a:effectLst>
              </a:rPr>
              <a:t> </a:t>
            </a:r>
          </a:p>
        </p:txBody>
      </p:sp>
      <p:sp>
        <p:nvSpPr>
          <p:cNvPr id="4" name="CasellaDiTesto 3">
            <a:extLst>
              <a:ext uri="{FF2B5EF4-FFF2-40B4-BE49-F238E27FC236}">
                <a16:creationId xmlns:a16="http://schemas.microsoft.com/office/drawing/2014/main" id="{9908B663-C7DD-EAAE-926E-22D1874ECA06}"/>
              </a:ext>
            </a:extLst>
          </p:cNvPr>
          <p:cNvSpPr txBox="1"/>
          <p:nvPr/>
        </p:nvSpPr>
        <p:spPr>
          <a:xfrm>
            <a:off x="0" y="1016000"/>
            <a:ext cx="12052300" cy="646331"/>
          </a:xfrm>
          <a:prstGeom prst="rect">
            <a:avLst/>
          </a:prstGeom>
          <a:noFill/>
        </p:spPr>
        <p:txBody>
          <a:bodyPr wrap="square" rtlCol="0">
            <a:spAutoFit/>
          </a:bodyPr>
          <a:lstStyle/>
          <a:p>
            <a:r>
              <a:rPr lang="en-US" b="1" dirty="0"/>
              <a:t>Goal</a:t>
            </a:r>
            <a:r>
              <a:rPr lang="en-US" dirty="0"/>
              <a:t>: </a:t>
            </a:r>
            <a:r>
              <a:rPr lang="en-US" sz="1600" dirty="0"/>
              <a:t>Identify which performance metrics most influence value</a:t>
            </a:r>
            <a:endParaRPr lang="en-US" dirty="0"/>
          </a:p>
          <a:p>
            <a:endParaRPr lang="it-IT" dirty="0"/>
          </a:p>
        </p:txBody>
      </p:sp>
      <p:sp>
        <p:nvSpPr>
          <p:cNvPr id="5" name="CasellaDiTesto 4">
            <a:extLst>
              <a:ext uri="{FF2B5EF4-FFF2-40B4-BE49-F238E27FC236}">
                <a16:creationId xmlns:a16="http://schemas.microsoft.com/office/drawing/2014/main" id="{065934CB-45FE-5A81-A722-2AAB61EAC604}"/>
              </a:ext>
            </a:extLst>
          </p:cNvPr>
          <p:cNvSpPr txBox="1"/>
          <p:nvPr/>
        </p:nvSpPr>
        <p:spPr>
          <a:xfrm>
            <a:off x="0" y="1403350"/>
            <a:ext cx="12007850" cy="1415772"/>
          </a:xfrm>
          <a:prstGeom prst="rect">
            <a:avLst/>
          </a:prstGeom>
          <a:noFill/>
        </p:spPr>
        <p:txBody>
          <a:bodyPr wrap="square" rtlCol="0">
            <a:spAutoFit/>
          </a:bodyPr>
          <a:lstStyle/>
          <a:p>
            <a:r>
              <a:rPr lang="it-IT" b="1" dirty="0"/>
              <a:t>Method:</a:t>
            </a:r>
          </a:p>
          <a:p>
            <a:pPr marL="1200150" lvl="2" indent="-285750">
              <a:buFont typeface="Arial" panose="020B0604020202020204" pitchFamily="34" charset="0"/>
              <a:buChar char="•"/>
            </a:pPr>
            <a:r>
              <a:rPr lang="en-US" sz="1600" dirty="0"/>
              <a:t>Forwards, midfielders, defenders each analyzed separately</a:t>
            </a:r>
          </a:p>
          <a:p>
            <a:pPr marL="1200150" lvl="2" indent="-285750">
              <a:buFont typeface="Arial" panose="020B0604020202020204" pitchFamily="34" charset="0"/>
              <a:buChar char="•"/>
            </a:pPr>
            <a:r>
              <a:rPr lang="en-US" sz="1600" dirty="0"/>
              <a:t>Simple linear regression (one metric at a time)</a:t>
            </a:r>
          </a:p>
          <a:p>
            <a:pPr marL="1200150" lvl="2" indent="-285750">
              <a:buFont typeface="Arial" panose="020B0604020202020204" pitchFamily="34" charset="0"/>
              <a:buChar char="•"/>
            </a:pPr>
            <a:r>
              <a:rPr lang="en-US" sz="1600" dirty="0"/>
              <a:t>R² values computed and compared across metrics</a:t>
            </a:r>
          </a:p>
          <a:p>
            <a:pPr marL="1200150" lvl="2" indent="-285750">
              <a:buFont typeface="Arial" panose="020B0604020202020204" pitchFamily="34" charset="0"/>
              <a:buChar char="•"/>
            </a:pPr>
            <a:endParaRPr lang="it-IT" b="1" dirty="0"/>
          </a:p>
        </p:txBody>
      </p:sp>
      <p:sp>
        <p:nvSpPr>
          <p:cNvPr id="6" name="CasellaDiTesto 5">
            <a:extLst>
              <a:ext uri="{FF2B5EF4-FFF2-40B4-BE49-F238E27FC236}">
                <a16:creationId xmlns:a16="http://schemas.microsoft.com/office/drawing/2014/main" id="{4AF1D4C3-B5F3-C249-30CA-7EF8BA4C21C9}"/>
              </a:ext>
            </a:extLst>
          </p:cNvPr>
          <p:cNvSpPr txBox="1"/>
          <p:nvPr/>
        </p:nvSpPr>
        <p:spPr>
          <a:xfrm>
            <a:off x="0" y="2640748"/>
            <a:ext cx="12007850" cy="861774"/>
          </a:xfrm>
          <a:prstGeom prst="rect">
            <a:avLst/>
          </a:prstGeom>
          <a:noFill/>
        </p:spPr>
        <p:txBody>
          <a:bodyPr wrap="square" rtlCol="0">
            <a:spAutoFit/>
          </a:bodyPr>
          <a:lstStyle/>
          <a:p>
            <a:r>
              <a:rPr lang="it-IT" b="1" dirty="0"/>
              <a:t>Note:</a:t>
            </a:r>
          </a:p>
          <a:p>
            <a:pPr marL="1200150" lvl="2" indent="-285750">
              <a:buFont typeface="Arial" panose="020B0604020202020204" pitchFamily="34" charset="0"/>
              <a:buChar char="•"/>
            </a:pPr>
            <a:r>
              <a:rPr lang="en-US" sz="1600" dirty="0"/>
              <a:t>Each regression uses OLS and returns an R² value</a:t>
            </a:r>
          </a:p>
          <a:p>
            <a:pPr marL="1200150" lvl="2" indent="-285750">
              <a:buFont typeface="Arial" panose="020B0604020202020204" pitchFamily="34" charset="0"/>
              <a:buChar char="•"/>
            </a:pPr>
            <a:r>
              <a:rPr lang="en-US" sz="1600" dirty="0"/>
              <a:t>Higher R² indicates that a metric better explains market value variation</a:t>
            </a:r>
          </a:p>
        </p:txBody>
      </p:sp>
      <p:pic>
        <p:nvPicPr>
          <p:cNvPr id="8" name="Immagine 7" descr="Immagine che contiene testo, schermata, diagramma, linea&#10;&#10;Il contenuto generato dall'IA potrebbe non essere corretto.">
            <a:extLst>
              <a:ext uri="{FF2B5EF4-FFF2-40B4-BE49-F238E27FC236}">
                <a16:creationId xmlns:a16="http://schemas.microsoft.com/office/drawing/2014/main" id="{7D61EB49-AC0E-62F0-70DD-99D75E5DE9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105" y="3876922"/>
            <a:ext cx="3333755" cy="2712158"/>
          </a:xfrm>
          <a:prstGeom prst="rect">
            <a:avLst/>
          </a:prstGeom>
        </p:spPr>
      </p:pic>
      <p:pic>
        <p:nvPicPr>
          <p:cNvPr id="10" name="Immagine 9" descr="Immagine che contiene testo, schermata, diagramma, linea&#10;&#10;Il contenuto generato dall'IA potrebbe non essere corretto.">
            <a:extLst>
              <a:ext uri="{FF2B5EF4-FFF2-40B4-BE49-F238E27FC236}">
                <a16:creationId xmlns:a16="http://schemas.microsoft.com/office/drawing/2014/main" id="{3F8F6707-4245-DB5D-264E-F5BCD35864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02579" y="3876922"/>
            <a:ext cx="3667121" cy="2644528"/>
          </a:xfrm>
          <a:prstGeom prst="rect">
            <a:avLst/>
          </a:prstGeom>
        </p:spPr>
      </p:pic>
      <p:pic>
        <p:nvPicPr>
          <p:cNvPr id="12" name="Immagine 11" descr="Immagine che contiene testo, schermata, diagramma, linea&#10;&#10;Il contenuto generato dall'IA potrebbe non essere corretto.">
            <a:extLst>
              <a:ext uri="{FF2B5EF4-FFF2-40B4-BE49-F238E27FC236}">
                <a16:creationId xmlns:a16="http://schemas.microsoft.com/office/drawing/2014/main" id="{2A646344-0FCE-55E2-79BB-E22552CBD7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2444" y="3876922"/>
            <a:ext cx="3959551" cy="2981077"/>
          </a:xfrm>
          <a:prstGeom prst="rect">
            <a:avLst/>
          </a:prstGeom>
        </p:spPr>
      </p:pic>
    </p:spTree>
    <p:extLst>
      <p:ext uri="{BB962C8B-B14F-4D97-AF65-F5344CB8AC3E}">
        <p14:creationId xmlns:p14="http://schemas.microsoft.com/office/powerpoint/2010/main" val="2508807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1000"/>
                                        <p:tgtEl>
                                          <p:spTgt spid="12"/>
                                        </p:tgtEl>
                                      </p:cBhvr>
                                    </p:animEffect>
                                    <p:anim calcmode="lin" valueType="num">
                                      <p:cBhvr>
                                        <p:cTn id="38" dur="1000" fill="hold"/>
                                        <p:tgtEl>
                                          <p:spTgt spid="12"/>
                                        </p:tgtEl>
                                        <p:attrNameLst>
                                          <p:attrName>ppt_x</p:attrName>
                                        </p:attrNameLst>
                                      </p:cBhvr>
                                      <p:tavLst>
                                        <p:tav tm="0">
                                          <p:val>
                                            <p:strVal val="#ppt_x"/>
                                          </p:val>
                                        </p:tav>
                                        <p:tav tm="100000">
                                          <p:val>
                                            <p:strVal val="#ppt_x"/>
                                          </p:val>
                                        </p:tav>
                                      </p:tavLst>
                                    </p:anim>
                                    <p:anim calcmode="lin" valueType="num">
                                      <p:cBhvr>
                                        <p:cTn id="3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FB1DC4-C5BA-2891-8349-EB43E7A36FE3}"/>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ANALYSIS 3: League </a:t>
            </a:r>
            <a:r>
              <a:rPr lang="it-IT" b="1" dirty="0" err="1">
                <a:effectLst>
                  <a:outerShdw blurRad="38100" dist="38100" dir="2700000" algn="tl">
                    <a:srgbClr val="000000">
                      <a:alpha val="43137"/>
                    </a:srgbClr>
                  </a:outerShdw>
                </a:effectLst>
              </a:rPr>
              <a:t>Bias</a:t>
            </a:r>
            <a:endParaRPr lang="it-IT" b="1" dirty="0">
              <a:effectLst>
                <a:outerShdw blurRad="38100" dist="38100" dir="2700000" algn="tl">
                  <a:srgbClr val="000000">
                    <a:alpha val="43137"/>
                  </a:srgbClr>
                </a:outerShdw>
              </a:effectLst>
            </a:endParaRPr>
          </a:p>
        </p:txBody>
      </p:sp>
      <p:sp>
        <p:nvSpPr>
          <p:cNvPr id="3" name="CasellaDiTesto 2">
            <a:extLst>
              <a:ext uri="{FF2B5EF4-FFF2-40B4-BE49-F238E27FC236}">
                <a16:creationId xmlns:a16="http://schemas.microsoft.com/office/drawing/2014/main" id="{92E7CFB1-71B8-BC0D-BFAC-23E88819F693}"/>
              </a:ext>
            </a:extLst>
          </p:cNvPr>
          <p:cNvSpPr txBox="1"/>
          <p:nvPr/>
        </p:nvSpPr>
        <p:spPr>
          <a:xfrm>
            <a:off x="0" y="1104900"/>
            <a:ext cx="11550650" cy="646331"/>
          </a:xfrm>
          <a:prstGeom prst="rect">
            <a:avLst/>
          </a:prstGeom>
          <a:noFill/>
        </p:spPr>
        <p:txBody>
          <a:bodyPr wrap="square" rtlCol="0">
            <a:spAutoFit/>
          </a:bodyPr>
          <a:lstStyle/>
          <a:p>
            <a:r>
              <a:rPr lang="en-US" b="1" dirty="0"/>
              <a:t>Goal</a:t>
            </a:r>
            <a:r>
              <a:rPr lang="en-US" dirty="0"/>
              <a:t>: </a:t>
            </a:r>
            <a:r>
              <a:rPr lang="en-US" sz="1600" dirty="0"/>
              <a:t>Detect market valuation bias across leagues</a:t>
            </a:r>
            <a:endParaRPr lang="en-US" dirty="0"/>
          </a:p>
          <a:p>
            <a:endParaRPr lang="it-IT" dirty="0"/>
          </a:p>
        </p:txBody>
      </p:sp>
      <p:sp>
        <p:nvSpPr>
          <p:cNvPr id="5" name="CasellaDiTesto 4">
            <a:extLst>
              <a:ext uri="{FF2B5EF4-FFF2-40B4-BE49-F238E27FC236}">
                <a16:creationId xmlns:a16="http://schemas.microsoft.com/office/drawing/2014/main" id="{0985132A-F88C-AA22-18B5-E7EED7577DD3}"/>
              </a:ext>
            </a:extLst>
          </p:cNvPr>
          <p:cNvSpPr txBox="1"/>
          <p:nvPr/>
        </p:nvSpPr>
        <p:spPr>
          <a:xfrm>
            <a:off x="0" y="1485900"/>
            <a:ext cx="12141200" cy="1138773"/>
          </a:xfrm>
          <a:prstGeom prst="rect">
            <a:avLst/>
          </a:prstGeom>
          <a:noFill/>
        </p:spPr>
        <p:txBody>
          <a:bodyPr wrap="square" rtlCol="0">
            <a:spAutoFit/>
          </a:bodyPr>
          <a:lstStyle/>
          <a:p>
            <a:r>
              <a:rPr lang="en-US" b="1" dirty="0"/>
              <a:t>Method</a:t>
            </a:r>
            <a:r>
              <a:rPr lang="en-US" dirty="0"/>
              <a:t>:</a:t>
            </a:r>
          </a:p>
          <a:p>
            <a:pPr marL="1200150" lvl="2" indent="-285750">
              <a:buFont typeface="Arial" panose="020B0604020202020204" pitchFamily="34" charset="0"/>
              <a:buChar char="•"/>
            </a:pPr>
            <a:r>
              <a:rPr lang="en-US" sz="1600" dirty="0"/>
              <a:t>Composite performance score (z-scores of 5 metrics)</a:t>
            </a:r>
          </a:p>
          <a:p>
            <a:pPr marL="1200150" lvl="2" indent="-285750">
              <a:buFont typeface="Arial" panose="020B0604020202020204" pitchFamily="34" charset="0"/>
              <a:buChar char="•"/>
            </a:pPr>
            <a:r>
              <a:rPr lang="en-US" sz="1600" dirty="0"/>
              <a:t>Grouped players into performance quintiles</a:t>
            </a:r>
          </a:p>
          <a:p>
            <a:pPr marL="1200150" lvl="2" indent="-285750">
              <a:buFont typeface="Arial" panose="020B0604020202020204" pitchFamily="34" charset="0"/>
              <a:buChar char="•"/>
            </a:pPr>
            <a:r>
              <a:rPr lang="en-US" sz="1600" dirty="0"/>
              <a:t>Compared valuations across leagues using boxplots and regression with fixed effects</a:t>
            </a:r>
          </a:p>
        </p:txBody>
      </p:sp>
      <p:pic>
        <p:nvPicPr>
          <p:cNvPr id="9" name="Immagine 8" descr="Immagine che contiene diagramma, testo, schermata, linea&#10;&#10;Il contenuto generato dall'IA potrebbe non essere corretto.">
            <a:extLst>
              <a:ext uri="{FF2B5EF4-FFF2-40B4-BE49-F238E27FC236}">
                <a16:creationId xmlns:a16="http://schemas.microsoft.com/office/drawing/2014/main" id="{D5F64E3F-2BD4-4F37-CE34-F5B8C01DB0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800" y="3710801"/>
            <a:ext cx="2330449" cy="1833395"/>
          </a:xfrm>
          <a:prstGeom prst="rect">
            <a:avLst/>
          </a:prstGeom>
        </p:spPr>
      </p:pic>
      <p:pic>
        <p:nvPicPr>
          <p:cNvPr id="11" name="Immagine 10" descr="Immagine che contiene diagramma, testo, schermata, Piano&#10;&#10;Il contenuto generato dall'IA potrebbe non essere corretto.">
            <a:extLst>
              <a:ext uri="{FF2B5EF4-FFF2-40B4-BE49-F238E27FC236}">
                <a16:creationId xmlns:a16="http://schemas.microsoft.com/office/drawing/2014/main" id="{5478D7AA-1CF2-A0D8-EC9E-A68BD14185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13023" y="3710801"/>
            <a:ext cx="2800350" cy="1747455"/>
          </a:xfrm>
          <a:prstGeom prst="rect">
            <a:avLst/>
          </a:prstGeom>
        </p:spPr>
      </p:pic>
      <p:pic>
        <p:nvPicPr>
          <p:cNvPr id="13" name="Immagine 12" descr="Immagine che contiene testo, diagramma, schermata, Disegno tecnico&#10;&#10;Il contenuto generato dall'IA potrebbe non essere corretto.">
            <a:extLst>
              <a:ext uri="{FF2B5EF4-FFF2-40B4-BE49-F238E27FC236}">
                <a16:creationId xmlns:a16="http://schemas.microsoft.com/office/drawing/2014/main" id="{D19CB598-DC6D-E0F3-ABA1-2724E126FA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30349" y="3544946"/>
            <a:ext cx="3005629" cy="2073690"/>
          </a:xfrm>
          <a:prstGeom prst="rect">
            <a:avLst/>
          </a:prstGeom>
        </p:spPr>
      </p:pic>
      <p:pic>
        <p:nvPicPr>
          <p:cNvPr id="15" name="Immagine 14" descr="Immagine che contiene diagramma, testo, schermata, Piano&#10;&#10;Il contenuto generato dall'IA potrebbe non essere corretto.">
            <a:extLst>
              <a:ext uri="{FF2B5EF4-FFF2-40B4-BE49-F238E27FC236}">
                <a16:creationId xmlns:a16="http://schemas.microsoft.com/office/drawing/2014/main" id="{2DEF1B4E-0F42-2639-E7E1-D88402B89C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17524" y="5163307"/>
            <a:ext cx="2330449" cy="1617633"/>
          </a:xfrm>
          <a:prstGeom prst="rect">
            <a:avLst/>
          </a:prstGeom>
        </p:spPr>
      </p:pic>
      <p:pic>
        <p:nvPicPr>
          <p:cNvPr id="17" name="Immagine 16" descr="Immagine che contiene diagramma, testo, linea, Piano&#10;&#10;Il contenuto generato dall'IA potrebbe non essere corretto.">
            <a:extLst>
              <a:ext uri="{FF2B5EF4-FFF2-40B4-BE49-F238E27FC236}">
                <a16:creationId xmlns:a16="http://schemas.microsoft.com/office/drawing/2014/main" id="{5EA7F805-5480-8619-CF88-A99F0344731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14698" y="5163307"/>
            <a:ext cx="2330449" cy="1617633"/>
          </a:xfrm>
          <a:prstGeom prst="rect">
            <a:avLst/>
          </a:prstGeom>
        </p:spPr>
      </p:pic>
    </p:spTree>
    <p:extLst>
      <p:ext uri="{BB962C8B-B14F-4D97-AF65-F5344CB8AC3E}">
        <p14:creationId xmlns:p14="http://schemas.microsoft.com/office/powerpoint/2010/main" val="3812485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1000"/>
                                        <p:tgtEl>
                                          <p:spTgt spid="9"/>
                                        </p:tgtEl>
                                      </p:cBhvr>
                                    </p:animEffect>
                                    <p:anim calcmode="lin" valueType="num">
                                      <p:cBhvr>
                                        <p:cTn id="25" dur="1000" fill="hold"/>
                                        <p:tgtEl>
                                          <p:spTgt spid="9"/>
                                        </p:tgtEl>
                                        <p:attrNameLst>
                                          <p:attrName>ppt_x</p:attrName>
                                        </p:attrNameLst>
                                      </p:cBhvr>
                                      <p:tavLst>
                                        <p:tav tm="0">
                                          <p:val>
                                            <p:strVal val="#ppt_x"/>
                                          </p:val>
                                        </p:tav>
                                        <p:tav tm="100000">
                                          <p:val>
                                            <p:strVal val="#ppt_x"/>
                                          </p:val>
                                        </p:tav>
                                      </p:tavLst>
                                    </p:anim>
                                    <p:anim calcmode="lin" valueType="num">
                                      <p:cBhvr>
                                        <p:cTn id="26" dur="1000" fill="hold"/>
                                        <p:tgtEl>
                                          <p:spTgt spid="9"/>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1000"/>
                                        <p:tgtEl>
                                          <p:spTgt spid="11"/>
                                        </p:tgtEl>
                                      </p:cBhvr>
                                    </p:animEffect>
                                    <p:anim calcmode="lin" valueType="num">
                                      <p:cBhvr>
                                        <p:cTn id="30" dur="1000" fill="hold"/>
                                        <p:tgtEl>
                                          <p:spTgt spid="11"/>
                                        </p:tgtEl>
                                        <p:attrNameLst>
                                          <p:attrName>ppt_x</p:attrName>
                                        </p:attrNameLst>
                                      </p:cBhvr>
                                      <p:tavLst>
                                        <p:tav tm="0">
                                          <p:val>
                                            <p:strVal val="#ppt_x"/>
                                          </p:val>
                                        </p:tav>
                                        <p:tav tm="100000">
                                          <p:val>
                                            <p:strVal val="#ppt_x"/>
                                          </p:val>
                                        </p:tav>
                                      </p:tavLst>
                                    </p:anim>
                                    <p:anim calcmode="lin" valueType="num">
                                      <p:cBhvr>
                                        <p:cTn id="31" dur="1000" fill="hold"/>
                                        <p:tgtEl>
                                          <p:spTgt spid="11"/>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1000"/>
                                        <p:tgtEl>
                                          <p:spTgt spid="15"/>
                                        </p:tgtEl>
                                      </p:cBhvr>
                                    </p:animEffect>
                                    <p:anim calcmode="lin" valueType="num">
                                      <p:cBhvr>
                                        <p:cTn id="40" dur="1000" fill="hold"/>
                                        <p:tgtEl>
                                          <p:spTgt spid="15"/>
                                        </p:tgtEl>
                                        <p:attrNameLst>
                                          <p:attrName>ppt_x</p:attrName>
                                        </p:attrNameLst>
                                      </p:cBhvr>
                                      <p:tavLst>
                                        <p:tav tm="0">
                                          <p:val>
                                            <p:strVal val="#ppt_x"/>
                                          </p:val>
                                        </p:tav>
                                        <p:tav tm="100000">
                                          <p:val>
                                            <p:strVal val="#ppt_x"/>
                                          </p:val>
                                        </p:tav>
                                      </p:tavLst>
                                    </p:anim>
                                    <p:anim calcmode="lin" valueType="num">
                                      <p:cBhvr>
                                        <p:cTn id="41" dur="1000" fill="hold"/>
                                        <p:tgtEl>
                                          <p:spTgt spid="15"/>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1000"/>
                                        <p:tgtEl>
                                          <p:spTgt spid="17"/>
                                        </p:tgtEl>
                                      </p:cBhvr>
                                    </p:animEffect>
                                    <p:anim calcmode="lin" valueType="num">
                                      <p:cBhvr>
                                        <p:cTn id="45" dur="1000" fill="hold"/>
                                        <p:tgtEl>
                                          <p:spTgt spid="17"/>
                                        </p:tgtEl>
                                        <p:attrNameLst>
                                          <p:attrName>ppt_x</p:attrName>
                                        </p:attrNameLst>
                                      </p:cBhvr>
                                      <p:tavLst>
                                        <p:tav tm="0">
                                          <p:val>
                                            <p:strVal val="#ppt_x"/>
                                          </p:val>
                                        </p:tav>
                                        <p:tav tm="100000">
                                          <p:val>
                                            <p:strVal val="#ppt_x"/>
                                          </p:val>
                                        </p:tav>
                                      </p:tavLst>
                                    </p:anim>
                                    <p:anim calcmode="lin" valueType="num">
                                      <p:cBhvr>
                                        <p:cTn id="4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3A851DC-A296-8424-DB41-5DD004C25E6C}"/>
              </a:ext>
            </a:extLst>
          </p:cNvPr>
          <p:cNvSpPr>
            <a:spLocks noGrp="1"/>
          </p:cNvSpPr>
          <p:nvPr>
            <p:ph type="title"/>
          </p:nvPr>
        </p:nvSpPr>
        <p:spPr>
          <a:xfrm>
            <a:off x="838200" y="0"/>
            <a:ext cx="10515600" cy="1325563"/>
          </a:xfrm>
        </p:spPr>
        <p:txBody>
          <a:bodyPr/>
          <a:lstStyle/>
          <a:p>
            <a:pPr algn="ctr"/>
            <a:r>
              <a:rPr lang="it-IT" b="1" dirty="0">
                <a:effectLst>
                  <a:outerShdw blurRad="38100" dist="38100" dir="2700000" algn="tl">
                    <a:srgbClr val="000000">
                      <a:alpha val="43137"/>
                    </a:srgbClr>
                  </a:outerShdw>
                </a:effectLst>
              </a:rPr>
              <a:t>ANALYSIS 3: League </a:t>
            </a:r>
            <a:r>
              <a:rPr lang="it-IT" b="1" dirty="0" err="1">
                <a:effectLst>
                  <a:outerShdw blurRad="38100" dist="38100" dir="2700000" algn="tl">
                    <a:srgbClr val="000000">
                      <a:alpha val="43137"/>
                    </a:srgbClr>
                  </a:outerShdw>
                </a:effectLst>
              </a:rPr>
              <a:t>Bias</a:t>
            </a:r>
            <a:endParaRPr lang="it-IT" dirty="0"/>
          </a:p>
        </p:txBody>
      </p:sp>
      <p:pic>
        <p:nvPicPr>
          <p:cNvPr id="5" name="Immagine 4" descr="Immagine che contiene testo, diagramma, schermata, linea&#10;&#10;Il contenuto generato dall'IA potrebbe non essere corretto.">
            <a:extLst>
              <a:ext uri="{FF2B5EF4-FFF2-40B4-BE49-F238E27FC236}">
                <a16:creationId xmlns:a16="http://schemas.microsoft.com/office/drawing/2014/main" id="{A0DDAE68-C5FF-060A-B19D-9027A31A62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61" y="960361"/>
            <a:ext cx="2034256" cy="1439674"/>
          </a:xfrm>
          <a:prstGeom prst="rect">
            <a:avLst/>
          </a:prstGeom>
        </p:spPr>
      </p:pic>
      <p:pic>
        <p:nvPicPr>
          <p:cNvPr id="7" name="Immagine 6" descr="Immagine che contiene testo, diagramma, schermata, linea&#10;&#10;Il contenuto generato dall'IA potrebbe non essere corretto.">
            <a:extLst>
              <a:ext uri="{FF2B5EF4-FFF2-40B4-BE49-F238E27FC236}">
                <a16:creationId xmlns:a16="http://schemas.microsoft.com/office/drawing/2014/main" id="{83085272-3025-D616-01B2-E2984556B7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03705" y="957901"/>
            <a:ext cx="2537287" cy="1560540"/>
          </a:xfrm>
          <a:prstGeom prst="rect">
            <a:avLst/>
          </a:prstGeom>
        </p:spPr>
      </p:pic>
      <p:pic>
        <p:nvPicPr>
          <p:cNvPr id="9" name="Immagine 8" descr="Immagine che contiene diagramma, testo, schermata, Piano&#10;&#10;Il contenuto generato dall'IA potrebbe non essere corretto.">
            <a:extLst>
              <a:ext uri="{FF2B5EF4-FFF2-40B4-BE49-F238E27FC236}">
                <a16:creationId xmlns:a16="http://schemas.microsoft.com/office/drawing/2014/main" id="{0CCB0D33-3136-83CE-59CB-759FEF5393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48880" y="957901"/>
            <a:ext cx="2407888" cy="1480953"/>
          </a:xfrm>
          <a:prstGeom prst="rect">
            <a:avLst/>
          </a:prstGeom>
        </p:spPr>
      </p:pic>
      <p:pic>
        <p:nvPicPr>
          <p:cNvPr id="11" name="Immagine 10" descr="Immagine che contiene diagramma, Rettangolo, Piano, schermata&#10;&#10;Il contenuto generato dall'IA potrebbe non essere corretto.">
            <a:extLst>
              <a:ext uri="{FF2B5EF4-FFF2-40B4-BE49-F238E27FC236}">
                <a16:creationId xmlns:a16="http://schemas.microsoft.com/office/drawing/2014/main" id="{9E1C177F-9C32-1878-C292-E1222DFBB39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2087" y="2219964"/>
            <a:ext cx="2432720" cy="1529621"/>
          </a:xfrm>
          <a:prstGeom prst="rect">
            <a:avLst/>
          </a:prstGeom>
        </p:spPr>
      </p:pic>
      <p:pic>
        <p:nvPicPr>
          <p:cNvPr id="13" name="Immagine 12" descr="Immagine che contiene diagramma, linea, Rettangolo, schermata&#10;&#10;Il contenuto generato dall'IA potrebbe non essere corretto.">
            <a:extLst>
              <a:ext uri="{FF2B5EF4-FFF2-40B4-BE49-F238E27FC236}">
                <a16:creationId xmlns:a16="http://schemas.microsoft.com/office/drawing/2014/main" id="{7DA1FAB4-E09C-1BC7-037B-DB72C5D957D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10922" y="2195670"/>
            <a:ext cx="2337958" cy="1468162"/>
          </a:xfrm>
          <a:prstGeom prst="rect">
            <a:avLst/>
          </a:prstGeom>
        </p:spPr>
      </p:pic>
      <p:pic>
        <p:nvPicPr>
          <p:cNvPr id="15" name="Immagine 14" descr="Immagine che contiene testo, diagramma, schermata, Rettangolo&#10;&#10;Il contenuto generato dall'IA potrebbe non essere corretto.">
            <a:extLst>
              <a:ext uri="{FF2B5EF4-FFF2-40B4-BE49-F238E27FC236}">
                <a16:creationId xmlns:a16="http://schemas.microsoft.com/office/drawing/2014/main" id="{69B21B42-22B8-3C79-C35F-CDFF98AE442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3774594"/>
            <a:ext cx="2095817" cy="1437169"/>
          </a:xfrm>
          <a:prstGeom prst="rect">
            <a:avLst/>
          </a:prstGeom>
        </p:spPr>
      </p:pic>
      <p:pic>
        <p:nvPicPr>
          <p:cNvPr id="17" name="Immagine 16" descr="Immagine che contiene diagramma, testo, Piano, linea&#10;&#10;Il contenuto generato dall'IA potrebbe non essere corretto.">
            <a:extLst>
              <a:ext uri="{FF2B5EF4-FFF2-40B4-BE49-F238E27FC236}">
                <a16:creationId xmlns:a16="http://schemas.microsoft.com/office/drawing/2014/main" id="{14E37158-BD06-0158-9351-4BCDF5ABF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03705" y="3774595"/>
            <a:ext cx="2537287" cy="1305405"/>
          </a:xfrm>
          <a:prstGeom prst="rect">
            <a:avLst/>
          </a:prstGeom>
        </p:spPr>
      </p:pic>
      <p:pic>
        <p:nvPicPr>
          <p:cNvPr id="21" name="Immagine 20" descr="Immagine che contiene diagramma, testo, Piano, linea&#10;&#10;Il contenuto generato dall'IA potrebbe non essere corretto.">
            <a:extLst>
              <a:ext uri="{FF2B5EF4-FFF2-40B4-BE49-F238E27FC236}">
                <a16:creationId xmlns:a16="http://schemas.microsoft.com/office/drawing/2014/main" id="{AD9E00BE-53D3-D91C-52BE-2DB0F571CB4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448880" y="3749585"/>
            <a:ext cx="2407888" cy="1374866"/>
          </a:xfrm>
          <a:prstGeom prst="rect">
            <a:avLst/>
          </a:prstGeom>
        </p:spPr>
      </p:pic>
      <p:pic>
        <p:nvPicPr>
          <p:cNvPr id="29" name="Immagine 28" descr="Immagine che contiene diagramma, Piano, linea, testo&#10;&#10;Il contenuto generato dall'IA potrebbe non essere corretto.">
            <a:extLst>
              <a:ext uri="{FF2B5EF4-FFF2-40B4-BE49-F238E27FC236}">
                <a16:creationId xmlns:a16="http://schemas.microsoft.com/office/drawing/2014/main" id="{BA01D4E3-F075-2417-5074-8CB68780DE5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29579" y="5081441"/>
            <a:ext cx="2540364" cy="1632396"/>
          </a:xfrm>
          <a:prstGeom prst="rect">
            <a:avLst/>
          </a:prstGeom>
        </p:spPr>
      </p:pic>
      <p:pic>
        <p:nvPicPr>
          <p:cNvPr id="31" name="Immagine 30" descr="Immagine che contiene diagramma, Rettangolo, Piano, linea&#10;&#10;Il contenuto generato dall'IA potrebbe non essere corretto.">
            <a:extLst>
              <a:ext uri="{FF2B5EF4-FFF2-40B4-BE49-F238E27FC236}">
                <a16:creationId xmlns:a16="http://schemas.microsoft.com/office/drawing/2014/main" id="{DAC91074-9326-EF2E-01EF-5E08D01EC1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075956" y="5210204"/>
            <a:ext cx="2556022" cy="1480953"/>
          </a:xfrm>
          <a:prstGeom prst="rect">
            <a:avLst/>
          </a:prstGeom>
        </p:spPr>
      </p:pic>
    </p:spTree>
    <p:extLst>
      <p:ext uri="{BB962C8B-B14F-4D97-AF65-F5344CB8AC3E}">
        <p14:creationId xmlns:p14="http://schemas.microsoft.com/office/powerpoint/2010/main" val="2322716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1000" fill="hold"/>
                                        <p:tgtEl>
                                          <p:spTgt spid="9"/>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000"/>
                                        <p:tgtEl>
                                          <p:spTgt spid="11"/>
                                        </p:tgtEl>
                                      </p:cBhvr>
                                    </p:animEffect>
                                    <p:anim calcmode="lin" valueType="num">
                                      <p:cBhvr>
                                        <p:cTn id="28" dur="1000" fill="hold"/>
                                        <p:tgtEl>
                                          <p:spTgt spid="11"/>
                                        </p:tgtEl>
                                        <p:attrNameLst>
                                          <p:attrName>ppt_x</p:attrName>
                                        </p:attrNameLst>
                                      </p:cBhvr>
                                      <p:tavLst>
                                        <p:tav tm="0">
                                          <p:val>
                                            <p:strVal val="#ppt_x"/>
                                          </p:val>
                                        </p:tav>
                                        <p:tav tm="100000">
                                          <p:val>
                                            <p:strVal val="#ppt_x"/>
                                          </p:val>
                                        </p:tav>
                                      </p:tavLst>
                                    </p:anim>
                                    <p:anim calcmode="lin" valueType="num">
                                      <p:cBhvr>
                                        <p:cTn id="29" dur="1000" fill="hold"/>
                                        <p:tgtEl>
                                          <p:spTgt spid="11"/>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1000"/>
                                        <p:tgtEl>
                                          <p:spTgt spid="13"/>
                                        </p:tgtEl>
                                      </p:cBhvr>
                                    </p:animEffect>
                                    <p:anim calcmode="lin" valueType="num">
                                      <p:cBhvr>
                                        <p:cTn id="33" dur="1000" fill="hold"/>
                                        <p:tgtEl>
                                          <p:spTgt spid="13"/>
                                        </p:tgtEl>
                                        <p:attrNameLst>
                                          <p:attrName>ppt_x</p:attrName>
                                        </p:attrNameLst>
                                      </p:cBhvr>
                                      <p:tavLst>
                                        <p:tav tm="0">
                                          <p:val>
                                            <p:strVal val="#ppt_x"/>
                                          </p:val>
                                        </p:tav>
                                        <p:tav tm="100000">
                                          <p:val>
                                            <p:strVal val="#ppt_x"/>
                                          </p:val>
                                        </p:tav>
                                      </p:tavLst>
                                    </p:anim>
                                    <p:anim calcmode="lin" valueType="num">
                                      <p:cBhvr>
                                        <p:cTn id="34"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1000"/>
                                        <p:tgtEl>
                                          <p:spTgt spid="15"/>
                                        </p:tgtEl>
                                      </p:cBhvr>
                                    </p:animEffect>
                                    <p:anim calcmode="lin" valueType="num">
                                      <p:cBhvr>
                                        <p:cTn id="40" dur="1000" fill="hold"/>
                                        <p:tgtEl>
                                          <p:spTgt spid="15"/>
                                        </p:tgtEl>
                                        <p:attrNameLst>
                                          <p:attrName>ppt_x</p:attrName>
                                        </p:attrNameLst>
                                      </p:cBhvr>
                                      <p:tavLst>
                                        <p:tav tm="0">
                                          <p:val>
                                            <p:strVal val="#ppt_x"/>
                                          </p:val>
                                        </p:tav>
                                        <p:tav tm="100000">
                                          <p:val>
                                            <p:strVal val="#ppt_x"/>
                                          </p:val>
                                        </p:tav>
                                      </p:tavLst>
                                    </p:anim>
                                    <p:anim calcmode="lin" valueType="num">
                                      <p:cBhvr>
                                        <p:cTn id="41" dur="1000" fill="hold"/>
                                        <p:tgtEl>
                                          <p:spTgt spid="15"/>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1000"/>
                                        <p:tgtEl>
                                          <p:spTgt spid="17"/>
                                        </p:tgtEl>
                                      </p:cBhvr>
                                    </p:animEffect>
                                    <p:anim calcmode="lin" valueType="num">
                                      <p:cBhvr>
                                        <p:cTn id="45" dur="1000" fill="hold"/>
                                        <p:tgtEl>
                                          <p:spTgt spid="17"/>
                                        </p:tgtEl>
                                        <p:attrNameLst>
                                          <p:attrName>ppt_x</p:attrName>
                                        </p:attrNameLst>
                                      </p:cBhvr>
                                      <p:tavLst>
                                        <p:tav tm="0">
                                          <p:val>
                                            <p:strVal val="#ppt_x"/>
                                          </p:val>
                                        </p:tav>
                                        <p:tav tm="100000">
                                          <p:val>
                                            <p:strVal val="#ppt_x"/>
                                          </p:val>
                                        </p:tav>
                                      </p:tavLst>
                                    </p:anim>
                                    <p:anim calcmode="lin" valueType="num">
                                      <p:cBhvr>
                                        <p:cTn id="46" dur="1000" fill="hold"/>
                                        <p:tgtEl>
                                          <p:spTgt spid="17"/>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1000"/>
                                        <p:tgtEl>
                                          <p:spTgt spid="21"/>
                                        </p:tgtEl>
                                      </p:cBhvr>
                                    </p:animEffect>
                                    <p:anim calcmode="lin" valueType="num">
                                      <p:cBhvr>
                                        <p:cTn id="50" dur="1000" fill="hold"/>
                                        <p:tgtEl>
                                          <p:spTgt spid="21"/>
                                        </p:tgtEl>
                                        <p:attrNameLst>
                                          <p:attrName>ppt_x</p:attrName>
                                        </p:attrNameLst>
                                      </p:cBhvr>
                                      <p:tavLst>
                                        <p:tav tm="0">
                                          <p:val>
                                            <p:strVal val="#ppt_x"/>
                                          </p:val>
                                        </p:tav>
                                        <p:tav tm="100000">
                                          <p:val>
                                            <p:strVal val="#ppt_x"/>
                                          </p:val>
                                        </p:tav>
                                      </p:tavLst>
                                    </p:anim>
                                    <p:anim calcmode="lin" valueType="num">
                                      <p:cBhvr>
                                        <p:cTn id="51" dur="1000" fill="hold"/>
                                        <p:tgtEl>
                                          <p:spTgt spid="2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1000"/>
                                        <p:tgtEl>
                                          <p:spTgt spid="29"/>
                                        </p:tgtEl>
                                      </p:cBhvr>
                                    </p:animEffect>
                                    <p:anim calcmode="lin" valueType="num">
                                      <p:cBhvr>
                                        <p:cTn id="55" dur="1000" fill="hold"/>
                                        <p:tgtEl>
                                          <p:spTgt spid="29"/>
                                        </p:tgtEl>
                                        <p:attrNameLst>
                                          <p:attrName>ppt_x</p:attrName>
                                        </p:attrNameLst>
                                      </p:cBhvr>
                                      <p:tavLst>
                                        <p:tav tm="0">
                                          <p:val>
                                            <p:strVal val="#ppt_x"/>
                                          </p:val>
                                        </p:tav>
                                        <p:tav tm="100000">
                                          <p:val>
                                            <p:strVal val="#ppt_x"/>
                                          </p:val>
                                        </p:tav>
                                      </p:tavLst>
                                    </p:anim>
                                    <p:anim calcmode="lin" valueType="num">
                                      <p:cBhvr>
                                        <p:cTn id="56" dur="1000" fill="hold"/>
                                        <p:tgtEl>
                                          <p:spTgt spid="29"/>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1000"/>
                                        <p:tgtEl>
                                          <p:spTgt spid="31"/>
                                        </p:tgtEl>
                                      </p:cBhvr>
                                    </p:animEffect>
                                    <p:anim calcmode="lin" valueType="num">
                                      <p:cBhvr>
                                        <p:cTn id="60" dur="1000" fill="hold"/>
                                        <p:tgtEl>
                                          <p:spTgt spid="31"/>
                                        </p:tgtEl>
                                        <p:attrNameLst>
                                          <p:attrName>ppt_x</p:attrName>
                                        </p:attrNameLst>
                                      </p:cBhvr>
                                      <p:tavLst>
                                        <p:tav tm="0">
                                          <p:val>
                                            <p:strVal val="#ppt_x"/>
                                          </p:val>
                                        </p:tav>
                                        <p:tav tm="100000">
                                          <p:val>
                                            <p:strVal val="#ppt_x"/>
                                          </p:val>
                                        </p:tav>
                                      </p:tavLst>
                                    </p:anim>
                                    <p:anim calcmode="lin" valueType="num">
                                      <p:cBhvr>
                                        <p:cTn id="61" dur="10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6FE7BA-7173-7E0D-F89F-757E3C4E437E}"/>
              </a:ext>
            </a:extLst>
          </p:cNvPr>
          <p:cNvSpPr>
            <a:spLocks noGrp="1"/>
          </p:cNvSpPr>
          <p:nvPr>
            <p:ph type="title"/>
          </p:nvPr>
        </p:nvSpPr>
        <p:spPr>
          <a:xfrm>
            <a:off x="838200" y="18255"/>
            <a:ext cx="10515600" cy="1325563"/>
          </a:xfrm>
        </p:spPr>
        <p:txBody>
          <a:bodyPr>
            <a:normAutofit fontScale="90000"/>
          </a:bodyPr>
          <a:lstStyle/>
          <a:p>
            <a:pPr algn="ctr"/>
            <a:r>
              <a:rPr lang="it-IT" b="1" dirty="0">
                <a:effectLst>
                  <a:outerShdw blurRad="38100" dist="38100" dir="2700000" algn="tl">
                    <a:srgbClr val="000000">
                      <a:alpha val="43137"/>
                    </a:srgbClr>
                  </a:outerShdw>
                </a:effectLst>
              </a:rPr>
              <a:t>ANALYSIS 4: </a:t>
            </a:r>
            <a:r>
              <a:rPr lang="en-US" b="1" dirty="0">
                <a:effectLst>
                  <a:outerShdw blurRad="38100" dist="38100" dir="2700000" algn="tl">
                    <a:srgbClr val="000000">
                      <a:alpha val="43137"/>
                    </a:srgbClr>
                  </a:outerShdw>
                </a:effectLst>
              </a:rPr>
              <a:t>Market Value Evolution Over Time</a:t>
            </a:r>
            <a:br>
              <a:rPr lang="en-US" b="1" dirty="0">
                <a:effectLst>
                  <a:outerShdw blurRad="38100" dist="38100" dir="2700000" algn="tl">
                    <a:srgbClr val="000000">
                      <a:alpha val="43137"/>
                    </a:srgbClr>
                  </a:outerShdw>
                </a:effectLst>
              </a:rPr>
            </a:br>
            <a:endParaRPr lang="it-IT" b="1" dirty="0">
              <a:effectLst>
                <a:outerShdw blurRad="38100" dist="38100" dir="2700000" algn="tl">
                  <a:srgbClr val="000000">
                    <a:alpha val="43137"/>
                  </a:srgbClr>
                </a:outerShdw>
              </a:effectLst>
            </a:endParaRPr>
          </a:p>
        </p:txBody>
      </p:sp>
      <p:sp>
        <p:nvSpPr>
          <p:cNvPr id="4" name="CasellaDiTesto 3">
            <a:extLst>
              <a:ext uri="{FF2B5EF4-FFF2-40B4-BE49-F238E27FC236}">
                <a16:creationId xmlns:a16="http://schemas.microsoft.com/office/drawing/2014/main" id="{F718D765-DF15-A3D7-312C-0AEC2901F9F8}"/>
              </a:ext>
            </a:extLst>
          </p:cNvPr>
          <p:cNvSpPr txBox="1"/>
          <p:nvPr/>
        </p:nvSpPr>
        <p:spPr>
          <a:xfrm>
            <a:off x="0" y="768350"/>
            <a:ext cx="12192000" cy="646331"/>
          </a:xfrm>
          <a:prstGeom prst="rect">
            <a:avLst/>
          </a:prstGeom>
          <a:noFill/>
        </p:spPr>
        <p:txBody>
          <a:bodyPr wrap="square" rtlCol="0">
            <a:spAutoFit/>
          </a:bodyPr>
          <a:lstStyle/>
          <a:p>
            <a:r>
              <a:rPr lang="it-IT" b="1" dirty="0"/>
              <a:t>Goal</a:t>
            </a:r>
            <a:r>
              <a:rPr lang="it-IT" dirty="0"/>
              <a:t>: </a:t>
            </a:r>
            <a:r>
              <a:rPr lang="en-US" sz="1600" dirty="0"/>
              <a:t>Understand how player value changed from 2018 to 2024</a:t>
            </a:r>
            <a:endParaRPr lang="en-US" dirty="0"/>
          </a:p>
          <a:p>
            <a:endParaRPr lang="it-IT" dirty="0"/>
          </a:p>
        </p:txBody>
      </p:sp>
      <p:sp>
        <p:nvSpPr>
          <p:cNvPr id="5" name="CasellaDiTesto 4">
            <a:extLst>
              <a:ext uri="{FF2B5EF4-FFF2-40B4-BE49-F238E27FC236}">
                <a16:creationId xmlns:a16="http://schemas.microsoft.com/office/drawing/2014/main" id="{75B7A084-B43C-02AE-C160-4F24FC65B630}"/>
              </a:ext>
            </a:extLst>
          </p:cNvPr>
          <p:cNvSpPr txBox="1"/>
          <p:nvPr/>
        </p:nvSpPr>
        <p:spPr>
          <a:xfrm>
            <a:off x="0" y="1162050"/>
            <a:ext cx="12192000" cy="1200329"/>
          </a:xfrm>
          <a:prstGeom prst="rect">
            <a:avLst/>
          </a:prstGeom>
          <a:noFill/>
        </p:spPr>
        <p:txBody>
          <a:bodyPr wrap="square" rtlCol="0">
            <a:spAutoFit/>
          </a:bodyPr>
          <a:lstStyle/>
          <a:p>
            <a:r>
              <a:rPr lang="it-IT" b="1" dirty="0"/>
              <a:t>Method: </a:t>
            </a:r>
          </a:p>
          <a:p>
            <a:pPr marL="1200150" lvl="2" indent="-285750">
              <a:buFont typeface="Arial" panose="020B0604020202020204" pitchFamily="34" charset="0"/>
              <a:buChar char="•"/>
            </a:pPr>
            <a:r>
              <a:rPr lang="en-US" dirty="0"/>
              <a:t>Aggregated value per season and role</a:t>
            </a:r>
          </a:p>
          <a:p>
            <a:pPr marL="1200150" lvl="2" indent="-285750">
              <a:buFont typeface="Arial" panose="020B0604020202020204" pitchFamily="34" charset="0"/>
              <a:buChar char="•"/>
            </a:pPr>
            <a:r>
              <a:rPr lang="en-US" dirty="0"/>
              <a:t>Boxplots and line charts by year</a:t>
            </a:r>
          </a:p>
          <a:p>
            <a:pPr marL="1200150" lvl="2" indent="-285750">
              <a:buFont typeface="Arial" panose="020B0604020202020204" pitchFamily="34" charset="0"/>
              <a:buChar char="•"/>
            </a:pPr>
            <a:r>
              <a:rPr lang="en-US" dirty="0"/>
              <a:t>Regression on seasonal fixed effects</a:t>
            </a:r>
          </a:p>
        </p:txBody>
      </p:sp>
      <p:pic>
        <p:nvPicPr>
          <p:cNvPr id="7" name="Immagine 6" descr="Immagine che contiene diagramma, linea, schermata, Rettangolo&#10;&#10;Il contenuto generato dall'IA potrebbe non essere corretto.">
            <a:extLst>
              <a:ext uri="{FF2B5EF4-FFF2-40B4-BE49-F238E27FC236}">
                <a16:creationId xmlns:a16="http://schemas.microsoft.com/office/drawing/2014/main" id="{323CAE4F-ACCB-9691-785F-7C2301086D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3289295"/>
            <a:ext cx="2355850" cy="1714505"/>
          </a:xfrm>
          <a:prstGeom prst="rect">
            <a:avLst/>
          </a:prstGeom>
        </p:spPr>
      </p:pic>
      <p:pic>
        <p:nvPicPr>
          <p:cNvPr id="9" name="Immagine 8" descr="Immagine che contiene linea, testo, diagramma, Diagramma&#10;&#10;Il contenuto generato dall'IA potrebbe non essere corretto.">
            <a:extLst>
              <a:ext uri="{FF2B5EF4-FFF2-40B4-BE49-F238E27FC236}">
                <a16:creationId xmlns:a16="http://schemas.microsoft.com/office/drawing/2014/main" id="{BD89A8A1-DE2D-AFB8-0764-27C2E30198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5003800"/>
            <a:ext cx="2355850" cy="1722442"/>
          </a:xfrm>
          <a:prstGeom prst="rect">
            <a:avLst/>
          </a:prstGeom>
        </p:spPr>
      </p:pic>
      <p:pic>
        <p:nvPicPr>
          <p:cNvPr id="11" name="Immagine 10">
            <a:extLst>
              <a:ext uri="{FF2B5EF4-FFF2-40B4-BE49-F238E27FC236}">
                <a16:creationId xmlns:a16="http://schemas.microsoft.com/office/drawing/2014/main" id="{9F92DA2D-BE1C-03A4-3FB6-97DBE78757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82843" y="5003800"/>
            <a:ext cx="2762257" cy="1726411"/>
          </a:xfrm>
          <a:prstGeom prst="rect">
            <a:avLst/>
          </a:prstGeom>
        </p:spPr>
      </p:pic>
      <p:pic>
        <p:nvPicPr>
          <p:cNvPr id="13" name="Immagine 12" descr="Immagine che contiene diagramma, testo, schermata, linea&#10;&#10;Il contenuto generato dall'IA potrebbe non essere corretto.">
            <a:extLst>
              <a:ext uri="{FF2B5EF4-FFF2-40B4-BE49-F238E27FC236}">
                <a16:creationId xmlns:a16="http://schemas.microsoft.com/office/drawing/2014/main" id="{2DCD4E37-6152-3E3B-2777-1093A7F62E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82842" y="3289295"/>
            <a:ext cx="2762257" cy="1755775"/>
          </a:xfrm>
          <a:prstGeom prst="rect">
            <a:avLst/>
          </a:prstGeom>
        </p:spPr>
      </p:pic>
      <p:pic>
        <p:nvPicPr>
          <p:cNvPr id="15" name="Immagine 14">
            <a:extLst>
              <a:ext uri="{FF2B5EF4-FFF2-40B4-BE49-F238E27FC236}">
                <a16:creationId xmlns:a16="http://schemas.microsoft.com/office/drawing/2014/main" id="{4381D865-7858-C8B6-D190-172C4CDF7F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14940" y="4999831"/>
            <a:ext cx="2692416" cy="1726411"/>
          </a:xfrm>
          <a:prstGeom prst="rect">
            <a:avLst/>
          </a:prstGeom>
        </p:spPr>
      </p:pic>
      <p:pic>
        <p:nvPicPr>
          <p:cNvPr id="17" name="Immagine 16" descr="Immagine che contiene diagramma, linea, Rettangolo, schermata&#10;&#10;Il contenuto generato dall'IA potrebbe non essere corretto.">
            <a:extLst>
              <a:ext uri="{FF2B5EF4-FFF2-40B4-BE49-F238E27FC236}">
                <a16:creationId xmlns:a16="http://schemas.microsoft.com/office/drawing/2014/main" id="{DB960698-3A79-FB4E-15B0-4CC149A926D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245099" y="3289295"/>
            <a:ext cx="2762257" cy="1714505"/>
          </a:xfrm>
          <a:prstGeom prst="rect">
            <a:avLst/>
          </a:prstGeom>
        </p:spPr>
      </p:pic>
      <p:sp>
        <p:nvSpPr>
          <p:cNvPr id="18" name="Freccia a destra 17">
            <a:extLst>
              <a:ext uri="{FF2B5EF4-FFF2-40B4-BE49-F238E27FC236}">
                <a16:creationId xmlns:a16="http://schemas.microsoft.com/office/drawing/2014/main" id="{28E77AAB-5225-7911-8B08-F7F2181030B8}"/>
              </a:ext>
            </a:extLst>
          </p:cNvPr>
          <p:cNvSpPr/>
          <p:nvPr/>
        </p:nvSpPr>
        <p:spPr>
          <a:xfrm>
            <a:off x="8099426" y="4757515"/>
            <a:ext cx="850895"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20" name="Immagine 19" descr="Immagine che contiene linea, diagramma, Diagramma, testo&#10;&#10;Il contenuto generato dall'IA potrebbe non essere corretto.">
            <a:extLst>
              <a:ext uri="{FF2B5EF4-FFF2-40B4-BE49-F238E27FC236}">
                <a16:creationId xmlns:a16="http://schemas.microsoft.com/office/drawing/2014/main" id="{374EB61F-AE50-377D-D9A5-00467C5AADC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042391" y="5045070"/>
            <a:ext cx="2914659" cy="1681172"/>
          </a:xfrm>
          <a:prstGeom prst="rect">
            <a:avLst/>
          </a:prstGeom>
        </p:spPr>
      </p:pic>
      <p:pic>
        <p:nvPicPr>
          <p:cNvPr id="22" name="Immagine 21" descr="Immagine che contiene diagramma, testo, linea, Rettangolo&#10;&#10;Il contenuto generato dall'IA potrebbe non essere corretto.">
            <a:extLst>
              <a:ext uri="{FF2B5EF4-FFF2-40B4-BE49-F238E27FC236}">
                <a16:creationId xmlns:a16="http://schemas.microsoft.com/office/drawing/2014/main" id="{285DA012-E290-65FA-8EAE-3B0981D1711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042391" y="3289294"/>
            <a:ext cx="2914660" cy="1755775"/>
          </a:xfrm>
          <a:prstGeom prst="rect">
            <a:avLst/>
          </a:prstGeom>
        </p:spPr>
      </p:pic>
    </p:spTree>
    <p:extLst>
      <p:ext uri="{BB962C8B-B14F-4D97-AF65-F5344CB8AC3E}">
        <p14:creationId xmlns:p14="http://schemas.microsoft.com/office/powerpoint/2010/main" val="325036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1000"/>
                                        <p:tgtEl>
                                          <p:spTgt spid="9"/>
                                        </p:tgtEl>
                                      </p:cBhvr>
                                    </p:animEffect>
                                    <p:anim calcmode="lin" valueType="num">
                                      <p:cBhvr>
                                        <p:cTn id="30" dur="1000" fill="hold"/>
                                        <p:tgtEl>
                                          <p:spTgt spid="9"/>
                                        </p:tgtEl>
                                        <p:attrNameLst>
                                          <p:attrName>ppt_x</p:attrName>
                                        </p:attrNameLst>
                                      </p:cBhvr>
                                      <p:tavLst>
                                        <p:tav tm="0">
                                          <p:val>
                                            <p:strVal val="#ppt_x"/>
                                          </p:val>
                                        </p:tav>
                                        <p:tav tm="100000">
                                          <p:val>
                                            <p:strVal val="#ppt_x"/>
                                          </p:val>
                                        </p:tav>
                                      </p:tavLst>
                                    </p:anim>
                                    <p:anim calcmode="lin" valueType="num">
                                      <p:cBhvr>
                                        <p:cTn id="31"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1000"/>
                                        <p:tgtEl>
                                          <p:spTgt spid="13"/>
                                        </p:tgtEl>
                                      </p:cBhvr>
                                    </p:animEffect>
                                    <p:anim calcmode="lin" valueType="num">
                                      <p:cBhvr>
                                        <p:cTn id="37" dur="1000" fill="hold"/>
                                        <p:tgtEl>
                                          <p:spTgt spid="13"/>
                                        </p:tgtEl>
                                        <p:attrNameLst>
                                          <p:attrName>ppt_x</p:attrName>
                                        </p:attrNameLst>
                                      </p:cBhvr>
                                      <p:tavLst>
                                        <p:tav tm="0">
                                          <p:val>
                                            <p:strVal val="#ppt_x"/>
                                          </p:val>
                                        </p:tav>
                                        <p:tav tm="100000">
                                          <p:val>
                                            <p:strVal val="#ppt_x"/>
                                          </p:val>
                                        </p:tav>
                                      </p:tavLst>
                                    </p:anim>
                                    <p:anim calcmode="lin" valueType="num">
                                      <p:cBhvr>
                                        <p:cTn id="38" dur="10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1000"/>
                                        <p:tgtEl>
                                          <p:spTgt spid="11"/>
                                        </p:tgtEl>
                                      </p:cBhvr>
                                    </p:animEffect>
                                    <p:anim calcmode="lin" valueType="num">
                                      <p:cBhvr>
                                        <p:cTn id="42" dur="1000" fill="hold"/>
                                        <p:tgtEl>
                                          <p:spTgt spid="11"/>
                                        </p:tgtEl>
                                        <p:attrNameLst>
                                          <p:attrName>ppt_x</p:attrName>
                                        </p:attrNameLst>
                                      </p:cBhvr>
                                      <p:tavLst>
                                        <p:tav tm="0">
                                          <p:val>
                                            <p:strVal val="#ppt_x"/>
                                          </p:val>
                                        </p:tav>
                                        <p:tav tm="100000">
                                          <p:val>
                                            <p:strVal val="#ppt_x"/>
                                          </p:val>
                                        </p:tav>
                                      </p:tavLst>
                                    </p:anim>
                                    <p:anim calcmode="lin" valueType="num">
                                      <p:cBhvr>
                                        <p:cTn id="4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1000"/>
                                        <p:tgtEl>
                                          <p:spTgt spid="17"/>
                                        </p:tgtEl>
                                      </p:cBhvr>
                                    </p:animEffect>
                                    <p:anim calcmode="lin" valueType="num">
                                      <p:cBhvr>
                                        <p:cTn id="49" dur="1000" fill="hold"/>
                                        <p:tgtEl>
                                          <p:spTgt spid="17"/>
                                        </p:tgtEl>
                                        <p:attrNameLst>
                                          <p:attrName>ppt_x</p:attrName>
                                        </p:attrNameLst>
                                      </p:cBhvr>
                                      <p:tavLst>
                                        <p:tav tm="0">
                                          <p:val>
                                            <p:strVal val="#ppt_x"/>
                                          </p:val>
                                        </p:tav>
                                        <p:tav tm="100000">
                                          <p:val>
                                            <p:strVal val="#ppt_x"/>
                                          </p:val>
                                        </p:tav>
                                      </p:tavLst>
                                    </p:anim>
                                    <p:anim calcmode="lin" valueType="num">
                                      <p:cBhvr>
                                        <p:cTn id="50" dur="1000" fill="hold"/>
                                        <p:tgtEl>
                                          <p:spTgt spid="17"/>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1000"/>
                                        <p:tgtEl>
                                          <p:spTgt spid="15"/>
                                        </p:tgtEl>
                                      </p:cBhvr>
                                    </p:animEffect>
                                    <p:anim calcmode="lin" valueType="num">
                                      <p:cBhvr>
                                        <p:cTn id="54" dur="1000" fill="hold"/>
                                        <p:tgtEl>
                                          <p:spTgt spid="15"/>
                                        </p:tgtEl>
                                        <p:attrNameLst>
                                          <p:attrName>ppt_x</p:attrName>
                                        </p:attrNameLst>
                                      </p:cBhvr>
                                      <p:tavLst>
                                        <p:tav tm="0">
                                          <p:val>
                                            <p:strVal val="#ppt_x"/>
                                          </p:val>
                                        </p:tav>
                                        <p:tav tm="100000">
                                          <p:val>
                                            <p:strVal val="#ppt_x"/>
                                          </p:val>
                                        </p:tav>
                                      </p:tavLst>
                                    </p:anim>
                                    <p:anim calcmode="lin" valueType="num">
                                      <p:cBhvr>
                                        <p:cTn id="55"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22" presetClass="entr" presetSubtype="4" fill="hold" grpId="0" nodeType="click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down)">
                                      <p:cBhvr>
                                        <p:cTn id="60" dur="500"/>
                                        <p:tgtEl>
                                          <p:spTgt spid="18"/>
                                        </p:tgtEl>
                                      </p:cBhvr>
                                    </p:animEffect>
                                  </p:childTnLst>
                                </p:cTn>
                              </p:par>
                              <p:par>
                                <p:cTn id="61" presetID="22" presetClass="entr" presetSubtype="4"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wipe(down)">
                                      <p:cBhvr>
                                        <p:cTn id="63" dur="500"/>
                                        <p:tgtEl>
                                          <p:spTgt spid="22"/>
                                        </p:tgtEl>
                                      </p:cBhvr>
                                    </p:animEffect>
                                  </p:childTnLst>
                                </p:cTn>
                              </p:par>
                              <p:par>
                                <p:cTn id="64" presetID="22" presetClass="entr" presetSubtype="4" fill="hold"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down)">
                                      <p:cBhvr>
                                        <p:cTn id="6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B957B0-D6C6-4577-8B7A-7AE6F9A32809}"/>
              </a:ext>
            </a:extLst>
          </p:cNvPr>
          <p:cNvSpPr>
            <a:spLocks noGrp="1"/>
          </p:cNvSpPr>
          <p:nvPr>
            <p:ph type="title"/>
          </p:nvPr>
        </p:nvSpPr>
        <p:spPr>
          <a:xfrm>
            <a:off x="0" y="0"/>
            <a:ext cx="12192000" cy="1325563"/>
          </a:xfrm>
        </p:spPr>
        <p:txBody>
          <a:bodyPr/>
          <a:lstStyle/>
          <a:p>
            <a:pPr algn="ctr"/>
            <a:r>
              <a:rPr lang="it-IT" b="1" dirty="0">
                <a:effectLst>
                  <a:outerShdw blurRad="38100" dist="38100" dir="2700000" algn="tl">
                    <a:srgbClr val="000000">
                      <a:alpha val="43137"/>
                    </a:srgbClr>
                  </a:outerShdw>
                </a:effectLst>
              </a:rPr>
              <a:t>ANALYSIS 5: ROLE-BASED MARKET MODELING</a:t>
            </a:r>
          </a:p>
        </p:txBody>
      </p:sp>
      <p:sp>
        <p:nvSpPr>
          <p:cNvPr id="4" name="CasellaDiTesto 3">
            <a:extLst>
              <a:ext uri="{FF2B5EF4-FFF2-40B4-BE49-F238E27FC236}">
                <a16:creationId xmlns:a16="http://schemas.microsoft.com/office/drawing/2014/main" id="{A74517DD-A4B6-DD29-7A71-2AA7C31E040A}"/>
              </a:ext>
            </a:extLst>
          </p:cNvPr>
          <p:cNvSpPr txBox="1"/>
          <p:nvPr/>
        </p:nvSpPr>
        <p:spPr>
          <a:xfrm>
            <a:off x="0" y="1002397"/>
            <a:ext cx="12192000" cy="646331"/>
          </a:xfrm>
          <a:prstGeom prst="rect">
            <a:avLst/>
          </a:prstGeom>
          <a:noFill/>
        </p:spPr>
        <p:txBody>
          <a:bodyPr wrap="square" rtlCol="0">
            <a:spAutoFit/>
          </a:bodyPr>
          <a:lstStyle/>
          <a:p>
            <a:r>
              <a:rPr lang="it-IT" b="1" dirty="0"/>
              <a:t>Goal</a:t>
            </a:r>
            <a:r>
              <a:rPr lang="it-IT" dirty="0"/>
              <a:t>: </a:t>
            </a:r>
            <a:r>
              <a:rPr lang="it-IT" sz="1600" dirty="0"/>
              <a:t>Model </a:t>
            </a:r>
            <a:r>
              <a:rPr lang="it-IT" sz="1600" dirty="0" err="1"/>
              <a:t>value</a:t>
            </a:r>
            <a:r>
              <a:rPr lang="it-IT" sz="1600" dirty="0"/>
              <a:t> per </a:t>
            </a:r>
            <a:r>
              <a:rPr lang="it-IT" sz="1600" dirty="0" err="1"/>
              <a:t>role</a:t>
            </a:r>
            <a:r>
              <a:rPr lang="it-IT" sz="1600" dirty="0"/>
              <a:t> and </a:t>
            </a:r>
            <a:r>
              <a:rPr lang="it-IT" sz="1600" dirty="0" err="1"/>
              <a:t>quantify</a:t>
            </a:r>
            <a:r>
              <a:rPr lang="it-IT" sz="1600" dirty="0"/>
              <a:t> </a:t>
            </a:r>
            <a:r>
              <a:rPr lang="it-IT" sz="1600" dirty="0" err="1"/>
              <a:t>positional</a:t>
            </a:r>
            <a:r>
              <a:rPr lang="it-IT" sz="1600" dirty="0"/>
              <a:t> </a:t>
            </a:r>
            <a:r>
              <a:rPr lang="it-IT" sz="1600" dirty="0" err="1"/>
              <a:t>bias</a:t>
            </a:r>
            <a:endParaRPr lang="it-IT" sz="1600" dirty="0"/>
          </a:p>
          <a:p>
            <a:endParaRPr lang="it-IT" dirty="0"/>
          </a:p>
        </p:txBody>
      </p:sp>
      <p:sp>
        <p:nvSpPr>
          <p:cNvPr id="5" name="CasellaDiTesto 4">
            <a:extLst>
              <a:ext uri="{FF2B5EF4-FFF2-40B4-BE49-F238E27FC236}">
                <a16:creationId xmlns:a16="http://schemas.microsoft.com/office/drawing/2014/main" id="{22EEFFD6-62FC-455D-5B62-D08456EFA21E}"/>
              </a:ext>
            </a:extLst>
          </p:cNvPr>
          <p:cNvSpPr txBox="1"/>
          <p:nvPr/>
        </p:nvSpPr>
        <p:spPr>
          <a:xfrm>
            <a:off x="0" y="1384300"/>
            <a:ext cx="12192000" cy="861774"/>
          </a:xfrm>
          <a:prstGeom prst="rect">
            <a:avLst/>
          </a:prstGeom>
          <a:noFill/>
        </p:spPr>
        <p:txBody>
          <a:bodyPr wrap="square" rtlCol="0">
            <a:spAutoFit/>
          </a:bodyPr>
          <a:lstStyle/>
          <a:p>
            <a:r>
              <a:rPr lang="it-IT" b="1" dirty="0"/>
              <a:t>Method</a:t>
            </a:r>
            <a:r>
              <a:rPr lang="it-IT" dirty="0"/>
              <a:t>: </a:t>
            </a:r>
          </a:p>
          <a:p>
            <a:pPr marL="1200150" lvl="2" indent="-285750">
              <a:buFont typeface="Arial" panose="020B0604020202020204" pitchFamily="34" charset="0"/>
              <a:buChar char="•"/>
            </a:pPr>
            <a:r>
              <a:rPr lang="en-US" sz="1600" dirty="0"/>
              <a:t>Regressed value on metrics separately for each role</a:t>
            </a:r>
          </a:p>
          <a:p>
            <a:pPr marL="1200150" lvl="2" indent="-285750">
              <a:buFont typeface="Arial" panose="020B0604020202020204" pitchFamily="34" charset="0"/>
              <a:buChar char="•"/>
            </a:pPr>
            <a:r>
              <a:rPr lang="en-US" sz="1600" dirty="0"/>
              <a:t>Collected intercepts and R² to compare baselines</a:t>
            </a:r>
          </a:p>
        </p:txBody>
      </p:sp>
      <p:sp>
        <p:nvSpPr>
          <p:cNvPr id="6" name="CasellaDiTesto 5">
            <a:extLst>
              <a:ext uri="{FF2B5EF4-FFF2-40B4-BE49-F238E27FC236}">
                <a16:creationId xmlns:a16="http://schemas.microsoft.com/office/drawing/2014/main" id="{33C204F6-7B78-EB24-6CE5-882743CCB930}"/>
              </a:ext>
            </a:extLst>
          </p:cNvPr>
          <p:cNvSpPr txBox="1"/>
          <p:nvPr/>
        </p:nvSpPr>
        <p:spPr>
          <a:xfrm>
            <a:off x="0" y="2393950"/>
            <a:ext cx="12192000" cy="1384995"/>
          </a:xfrm>
          <a:prstGeom prst="rect">
            <a:avLst/>
          </a:prstGeom>
          <a:noFill/>
        </p:spPr>
        <p:txBody>
          <a:bodyPr wrap="square" rtlCol="0">
            <a:spAutoFit/>
          </a:bodyPr>
          <a:lstStyle/>
          <a:p>
            <a:r>
              <a:rPr lang="en-US" b="1" dirty="0"/>
              <a:t>Note</a:t>
            </a:r>
            <a:r>
              <a:rPr lang="en-US" dirty="0"/>
              <a:t>: </a:t>
            </a:r>
          </a:p>
          <a:p>
            <a:pPr marL="1200150" lvl="2" indent="-285750">
              <a:buFont typeface="Arial" panose="020B0604020202020204" pitchFamily="34" charset="0"/>
              <a:buChar char="•"/>
            </a:pPr>
            <a:r>
              <a:rPr lang="en-US" sz="1600" dirty="0"/>
              <a:t>Intercept shows base market value for the role</a:t>
            </a:r>
          </a:p>
          <a:p>
            <a:pPr marL="1200150" lvl="2" indent="-285750">
              <a:buFont typeface="Arial" panose="020B0604020202020204" pitchFamily="34" charset="0"/>
              <a:buChar char="•"/>
            </a:pPr>
            <a:r>
              <a:rPr lang="en-US" sz="1600" dirty="0"/>
              <a:t>R² indicates how well role-specific metrics explain value</a:t>
            </a:r>
          </a:p>
          <a:p>
            <a:pPr marL="1200150" lvl="2" indent="-285750">
              <a:buFont typeface="Arial" panose="020B0604020202020204" pitchFamily="34" charset="0"/>
              <a:buChar char="•"/>
            </a:pPr>
            <a:endParaRPr lang="en-US" sz="1600" dirty="0"/>
          </a:p>
          <a:p>
            <a:endParaRPr lang="it-IT" dirty="0"/>
          </a:p>
        </p:txBody>
      </p:sp>
      <p:pic>
        <p:nvPicPr>
          <p:cNvPr id="8" name="Immagine 7" descr="Immagine che contiene testo, schermata, diagramma, Rettangolo&#10;&#10;Il contenuto generato dall'IA potrebbe non essere corretto.">
            <a:extLst>
              <a:ext uri="{FF2B5EF4-FFF2-40B4-BE49-F238E27FC236}">
                <a16:creationId xmlns:a16="http://schemas.microsoft.com/office/drawing/2014/main" id="{D353652C-0BE9-DE28-DDEB-5B3D3356A7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7245" y="3613146"/>
            <a:ext cx="4229106" cy="3014136"/>
          </a:xfrm>
          <a:prstGeom prst="rect">
            <a:avLst/>
          </a:prstGeom>
        </p:spPr>
      </p:pic>
      <p:pic>
        <p:nvPicPr>
          <p:cNvPr id="10" name="Immagine 9" descr="Immagine che contiene testo, schermata, diagramma, linea&#10;&#10;Il contenuto generato dall'IA potrebbe non essere corretto.">
            <a:extLst>
              <a:ext uri="{FF2B5EF4-FFF2-40B4-BE49-F238E27FC236}">
                <a16:creationId xmlns:a16="http://schemas.microsoft.com/office/drawing/2014/main" id="{DD7BF081-41D2-CE21-9B21-BC6E059856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795" y="3613146"/>
            <a:ext cx="4521205" cy="3014136"/>
          </a:xfrm>
          <a:prstGeom prst="rect">
            <a:avLst/>
          </a:prstGeom>
        </p:spPr>
      </p:pic>
    </p:spTree>
    <p:extLst>
      <p:ext uri="{BB962C8B-B14F-4D97-AF65-F5344CB8AC3E}">
        <p14:creationId xmlns:p14="http://schemas.microsoft.com/office/powerpoint/2010/main" val="426593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ppt_x</p:attrName>
                                        </p:attrNameLst>
                                      </p:cBhvr>
                                      <p:tavLst>
                                        <p:tav tm="0">
                                          <p:val>
                                            <p:strVal val="#ppt_x"/>
                                          </p:val>
                                        </p:tav>
                                        <p:tav tm="100000">
                                          <p:val>
                                            <p:strVal val="#ppt_x"/>
                                          </p:val>
                                        </p:tav>
                                      </p:tavLst>
                                    </p:anim>
                                    <p:anim calcmode="lin" valueType="num">
                                      <p:cBhvr>
                                        <p:cTn id="3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2095C61-115A-30FF-7F0C-068D0F3F9AF0}"/>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CONCLUSIONS</a:t>
            </a:r>
          </a:p>
        </p:txBody>
      </p:sp>
      <p:sp>
        <p:nvSpPr>
          <p:cNvPr id="4" name="CasellaDiTesto 3">
            <a:extLst>
              <a:ext uri="{FF2B5EF4-FFF2-40B4-BE49-F238E27FC236}">
                <a16:creationId xmlns:a16="http://schemas.microsoft.com/office/drawing/2014/main" id="{09833C59-AD81-D293-6552-CD9030A5B020}"/>
              </a:ext>
            </a:extLst>
          </p:cNvPr>
          <p:cNvSpPr txBox="1"/>
          <p:nvPr/>
        </p:nvSpPr>
        <p:spPr>
          <a:xfrm>
            <a:off x="0" y="1168400"/>
            <a:ext cx="12192000" cy="1138773"/>
          </a:xfrm>
          <a:prstGeom prst="rect">
            <a:avLst/>
          </a:prstGeom>
          <a:noFill/>
        </p:spPr>
        <p:txBody>
          <a:bodyPr wrap="square" rtlCol="0">
            <a:spAutoFit/>
          </a:bodyPr>
          <a:lstStyle/>
          <a:p>
            <a:r>
              <a:rPr lang="it-IT" b="1" dirty="0" err="1"/>
              <a:t>What</a:t>
            </a:r>
            <a:r>
              <a:rPr lang="it-IT" b="1" dirty="0"/>
              <a:t> </a:t>
            </a:r>
            <a:r>
              <a:rPr lang="it-IT" b="1" dirty="0" err="1"/>
              <a:t>this</a:t>
            </a:r>
            <a:r>
              <a:rPr lang="it-IT" b="1" dirty="0"/>
              <a:t> project </a:t>
            </a:r>
            <a:r>
              <a:rPr lang="it-IT" b="1" dirty="0" err="1"/>
              <a:t>achieved</a:t>
            </a:r>
            <a:r>
              <a:rPr lang="it-IT" b="1" dirty="0"/>
              <a:t>:</a:t>
            </a:r>
          </a:p>
          <a:p>
            <a:pPr marL="3486150" lvl="7" indent="-285750">
              <a:buFont typeface="Arial" panose="020B0604020202020204" pitchFamily="34" charset="0"/>
              <a:buChar char="•"/>
            </a:pPr>
            <a:r>
              <a:rPr lang="en-US" sz="1600" dirty="0"/>
              <a:t>Built a complete Data Warehouse pipeline: from raw CSVs to a </a:t>
            </a:r>
            <a:r>
              <a:rPr lang="en-US" sz="1600" dirty="0" err="1"/>
              <a:t>queryable</a:t>
            </a:r>
            <a:r>
              <a:rPr lang="en-US" sz="1600" dirty="0"/>
              <a:t> star schema</a:t>
            </a:r>
          </a:p>
          <a:p>
            <a:pPr marL="3486150" lvl="7" indent="-285750">
              <a:buFont typeface="Arial" panose="020B0604020202020204" pitchFamily="34" charset="0"/>
              <a:buChar char="•"/>
            </a:pPr>
            <a:r>
              <a:rPr lang="en-US" sz="1600" dirty="0"/>
              <a:t>Integrated performance metrics and market valuations across top 5 European leagues</a:t>
            </a:r>
          </a:p>
          <a:p>
            <a:pPr marL="3486150" lvl="7" indent="-285750">
              <a:buFont typeface="Arial" panose="020B0604020202020204" pitchFamily="34" charset="0"/>
              <a:buChar char="•"/>
            </a:pPr>
            <a:r>
              <a:rPr lang="it-IT" sz="1600" dirty="0" err="1"/>
              <a:t>Enabled</a:t>
            </a:r>
            <a:r>
              <a:rPr lang="it-IT" sz="1600" dirty="0"/>
              <a:t> </a:t>
            </a:r>
            <a:r>
              <a:rPr lang="it-IT" sz="1600" dirty="0" err="1"/>
              <a:t>meaningful</a:t>
            </a:r>
            <a:r>
              <a:rPr lang="it-IT" sz="1600" dirty="0"/>
              <a:t> </a:t>
            </a:r>
            <a:r>
              <a:rPr lang="it-IT" sz="1600" dirty="0" err="1"/>
              <a:t>statistical</a:t>
            </a:r>
            <a:r>
              <a:rPr lang="it-IT" sz="1600" dirty="0"/>
              <a:t> </a:t>
            </a:r>
            <a:r>
              <a:rPr lang="it-IT" sz="1600" dirty="0" err="1"/>
              <a:t>analysis</a:t>
            </a:r>
            <a:endParaRPr lang="it-IT" sz="1600" dirty="0"/>
          </a:p>
        </p:txBody>
      </p:sp>
      <p:sp>
        <p:nvSpPr>
          <p:cNvPr id="5" name="CasellaDiTesto 4">
            <a:extLst>
              <a:ext uri="{FF2B5EF4-FFF2-40B4-BE49-F238E27FC236}">
                <a16:creationId xmlns:a16="http://schemas.microsoft.com/office/drawing/2014/main" id="{49C2046F-C3DF-AA0D-7A13-B778500C2F4E}"/>
              </a:ext>
            </a:extLst>
          </p:cNvPr>
          <p:cNvSpPr txBox="1"/>
          <p:nvPr/>
        </p:nvSpPr>
        <p:spPr>
          <a:xfrm>
            <a:off x="0" y="2565400"/>
            <a:ext cx="12192000" cy="1415772"/>
          </a:xfrm>
          <a:prstGeom prst="rect">
            <a:avLst/>
          </a:prstGeom>
          <a:noFill/>
        </p:spPr>
        <p:txBody>
          <a:bodyPr wrap="square" rtlCol="0">
            <a:spAutoFit/>
          </a:bodyPr>
          <a:lstStyle/>
          <a:p>
            <a:pPr algn="just"/>
            <a:r>
              <a:rPr lang="it-IT" b="1" dirty="0" err="1"/>
              <a:t>Final</a:t>
            </a:r>
            <a:r>
              <a:rPr lang="it-IT" b="1" dirty="0"/>
              <a:t> </a:t>
            </a:r>
            <a:r>
              <a:rPr lang="it-IT" b="1" dirty="0" err="1"/>
              <a:t>considerations</a:t>
            </a:r>
            <a:r>
              <a:rPr lang="it-IT" b="1" dirty="0"/>
              <a:t>:</a:t>
            </a:r>
          </a:p>
          <a:p>
            <a:pPr marL="2571750" lvl="5" indent="-285750" algn="just">
              <a:buFont typeface="Arial" panose="020B0604020202020204" pitchFamily="34" charset="0"/>
              <a:buChar char="•"/>
            </a:pPr>
            <a:r>
              <a:rPr lang="en-US" sz="1600" dirty="0"/>
              <a:t>Younger players are consistently overvalued compared to older peers with similar performance</a:t>
            </a:r>
          </a:p>
          <a:p>
            <a:pPr marL="2571750" lvl="5" indent="-285750" algn="just">
              <a:buFont typeface="Arial" panose="020B0604020202020204" pitchFamily="34" charset="0"/>
              <a:buChar char="•"/>
            </a:pPr>
            <a:r>
              <a:rPr lang="en-US" sz="1600" dirty="0"/>
              <a:t>Premier League and La Liga players tend to be priced higher regardless of performance</a:t>
            </a:r>
          </a:p>
          <a:p>
            <a:pPr marL="2571750" lvl="5" indent="-285750" algn="just">
              <a:buFont typeface="Arial" panose="020B0604020202020204" pitchFamily="34" charset="0"/>
              <a:buChar char="•"/>
            </a:pPr>
            <a:r>
              <a:rPr lang="en-US" sz="1600" dirty="0"/>
              <a:t>Positional roles affect baseline valuation, forwards have the highest starting point</a:t>
            </a:r>
          </a:p>
          <a:p>
            <a:pPr marL="2571750" lvl="5" indent="-285750" algn="just">
              <a:buFont typeface="Arial" panose="020B0604020202020204" pitchFamily="34" charset="0"/>
              <a:buChar char="•"/>
            </a:pPr>
            <a:endParaRPr lang="it-IT" dirty="0"/>
          </a:p>
        </p:txBody>
      </p:sp>
      <p:sp>
        <p:nvSpPr>
          <p:cNvPr id="9" name="CasellaDiTesto 8">
            <a:extLst>
              <a:ext uri="{FF2B5EF4-FFF2-40B4-BE49-F238E27FC236}">
                <a16:creationId xmlns:a16="http://schemas.microsoft.com/office/drawing/2014/main" id="{D549ACA4-503F-875B-5C57-A7E2F608A667}"/>
              </a:ext>
            </a:extLst>
          </p:cNvPr>
          <p:cNvSpPr txBox="1"/>
          <p:nvPr/>
        </p:nvSpPr>
        <p:spPr>
          <a:xfrm>
            <a:off x="0" y="3981172"/>
            <a:ext cx="12192000" cy="1754326"/>
          </a:xfrm>
          <a:prstGeom prst="rect">
            <a:avLst/>
          </a:prstGeom>
          <a:noFill/>
        </p:spPr>
        <p:txBody>
          <a:bodyPr wrap="square" rtlCol="0">
            <a:spAutoFit/>
          </a:bodyPr>
          <a:lstStyle/>
          <a:p>
            <a:r>
              <a:rPr lang="it-IT" b="1" dirty="0"/>
              <a:t>Link of the repository: </a:t>
            </a:r>
            <a:r>
              <a:rPr lang="it-IT" dirty="0">
                <a:hlinkClick r:id="rId2"/>
              </a:rPr>
              <a:t>https://github.com/mattia9203/Data-Warehouse-on-football-data.git</a:t>
            </a:r>
            <a:endParaRPr lang="it-IT" dirty="0"/>
          </a:p>
          <a:p>
            <a:endParaRPr lang="it-IT" b="1" dirty="0"/>
          </a:p>
          <a:p>
            <a:r>
              <a:rPr lang="it-IT" b="1" dirty="0"/>
              <a:t>Link of the datasets: </a:t>
            </a:r>
          </a:p>
          <a:p>
            <a:pPr marL="342900" indent="-342900">
              <a:buFont typeface="+mj-lt"/>
              <a:buAutoNum type="arabicPeriod"/>
            </a:pPr>
            <a:r>
              <a:rPr lang="it-IT" dirty="0">
                <a:hlinkClick r:id="rId3"/>
              </a:rPr>
              <a:t>https://www.kaggle.com/datasets/conalhenderson/football-data-warehouse/data</a:t>
            </a:r>
            <a:endParaRPr lang="it-IT" dirty="0"/>
          </a:p>
          <a:p>
            <a:pPr marL="342900" indent="-342900">
              <a:buFont typeface="+mj-lt"/>
              <a:buAutoNum type="arabicPeriod"/>
            </a:pPr>
            <a:r>
              <a:rPr lang="it-IT" dirty="0">
                <a:hlinkClick r:id="rId4"/>
              </a:rPr>
              <a:t>https://www.kaggle.com/datasets/davidcariboo/player-scores/data</a:t>
            </a:r>
            <a:endParaRPr lang="it-IT" dirty="0"/>
          </a:p>
          <a:p>
            <a:r>
              <a:rPr lang="it-IT" b="1" dirty="0"/>
              <a:t>		       </a:t>
            </a:r>
          </a:p>
        </p:txBody>
      </p:sp>
      <p:sp>
        <p:nvSpPr>
          <p:cNvPr id="10" name="CasellaDiTesto 9">
            <a:extLst>
              <a:ext uri="{FF2B5EF4-FFF2-40B4-BE49-F238E27FC236}">
                <a16:creationId xmlns:a16="http://schemas.microsoft.com/office/drawing/2014/main" id="{B0EB7929-6BFD-0665-5E84-EEA300BED099}"/>
              </a:ext>
            </a:extLst>
          </p:cNvPr>
          <p:cNvSpPr txBox="1"/>
          <p:nvPr/>
        </p:nvSpPr>
        <p:spPr>
          <a:xfrm>
            <a:off x="0" y="5689600"/>
            <a:ext cx="12192000" cy="984885"/>
          </a:xfrm>
          <a:prstGeom prst="rect">
            <a:avLst/>
          </a:prstGeom>
          <a:noFill/>
        </p:spPr>
        <p:txBody>
          <a:bodyPr wrap="square" rtlCol="0">
            <a:spAutoFit/>
          </a:bodyPr>
          <a:lstStyle/>
          <a:p>
            <a:r>
              <a:rPr lang="it-IT" sz="1600" b="1" dirty="0"/>
              <a:t>Tools and </a:t>
            </a:r>
            <a:r>
              <a:rPr lang="it-IT" sz="1600" b="1" dirty="0" err="1"/>
              <a:t>references</a:t>
            </a:r>
            <a:r>
              <a:rPr lang="it-IT" sz="1600" b="1" dirty="0"/>
              <a:t>: </a:t>
            </a:r>
            <a:r>
              <a:rPr lang="it-IT" sz="1200" dirty="0" err="1"/>
              <a:t>Pandas</a:t>
            </a:r>
            <a:r>
              <a:rPr lang="it-IT" sz="1400" dirty="0"/>
              <a:t> - </a:t>
            </a:r>
            <a:r>
              <a:rPr lang="it-IT" sz="1200" dirty="0">
                <a:hlinkClick r:id="rId5"/>
              </a:rPr>
              <a:t>https://pandas.pydata.org/</a:t>
            </a:r>
            <a:r>
              <a:rPr lang="it-IT" sz="1200" dirty="0" err="1">
                <a:hlinkClick r:id="rId5"/>
              </a:rPr>
              <a:t>docs</a:t>
            </a:r>
            <a:r>
              <a:rPr lang="it-IT" sz="1200" dirty="0">
                <a:hlinkClick r:id="rId5"/>
              </a:rPr>
              <a:t>/</a:t>
            </a:r>
            <a:r>
              <a:rPr lang="it-IT" sz="1400" dirty="0"/>
              <a:t>, </a:t>
            </a:r>
            <a:r>
              <a:rPr lang="it-IT" sz="1200" dirty="0" err="1"/>
              <a:t>PostgreSQL</a:t>
            </a:r>
            <a:r>
              <a:rPr lang="it-IT" sz="1400" dirty="0"/>
              <a:t> - </a:t>
            </a:r>
            <a:r>
              <a:rPr lang="it-IT" sz="1200" dirty="0">
                <a:hlinkClick r:id="rId6"/>
              </a:rPr>
              <a:t>https://www.postgresql.org/docs/ </a:t>
            </a:r>
            <a:r>
              <a:rPr lang="it-IT" sz="1200" dirty="0"/>
              <a:t>, </a:t>
            </a:r>
            <a:r>
              <a:rPr lang="it-IT" sz="1200" dirty="0" err="1"/>
              <a:t>Matplotlib</a:t>
            </a:r>
            <a:r>
              <a:rPr lang="it-IT" sz="1200" dirty="0"/>
              <a:t> - </a:t>
            </a:r>
            <a:r>
              <a:rPr lang="it-IT" sz="1200" dirty="0">
                <a:hlinkClick r:id="rId7"/>
              </a:rPr>
              <a:t>https://matplotlib.org/stable/users/index.html</a:t>
            </a:r>
            <a:endParaRPr lang="it-IT" sz="1200" dirty="0"/>
          </a:p>
          <a:p>
            <a:r>
              <a:rPr lang="it-IT" sz="1200" b="1" dirty="0"/>
              <a:t>		     </a:t>
            </a:r>
          </a:p>
          <a:p>
            <a:r>
              <a:rPr lang="it-IT" sz="1200" b="1" dirty="0"/>
              <a:t>                                                               </a:t>
            </a:r>
            <a:r>
              <a:rPr lang="it-IT" sz="1200" dirty="0" err="1"/>
              <a:t>Statsmodels</a:t>
            </a:r>
            <a:r>
              <a:rPr lang="it-IT" sz="1200" b="1" dirty="0"/>
              <a:t> - </a:t>
            </a:r>
            <a:r>
              <a:rPr lang="it-IT" sz="1200" dirty="0">
                <a:hlinkClick r:id="rId8"/>
              </a:rPr>
              <a:t>https://www.statsmodels.org/stable/index.html</a:t>
            </a:r>
            <a:r>
              <a:rPr lang="it-IT" sz="1200" dirty="0"/>
              <a:t>, </a:t>
            </a:r>
            <a:r>
              <a:rPr lang="it-IT" sz="1200" dirty="0" err="1"/>
              <a:t>SQLAlchemy</a:t>
            </a:r>
            <a:r>
              <a:rPr lang="it-IT" sz="1200" dirty="0"/>
              <a:t> - </a:t>
            </a:r>
            <a:r>
              <a:rPr lang="it-IT" sz="1200" dirty="0">
                <a:hlinkClick r:id="rId9"/>
              </a:rPr>
              <a:t>https://docs.sqlalchemy.org/</a:t>
            </a:r>
            <a:r>
              <a:rPr lang="it-IT" sz="1200" dirty="0"/>
              <a:t>, </a:t>
            </a:r>
            <a:r>
              <a:rPr lang="it-IT" sz="1200" dirty="0" err="1"/>
              <a:t>pgAdmin</a:t>
            </a:r>
            <a:r>
              <a:rPr lang="it-IT" sz="1200" dirty="0"/>
              <a:t> - </a:t>
            </a:r>
            <a:r>
              <a:rPr lang="it-IT" sz="1200" dirty="0">
                <a:hlinkClick r:id="rId10"/>
              </a:rPr>
              <a:t>https://www.pgadmin.org/docs/</a:t>
            </a:r>
            <a:endParaRPr lang="it-IT" sz="1200" dirty="0"/>
          </a:p>
          <a:p>
            <a:endParaRPr lang="it-IT" b="1" dirty="0"/>
          </a:p>
        </p:txBody>
      </p:sp>
    </p:spTree>
    <p:extLst>
      <p:ext uri="{BB962C8B-B14F-4D97-AF65-F5344CB8AC3E}">
        <p14:creationId xmlns:p14="http://schemas.microsoft.com/office/powerpoint/2010/main" val="678875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 calcmode="lin" valueType="num">
                                      <p:cBhvr additive="base">
                                        <p:cTn id="20" dur="500" fill="hold"/>
                                        <p:tgtEl>
                                          <p:spTgt spid="9"/>
                                        </p:tgtEl>
                                        <p:attrNameLst>
                                          <p:attrName>ppt_x</p:attrName>
                                        </p:attrNameLst>
                                      </p:cBhvr>
                                      <p:tavLst>
                                        <p:tav tm="0">
                                          <p:val>
                                            <p:strVal val="#ppt_x"/>
                                          </p:val>
                                        </p:tav>
                                        <p:tav tm="100000">
                                          <p:val>
                                            <p:strVal val="#ppt_x"/>
                                          </p:val>
                                        </p:tav>
                                      </p:tavLst>
                                    </p:anim>
                                    <p:anim calcmode="lin" valueType="num">
                                      <p:cBhvr additive="base">
                                        <p:cTn id="21" dur="500" fill="hold"/>
                                        <p:tgtEl>
                                          <p:spTgt spid="9"/>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500" fill="hold"/>
                                        <p:tgtEl>
                                          <p:spTgt spid="10"/>
                                        </p:tgtEl>
                                        <p:attrNameLst>
                                          <p:attrName>ppt_x</p:attrName>
                                        </p:attrNameLst>
                                      </p:cBhvr>
                                      <p:tavLst>
                                        <p:tav tm="0">
                                          <p:val>
                                            <p:strVal val="#ppt_x"/>
                                          </p:val>
                                        </p:tav>
                                        <p:tav tm="100000">
                                          <p:val>
                                            <p:strVal val="#ppt_x"/>
                                          </p:val>
                                        </p:tav>
                                      </p:tavLst>
                                    </p:anim>
                                    <p:anim calcmode="lin" valueType="num">
                                      <p:cBhvr additive="base">
                                        <p:cTn id="25"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9" grpId="0"/>
      <p:bldP spid="10" grpId="0"/>
    </p:bldLst>
  </p:timing>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1736</TotalTime>
  <Words>1531</Words>
  <Application>Microsoft Office PowerPoint</Application>
  <PresentationFormat>Widescreen</PresentationFormat>
  <Paragraphs>159</Paragraphs>
  <Slides>19</Slides>
  <Notes>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19</vt:i4>
      </vt:variant>
    </vt:vector>
  </HeadingPairs>
  <TitlesOfParts>
    <vt:vector size="25" baseType="lpstr">
      <vt:lpstr>Aptos</vt:lpstr>
      <vt:lpstr>Aptos Display</vt:lpstr>
      <vt:lpstr>Arial</vt:lpstr>
      <vt:lpstr>Calibri</vt:lpstr>
      <vt:lpstr>Wingdings</vt:lpstr>
      <vt:lpstr>Tema di Office</vt:lpstr>
      <vt:lpstr>Football Data WareHouse</vt:lpstr>
      <vt:lpstr>Motivation &amp; objective</vt:lpstr>
      <vt:lpstr>Datasets Overview</vt:lpstr>
      <vt:lpstr>ETL Process - Overview</vt:lpstr>
      <vt:lpstr>Transform Phase</vt:lpstr>
      <vt:lpstr>Transform Phase </vt:lpstr>
      <vt:lpstr>Preparation and Load Phase</vt:lpstr>
      <vt:lpstr>ETL Process – Final considerations</vt:lpstr>
      <vt:lpstr>DFM Schema</vt:lpstr>
      <vt:lpstr>PostgreSQL and Star Schema</vt:lpstr>
      <vt:lpstr>Population of the database</vt:lpstr>
      <vt:lpstr>SQL VIEWS USED FOR THE ANALYSIS</vt:lpstr>
      <vt:lpstr>ANALYSIS 1 : AGE vs MARKET VALUE</vt:lpstr>
      <vt:lpstr>ANALYSIS 2 : Metric Importance by Role (R²) </vt:lpstr>
      <vt:lpstr>ANALYSIS 3: League Bias</vt:lpstr>
      <vt:lpstr>ANALYSIS 3: League Bias</vt:lpstr>
      <vt:lpstr>ANALYSIS 4: Market Value Evolution Over Time </vt:lpstr>
      <vt:lpstr>ANALYSIS 5: ROLE-BASED MARKET MODELING</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Mattia Maucione</dc:creator>
  <cp:lastModifiedBy>Mattia Maucione</cp:lastModifiedBy>
  <cp:revision>15</cp:revision>
  <dcterms:created xsi:type="dcterms:W3CDTF">2025-06-16T15:42:15Z</dcterms:created>
  <dcterms:modified xsi:type="dcterms:W3CDTF">2025-07-11T15:27:00Z</dcterms:modified>
</cp:coreProperties>
</file>