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50" d="100"/>
          <a:sy n="150" d="100"/>
        </p:scale>
        <p:origin x="62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C13F74-6262-46B4-A923-9F832FB99BFD}" type="doc">
      <dgm:prSet loTypeId="urn:microsoft.com/office/officeart/2005/8/layout/process1" loCatId="process" qsTypeId="urn:microsoft.com/office/officeart/2005/8/quickstyle/simple1" qsCatId="simple" csTypeId="urn:microsoft.com/office/officeart/2005/8/colors/accent1_2" csCatId="accent1" phldr="1"/>
      <dgm:spPr/>
    </dgm:pt>
    <dgm:pt modelId="{D3211A68-32F3-491B-98BB-6497F28216D3}">
      <dgm:prSet phldrT="[Testo]"/>
      <dgm:spPr/>
      <dgm:t>
        <a:bodyPr/>
        <a:lstStyle/>
        <a:p>
          <a:r>
            <a:rPr lang="it-IT" dirty="0"/>
            <a:t>CSV FILES</a:t>
          </a:r>
        </a:p>
      </dgm:t>
    </dgm:pt>
    <dgm:pt modelId="{E3B77541-6FD0-44E5-A920-E7E20D909D12}" type="parTrans" cxnId="{2A0EDD03-458B-45C9-9069-24BC1BE43863}">
      <dgm:prSet/>
      <dgm:spPr/>
      <dgm:t>
        <a:bodyPr/>
        <a:lstStyle/>
        <a:p>
          <a:endParaRPr lang="it-IT"/>
        </a:p>
      </dgm:t>
    </dgm:pt>
    <dgm:pt modelId="{B0DB6738-D508-433D-A3A6-5B210B1FFE4F}" type="sibTrans" cxnId="{2A0EDD03-458B-45C9-9069-24BC1BE43863}">
      <dgm:prSet/>
      <dgm:spPr/>
      <dgm:t>
        <a:bodyPr/>
        <a:lstStyle/>
        <a:p>
          <a:endParaRPr lang="it-IT"/>
        </a:p>
      </dgm:t>
    </dgm:pt>
    <dgm:pt modelId="{7AD7149C-63F6-4C91-B3F3-05792DBBDFFD}">
      <dgm:prSet phldrT="[Testo]"/>
      <dgm:spPr/>
      <dgm:t>
        <a:bodyPr/>
        <a:lstStyle/>
        <a:p>
          <a:r>
            <a:rPr lang="it-IT" dirty="0"/>
            <a:t>STAGING TABLES</a:t>
          </a:r>
        </a:p>
      </dgm:t>
    </dgm:pt>
    <dgm:pt modelId="{D042921C-142A-4AE9-A937-F3E231125F01}" type="parTrans" cxnId="{0C76CD40-1B30-4318-8A81-F947921D8920}">
      <dgm:prSet/>
      <dgm:spPr/>
      <dgm:t>
        <a:bodyPr/>
        <a:lstStyle/>
        <a:p>
          <a:endParaRPr lang="it-IT"/>
        </a:p>
      </dgm:t>
    </dgm:pt>
    <dgm:pt modelId="{7D4A8154-5670-4E52-8FD1-7FFDF567E33E}" type="sibTrans" cxnId="{0C76CD40-1B30-4318-8A81-F947921D8920}">
      <dgm:prSet/>
      <dgm:spPr/>
      <dgm:t>
        <a:bodyPr/>
        <a:lstStyle/>
        <a:p>
          <a:endParaRPr lang="it-IT"/>
        </a:p>
      </dgm:t>
    </dgm:pt>
    <dgm:pt modelId="{1C40E776-7D26-4514-BAD4-6BFA69EC6D3F}">
      <dgm:prSet phldrT="[Testo]"/>
      <dgm:spPr/>
      <dgm:t>
        <a:bodyPr/>
        <a:lstStyle/>
        <a:p>
          <a:r>
            <a:rPr lang="it-IT" dirty="0"/>
            <a:t>STAR SCHEMA TABLES</a:t>
          </a:r>
        </a:p>
      </dgm:t>
    </dgm:pt>
    <dgm:pt modelId="{33270364-0AE5-4A59-99E4-F35C3EB84E85}" type="parTrans" cxnId="{01B3DF6E-525B-4E66-9D77-FA5A375A500C}">
      <dgm:prSet/>
      <dgm:spPr/>
      <dgm:t>
        <a:bodyPr/>
        <a:lstStyle/>
        <a:p>
          <a:endParaRPr lang="it-IT"/>
        </a:p>
      </dgm:t>
    </dgm:pt>
    <dgm:pt modelId="{94E4F6F6-A27A-4797-AD1D-E90BEADA53E8}" type="sibTrans" cxnId="{01B3DF6E-525B-4E66-9D77-FA5A375A500C}">
      <dgm:prSet/>
      <dgm:spPr/>
      <dgm:t>
        <a:bodyPr/>
        <a:lstStyle/>
        <a:p>
          <a:endParaRPr lang="it-IT"/>
        </a:p>
      </dgm:t>
    </dgm:pt>
    <dgm:pt modelId="{24334D43-5BB2-4B83-9C26-1F193B37F81B}" type="pres">
      <dgm:prSet presAssocID="{F8C13F74-6262-46B4-A923-9F832FB99BFD}" presName="Name0" presStyleCnt="0">
        <dgm:presLayoutVars>
          <dgm:dir/>
          <dgm:resizeHandles val="exact"/>
        </dgm:presLayoutVars>
      </dgm:prSet>
      <dgm:spPr/>
    </dgm:pt>
    <dgm:pt modelId="{4D13650D-E35E-4E62-B68F-6BAACBDCBB86}" type="pres">
      <dgm:prSet presAssocID="{D3211A68-32F3-491B-98BB-6497F28216D3}" presName="node" presStyleLbl="node1" presStyleIdx="0" presStyleCnt="3">
        <dgm:presLayoutVars>
          <dgm:bulletEnabled val="1"/>
        </dgm:presLayoutVars>
      </dgm:prSet>
      <dgm:spPr/>
    </dgm:pt>
    <dgm:pt modelId="{3CDFAFDA-05C7-47E4-92DB-97E983AF6D0B}" type="pres">
      <dgm:prSet presAssocID="{B0DB6738-D508-433D-A3A6-5B210B1FFE4F}" presName="sibTrans" presStyleLbl="sibTrans2D1" presStyleIdx="0" presStyleCnt="2"/>
      <dgm:spPr/>
    </dgm:pt>
    <dgm:pt modelId="{476A189D-A7E3-4D96-91F1-B9E3D06AA506}" type="pres">
      <dgm:prSet presAssocID="{B0DB6738-D508-433D-A3A6-5B210B1FFE4F}" presName="connectorText" presStyleLbl="sibTrans2D1" presStyleIdx="0" presStyleCnt="2"/>
      <dgm:spPr/>
    </dgm:pt>
    <dgm:pt modelId="{FB03D1A2-8B7D-4956-AB0B-03F0406F6F48}" type="pres">
      <dgm:prSet presAssocID="{7AD7149C-63F6-4C91-B3F3-05792DBBDFFD}" presName="node" presStyleLbl="node1" presStyleIdx="1" presStyleCnt="3">
        <dgm:presLayoutVars>
          <dgm:bulletEnabled val="1"/>
        </dgm:presLayoutVars>
      </dgm:prSet>
      <dgm:spPr/>
    </dgm:pt>
    <dgm:pt modelId="{CD8F1826-5D85-4D01-ADF6-06906C825D93}" type="pres">
      <dgm:prSet presAssocID="{7D4A8154-5670-4E52-8FD1-7FFDF567E33E}" presName="sibTrans" presStyleLbl="sibTrans2D1" presStyleIdx="1" presStyleCnt="2"/>
      <dgm:spPr/>
    </dgm:pt>
    <dgm:pt modelId="{31B23B10-BDAF-4911-A680-1A36B38CACF6}" type="pres">
      <dgm:prSet presAssocID="{7D4A8154-5670-4E52-8FD1-7FFDF567E33E}" presName="connectorText" presStyleLbl="sibTrans2D1" presStyleIdx="1" presStyleCnt="2"/>
      <dgm:spPr/>
    </dgm:pt>
    <dgm:pt modelId="{E301B99F-B357-45D7-933A-96DF6F4EED6F}" type="pres">
      <dgm:prSet presAssocID="{1C40E776-7D26-4514-BAD4-6BFA69EC6D3F}" presName="node" presStyleLbl="node1" presStyleIdx="2" presStyleCnt="3">
        <dgm:presLayoutVars>
          <dgm:bulletEnabled val="1"/>
        </dgm:presLayoutVars>
      </dgm:prSet>
      <dgm:spPr/>
    </dgm:pt>
  </dgm:ptLst>
  <dgm:cxnLst>
    <dgm:cxn modelId="{2A0EDD03-458B-45C9-9069-24BC1BE43863}" srcId="{F8C13F74-6262-46B4-A923-9F832FB99BFD}" destId="{D3211A68-32F3-491B-98BB-6497F28216D3}" srcOrd="0" destOrd="0" parTransId="{E3B77541-6FD0-44E5-A920-E7E20D909D12}" sibTransId="{B0DB6738-D508-433D-A3A6-5B210B1FFE4F}"/>
    <dgm:cxn modelId="{70A41828-3C11-4608-A8B1-6A34619D0767}" type="presOf" srcId="{1C40E776-7D26-4514-BAD4-6BFA69EC6D3F}" destId="{E301B99F-B357-45D7-933A-96DF6F4EED6F}" srcOrd="0" destOrd="0" presId="urn:microsoft.com/office/officeart/2005/8/layout/process1"/>
    <dgm:cxn modelId="{B097FB35-662B-42CE-9B71-8887CD0C4A99}" type="presOf" srcId="{7AD7149C-63F6-4C91-B3F3-05792DBBDFFD}" destId="{FB03D1A2-8B7D-4956-AB0B-03F0406F6F48}" srcOrd="0" destOrd="0" presId="urn:microsoft.com/office/officeart/2005/8/layout/process1"/>
    <dgm:cxn modelId="{0C76CD40-1B30-4318-8A81-F947921D8920}" srcId="{F8C13F74-6262-46B4-A923-9F832FB99BFD}" destId="{7AD7149C-63F6-4C91-B3F3-05792DBBDFFD}" srcOrd="1" destOrd="0" parTransId="{D042921C-142A-4AE9-A937-F3E231125F01}" sibTransId="{7D4A8154-5670-4E52-8FD1-7FFDF567E33E}"/>
    <dgm:cxn modelId="{56E41D49-49C2-40A0-A6CA-FB541A0C784B}" type="presOf" srcId="{D3211A68-32F3-491B-98BB-6497F28216D3}" destId="{4D13650D-E35E-4E62-B68F-6BAACBDCBB86}" srcOrd="0" destOrd="0" presId="urn:microsoft.com/office/officeart/2005/8/layout/process1"/>
    <dgm:cxn modelId="{07E9DF4D-DBB7-47B9-B5F9-D0F454891B7B}" type="presOf" srcId="{7D4A8154-5670-4E52-8FD1-7FFDF567E33E}" destId="{CD8F1826-5D85-4D01-ADF6-06906C825D93}" srcOrd="0" destOrd="0" presId="urn:microsoft.com/office/officeart/2005/8/layout/process1"/>
    <dgm:cxn modelId="{01B3DF6E-525B-4E66-9D77-FA5A375A500C}" srcId="{F8C13F74-6262-46B4-A923-9F832FB99BFD}" destId="{1C40E776-7D26-4514-BAD4-6BFA69EC6D3F}" srcOrd="2" destOrd="0" parTransId="{33270364-0AE5-4A59-99E4-F35C3EB84E85}" sibTransId="{94E4F6F6-A27A-4797-AD1D-E90BEADA53E8}"/>
    <dgm:cxn modelId="{34791F70-8421-4C08-B0EA-C8C2A3E343C1}" type="presOf" srcId="{B0DB6738-D508-433D-A3A6-5B210B1FFE4F}" destId="{476A189D-A7E3-4D96-91F1-B9E3D06AA506}" srcOrd="1" destOrd="0" presId="urn:microsoft.com/office/officeart/2005/8/layout/process1"/>
    <dgm:cxn modelId="{CCBB90D4-7173-45A8-A99E-5322D589AF58}" type="presOf" srcId="{F8C13F74-6262-46B4-A923-9F832FB99BFD}" destId="{24334D43-5BB2-4B83-9C26-1F193B37F81B}" srcOrd="0" destOrd="0" presId="urn:microsoft.com/office/officeart/2005/8/layout/process1"/>
    <dgm:cxn modelId="{440318DA-3C9E-48D3-A337-65FD4B1BE617}" type="presOf" srcId="{B0DB6738-D508-433D-A3A6-5B210B1FFE4F}" destId="{3CDFAFDA-05C7-47E4-92DB-97E983AF6D0B}" srcOrd="0" destOrd="0" presId="urn:microsoft.com/office/officeart/2005/8/layout/process1"/>
    <dgm:cxn modelId="{AFC0A8EA-BCE0-4C91-BD24-A9BC6C85B6BC}" type="presOf" srcId="{7D4A8154-5670-4E52-8FD1-7FFDF567E33E}" destId="{31B23B10-BDAF-4911-A680-1A36B38CACF6}" srcOrd="1" destOrd="0" presId="urn:microsoft.com/office/officeart/2005/8/layout/process1"/>
    <dgm:cxn modelId="{7D4EC19F-0AD3-4F10-BCE2-61EADE11FB1E}" type="presParOf" srcId="{24334D43-5BB2-4B83-9C26-1F193B37F81B}" destId="{4D13650D-E35E-4E62-B68F-6BAACBDCBB86}" srcOrd="0" destOrd="0" presId="urn:microsoft.com/office/officeart/2005/8/layout/process1"/>
    <dgm:cxn modelId="{55A2FB1C-A01F-4432-BDB6-8AF48CCE7D7A}" type="presParOf" srcId="{24334D43-5BB2-4B83-9C26-1F193B37F81B}" destId="{3CDFAFDA-05C7-47E4-92DB-97E983AF6D0B}" srcOrd="1" destOrd="0" presId="urn:microsoft.com/office/officeart/2005/8/layout/process1"/>
    <dgm:cxn modelId="{96224B72-E413-468C-9A28-ED84B5ABF5F4}" type="presParOf" srcId="{3CDFAFDA-05C7-47E4-92DB-97E983AF6D0B}" destId="{476A189D-A7E3-4D96-91F1-B9E3D06AA506}" srcOrd="0" destOrd="0" presId="urn:microsoft.com/office/officeart/2005/8/layout/process1"/>
    <dgm:cxn modelId="{C3D608E0-FE25-42BE-80AB-9F8A7EDBF1D0}" type="presParOf" srcId="{24334D43-5BB2-4B83-9C26-1F193B37F81B}" destId="{FB03D1A2-8B7D-4956-AB0B-03F0406F6F48}" srcOrd="2" destOrd="0" presId="urn:microsoft.com/office/officeart/2005/8/layout/process1"/>
    <dgm:cxn modelId="{2A39400F-CD0B-4AC5-879D-39267B26CC1E}" type="presParOf" srcId="{24334D43-5BB2-4B83-9C26-1F193B37F81B}" destId="{CD8F1826-5D85-4D01-ADF6-06906C825D93}" srcOrd="3" destOrd="0" presId="urn:microsoft.com/office/officeart/2005/8/layout/process1"/>
    <dgm:cxn modelId="{31A84072-21E9-454B-BE99-4D4BCFF9F77C}" type="presParOf" srcId="{CD8F1826-5D85-4D01-ADF6-06906C825D93}" destId="{31B23B10-BDAF-4911-A680-1A36B38CACF6}" srcOrd="0" destOrd="0" presId="urn:microsoft.com/office/officeart/2005/8/layout/process1"/>
    <dgm:cxn modelId="{3E98C8E9-8F9A-458F-BDB5-7EE6ACD3A616}" type="presParOf" srcId="{24334D43-5BB2-4B83-9C26-1F193B37F81B}" destId="{E301B99F-B357-45D7-933A-96DF6F4EED6F}"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13650D-E35E-4E62-B68F-6BAACBDCBB86}">
      <dsp:nvSpPr>
        <dsp:cNvPr id="0" name=""/>
        <dsp:cNvSpPr/>
      </dsp:nvSpPr>
      <dsp:spPr>
        <a:xfrm>
          <a:off x="7026" y="82740"/>
          <a:ext cx="2100157" cy="126009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it-IT" sz="2300" kern="1200" dirty="0"/>
            <a:t>CSV FILES</a:t>
          </a:r>
        </a:p>
      </dsp:txBody>
      <dsp:txXfrm>
        <a:off x="43933" y="119647"/>
        <a:ext cx="2026343" cy="1186280"/>
      </dsp:txXfrm>
    </dsp:sp>
    <dsp:sp modelId="{3CDFAFDA-05C7-47E4-92DB-97E983AF6D0B}">
      <dsp:nvSpPr>
        <dsp:cNvPr id="0" name=""/>
        <dsp:cNvSpPr/>
      </dsp:nvSpPr>
      <dsp:spPr>
        <a:xfrm>
          <a:off x="2317199" y="452368"/>
          <a:ext cx="445233" cy="52083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it-IT" sz="1800" kern="1200"/>
        </a:p>
      </dsp:txBody>
      <dsp:txXfrm>
        <a:off x="2317199" y="556536"/>
        <a:ext cx="311663" cy="312502"/>
      </dsp:txXfrm>
    </dsp:sp>
    <dsp:sp modelId="{FB03D1A2-8B7D-4956-AB0B-03F0406F6F48}">
      <dsp:nvSpPr>
        <dsp:cNvPr id="0" name=""/>
        <dsp:cNvSpPr/>
      </dsp:nvSpPr>
      <dsp:spPr>
        <a:xfrm>
          <a:off x="2947246" y="82740"/>
          <a:ext cx="2100157" cy="126009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it-IT" sz="2300" kern="1200" dirty="0"/>
            <a:t>STAGING TABLES</a:t>
          </a:r>
        </a:p>
      </dsp:txBody>
      <dsp:txXfrm>
        <a:off x="2984153" y="119647"/>
        <a:ext cx="2026343" cy="1186280"/>
      </dsp:txXfrm>
    </dsp:sp>
    <dsp:sp modelId="{CD8F1826-5D85-4D01-ADF6-06906C825D93}">
      <dsp:nvSpPr>
        <dsp:cNvPr id="0" name=""/>
        <dsp:cNvSpPr/>
      </dsp:nvSpPr>
      <dsp:spPr>
        <a:xfrm>
          <a:off x="5257419" y="452368"/>
          <a:ext cx="445233" cy="52083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it-IT" sz="1800" kern="1200"/>
        </a:p>
      </dsp:txBody>
      <dsp:txXfrm>
        <a:off x="5257419" y="556536"/>
        <a:ext cx="311663" cy="312502"/>
      </dsp:txXfrm>
    </dsp:sp>
    <dsp:sp modelId="{E301B99F-B357-45D7-933A-96DF6F4EED6F}">
      <dsp:nvSpPr>
        <dsp:cNvPr id="0" name=""/>
        <dsp:cNvSpPr/>
      </dsp:nvSpPr>
      <dsp:spPr>
        <a:xfrm>
          <a:off x="5887466" y="82740"/>
          <a:ext cx="2100157" cy="126009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it-IT" sz="2300" kern="1200" dirty="0"/>
            <a:t>STAR SCHEMA TABLES</a:t>
          </a:r>
        </a:p>
      </dsp:txBody>
      <dsp:txXfrm>
        <a:off x="5924373" y="119647"/>
        <a:ext cx="2026343" cy="118628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dirty="0"/>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C4DBF3-A730-4D1B-9EB7-DCB5A40FDA9B}" type="datetimeFigureOut">
              <a:rPr lang="it-IT" smtClean="0"/>
              <a:t>23/06/2025</a:t>
            </a:fld>
            <a:endParaRPr lang="it-IT" dirty="0"/>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dirty="0"/>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dirty="0"/>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4E5611-52C4-4329-88C3-CBD9F9F9B54A}" type="slidenum">
              <a:rPr lang="it-IT" smtClean="0"/>
              <a:t>‹N›</a:t>
            </a:fld>
            <a:endParaRPr lang="it-IT" dirty="0"/>
          </a:p>
        </p:txBody>
      </p:sp>
    </p:spTree>
    <p:extLst>
      <p:ext uri="{BB962C8B-B14F-4D97-AF65-F5344CB8AC3E}">
        <p14:creationId xmlns:p14="http://schemas.microsoft.com/office/powerpoint/2010/main" val="752314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04B21FF-46C4-1660-F9AE-ED5BE2C11700}"/>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97D0375C-7164-8AA1-4F94-3C02A83D50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F52D94E9-CAE5-A631-5B8C-A3EADA31A7AB}"/>
              </a:ext>
            </a:extLst>
          </p:cNvPr>
          <p:cNvSpPr>
            <a:spLocks noGrp="1"/>
          </p:cNvSpPr>
          <p:nvPr>
            <p:ph type="dt" sz="half" idx="10"/>
          </p:nvPr>
        </p:nvSpPr>
        <p:spPr/>
        <p:txBody>
          <a:bodyPr/>
          <a:lstStyle/>
          <a:p>
            <a:fld id="{F85572C1-5358-42AB-945E-3BE092CC101D}" type="datetimeFigureOut">
              <a:rPr lang="it-IT" smtClean="0"/>
              <a:t>23/06/2025</a:t>
            </a:fld>
            <a:endParaRPr lang="it-IT" dirty="0"/>
          </a:p>
        </p:txBody>
      </p:sp>
      <p:sp>
        <p:nvSpPr>
          <p:cNvPr id="5" name="Segnaposto piè di pagina 4">
            <a:extLst>
              <a:ext uri="{FF2B5EF4-FFF2-40B4-BE49-F238E27FC236}">
                <a16:creationId xmlns:a16="http://schemas.microsoft.com/office/drawing/2014/main" id="{78993D81-6830-8508-9ADF-76FC0DF59B23}"/>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BC36D6F3-763B-1E6E-5BC7-3DBD8EFE07D8}"/>
              </a:ext>
            </a:extLst>
          </p:cNvPr>
          <p:cNvSpPr>
            <a:spLocks noGrp="1"/>
          </p:cNvSpPr>
          <p:nvPr>
            <p:ph type="sldNum" sz="quarter" idx="12"/>
          </p:nvPr>
        </p:nvSpPr>
        <p:spPr/>
        <p:txBody>
          <a:bodyPr/>
          <a:lstStyle/>
          <a:p>
            <a:fld id="{F0B2886A-63A7-46DF-B373-C65921F4F499}" type="slidenum">
              <a:rPr lang="it-IT" smtClean="0"/>
              <a:t>‹N›</a:t>
            </a:fld>
            <a:endParaRPr lang="it-IT" dirty="0"/>
          </a:p>
        </p:txBody>
      </p:sp>
    </p:spTree>
    <p:extLst>
      <p:ext uri="{BB962C8B-B14F-4D97-AF65-F5344CB8AC3E}">
        <p14:creationId xmlns:p14="http://schemas.microsoft.com/office/powerpoint/2010/main" val="3143353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B76B192-9396-A933-0668-4B6EF54BB5B9}"/>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AF1D6E5-1564-3A59-6A3A-9BA1F56BA724}"/>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6858C20-B863-82AF-A9EB-B3A54096F6DF}"/>
              </a:ext>
            </a:extLst>
          </p:cNvPr>
          <p:cNvSpPr>
            <a:spLocks noGrp="1"/>
          </p:cNvSpPr>
          <p:nvPr>
            <p:ph type="dt" sz="half" idx="10"/>
          </p:nvPr>
        </p:nvSpPr>
        <p:spPr/>
        <p:txBody>
          <a:bodyPr/>
          <a:lstStyle/>
          <a:p>
            <a:fld id="{F85572C1-5358-42AB-945E-3BE092CC101D}" type="datetimeFigureOut">
              <a:rPr lang="it-IT" smtClean="0"/>
              <a:t>23/06/2025</a:t>
            </a:fld>
            <a:endParaRPr lang="it-IT" dirty="0"/>
          </a:p>
        </p:txBody>
      </p:sp>
      <p:sp>
        <p:nvSpPr>
          <p:cNvPr id="5" name="Segnaposto piè di pagina 4">
            <a:extLst>
              <a:ext uri="{FF2B5EF4-FFF2-40B4-BE49-F238E27FC236}">
                <a16:creationId xmlns:a16="http://schemas.microsoft.com/office/drawing/2014/main" id="{D313C64A-6916-F5E5-FB16-E0B35DDD1AA5}"/>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CDDA5973-ED03-0205-FA1F-6EAA2F8F6161}"/>
              </a:ext>
            </a:extLst>
          </p:cNvPr>
          <p:cNvSpPr>
            <a:spLocks noGrp="1"/>
          </p:cNvSpPr>
          <p:nvPr>
            <p:ph type="sldNum" sz="quarter" idx="12"/>
          </p:nvPr>
        </p:nvSpPr>
        <p:spPr/>
        <p:txBody>
          <a:bodyPr/>
          <a:lstStyle/>
          <a:p>
            <a:fld id="{F0B2886A-63A7-46DF-B373-C65921F4F499}" type="slidenum">
              <a:rPr lang="it-IT" smtClean="0"/>
              <a:t>‹N›</a:t>
            </a:fld>
            <a:endParaRPr lang="it-IT" dirty="0"/>
          </a:p>
        </p:txBody>
      </p:sp>
    </p:spTree>
    <p:extLst>
      <p:ext uri="{BB962C8B-B14F-4D97-AF65-F5344CB8AC3E}">
        <p14:creationId xmlns:p14="http://schemas.microsoft.com/office/powerpoint/2010/main" val="1282822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1DE6252-47A9-DC66-8923-65CA47F5F70A}"/>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DDCCDC03-EC7F-69F4-54BD-9CA06ECAC9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57AC348F-F9F2-4669-C01C-389CD17B4658}"/>
              </a:ext>
            </a:extLst>
          </p:cNvPr>
          <p:cNvSpPr>
            <a:spLocks noGrp="1"/>
          </p:cNvSpPr>
          <p:nvPr>
            <p:ph type="dt" sz="half" idx="10"/>
          </p:nvPr>
        </p:nvSpPr>
        <p:spPr/>
        <p:txBody>
          <a:bodyPr/>
          <a:lstStyle/>
          <a:p>
            <a:fld id="{F85572C1-5358-42AB-945E-3BE092CC101D}" type="datetimeFigureOut">
              <a:rPr lang="it-IT" smtClean="0"/>
              <a:t>23/06/2025</a:t>
            </a:fld>
            <a:endParaRPr lang="it-IT" dirty="0"/>
          </a:p>
        </p:txBody>
      </p:sp>
      <p:sp>
        <p:nvSpPr>
          <p:cNvPr id="5" name="Segnaposto piè di pagina 4">
            <a:extLst>
              <a:ext uri="{FF2B5EF4-FFF2-40B4-BE49-F238E27FC236}">
                <a16:creationId xmlns:a16="http://schemas.microsoft.com/office/drawing/2014/main" id="{B99AA0E9-3B00-D7E4-CB34-A7B12E4B5A47}"/>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59164E5C-A965-5ABD-50F8-E60DF9D66722}"/>
              </a:ext>
            </a:extLst>
          </p:cNvPr>
          <p:cNvSpPr>
            <a:spLocks noGrp="1"/>
          </p:cNvSpPr>
          <p:nvPr>
            <p:ph type="sldNum" sz="quarter" idx="12"/>
          </p:nvPr>
        </p:nvSpPr>
        <p:spPr/>
        <p:txBody>
          <a:bodyPr/>
          <a:lstStyle/>
          <a:p>
            <a:fld id="{F0B2886A-63A7-46DF-B373-C65921F4F499}" type="slidenum">
              <a:rPr lang="it-IT" smtClean="0"/>
              <a:t>‹N›</a:t>
            </a:fld>
            <a:endParaRPr lang="it-IT" dirty="0"/>
          </a:p>
        </p:txBody>
      </p:sp>
    </p:spTree>
    <p:extLst>
      <p:ext uri="{BB962C8B-B14F-4D97-AF65-F5344CB8AC3E}">
        <p14:creationId xmlns:p14="http://schemas.microsoft.com/office/powerpoint/2010/main" val="2094704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D6CCB2D-BB84-2F01-DEDA-D72CA0A55BE3}"/>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19976238-C547-EF33-DA71-1C64DF984643}"/>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AB53ED99-DC7A-EA65-204E-6909A7888D1A}"/>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4FBC385A-8871-1391-88D0-264A2DBBDB35}"/>
              </a:ext>
            </a:extLst>
          </p:cNvPr>
          <p:cNvSpPr>
            <a:spLocks noGrp="1"/>
          </p:cNvSpPr>
          <p:nvPr>
            <p:ph type="dt" sz="half" idx="10"/>
          </p:nvPr>
        </p:nvSpPr>
        <p:spPr/>
        <p:txBody>
          <a:bodyPr/>
          <a:lstStyle/>
          <a:p>
            <a:fld id="{F85572C1-5358-42AB-945E-3BE092CC101D}" type="datetimeFigureOut">
              <a:rPr lang="it-IT" smtClean="0"/>
              <a:t>23/06/2025</a:t>
            </a:fld>
            <a:endParaRPr lang="it-IT" dirty="0"/>
          </a:p>
        </p:txBody>
      </p:sp>
      <p:sp>
        <p:nvSpPr>
          <p:cNvPr id="6" name="Segnaposto piè di pagina 5">
            <a:extLst>
              <a:ext uri="{FF2B5EF4-FFF2-40B4-BE49-F238E27FC236}">
                <a16:creationId xmlns:a16="http://schemas.microsoft.com/office/drawing/2014/main" id="{26880C97-2378-5AB6-E1D3-D212FB8AE77D}"/>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DF3A3134-0E69-7D24-82C7-FC32D1158A2D}"/>
              </a:ext>
            </a:extLst>
          </p:cNvPr>
          <p:cNvSpPr>
            <a:spLocks noGrp="1"/>
          </p:cNvSpPr>
          <p:nvPr>
            <p:ph type="sldNum" sz="quarter" idx="12"/>
          </p:nvPr>
        </p:nvSpPr>
        <p:spPr/>
        <p:txBody>
          <a:bodyPr/>
          <a:lstStyle/>
          <a:p>
            <a:fld id="{F0B2886A-63A7-46DF-B373-C65921F4F499}" type="slidenum">
              <a:rPr lang="it-IT" smtClean="0"/>
              <a:t>‹N›</a:t>
            </a:fld>
            <a:endParaRPr lang="it-IT" dirty="0"/>
          </a:p>
        </p:txBody>
      </p:sp>
    </p:spTree>
    <p:extLst>
      <p:ext uri="{BB962C8B-B14F-4D97-AF65-F5344CB8AC3E}">
        <p14:creationId xmlns:p14="http://schemas.microsoft.com/office/powerpoint/2010/main" val="1864721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20FB57A-1254-7BB9-5419-B25126F588A1}"/>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CA8B0AA6-EB1D-B4D9-6EAD-1FC8A4F8B9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E54343FB-588F-6AF6-47D8-0392987C5BC6}"/>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3E775261-04B8-B1F2-2DBC-9487AA6C79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A9BD4EBD-53DA-E654-1E1A-2A56A4D2BD82}"/>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4981BEA2-68AB-AA7F-312A-E0B8EEC4A43E}"/>
              </a:ext>
            </a:extLst>
          </p:cNvPr>
          <p:cNvSpPr>
            <a:spLocks noGrp="1"/>
          </p:cNvSpPr>
          <p:nvPr>
            <p:ph type="dt" sz="half" idx="10"/>
          </p:nvPr>
        </p:nvSpPr>
        <p:spPr/>
        <p:txBody>
          <a:bodyPr/>
          <a:lstStyle/>
          <a:p>
            <a:fld id="{F85572C1-5358-42AB-945E-3BE092CC101D}" type="datetimeFigureOut">
              <a:rPr lang="it-IT" smtClean="0"/>
              <a:t>23/06/2025</a:t>
            </a:fld>
            <a:endParaRPr lang="it-IT" dirty="0"/>
          </a:p>
        </p:txBody>
      </p:sp>
      <p:sp>
        <p:nvSpPr>
          <p:cNvPr id="8" name="Segnaposto piè di pagina 7">
            <a:extLst>
              <a:ext uri="{FF2B5EF4-FFF2-40B4-BE49-F238E27FC236}">
                <a16:creationId xmlns:a16="http://schemas.microsoft.com/office/drawing/2014/main" id="{96140475-613D-585C-3D90-7B2EE727A391}"/>
              </a:ext>
            </a:extLst>
          </p:cNvPr>
          <p:cNvSpPr>
            <a:spLocks noGrp="1"/>
          </p:cNvSpPr>
          <p:nvPr>
            <p:ph type="ftr" sz="quarter" idx="11"/>
          </p:nvPr>
        </p:nvSpPr>
        <p:spPr/>
        <p:txBody>
          <a:bodyPr/>
          <a:lstStyle/>
          <a:p>
            <a:endParaRPr lang="it-IT" dirty="0"/>
          </a:p>
        </p:txBody>
      </p:sp>
      <p:sp>
        <p:nvSpPr>
          <p:cNvPr id="9" name="Segnaposto numero diapositiva 8">
            <a:extLst>
              <a:ext uri="{FF2B5EF4-FFF2-40B4-BE49-F238E27FC236}">
                <a16:creationId xmlns:a16="http://schemas.microsoft.com/office/drawing/2014/main" id="{DA604872-3E31-5ACC-63D5-0DC0AD805E21}"/>
              </a:ext>
            </a:extLst>
          </p:cNvPr>
          <p:cNvSpPr>
            <a:spLocks noGrp="1"/>
          </p:cNvSpPr>
          <p:nvPr>
            <p:ph type="sldNum" sz="quarter" idx="12"/>
          </p:nvPr>
        </p:nvSpPr>
        <p:spPr/>
        <p:txBody>
          <a:bodyPr/>
          <a:lstStyle/>
          <a:p>
            <a:fld id="{F0B2886A-63A7-46DF-B373-C65921F4F499}" type="slidenum">
              <a:rPr lang="it-IT" smtClean="0"/>
              <a:t>‹N›</a:t>
            </a:fld>
            <a:endParaRPr lang="it-IT" dirty="0"/>
          </a:p>
        </p:txBody>
      </p:sp>
    </p:spTree>
    <p:extLst>
      <p:ext uri="{BB962C8B-B14F-4D97-AF65-F5344CB8AC3E}">
        <p14:creationId xmlns:p14="http://schemas.microsoft.com/office/powerpoint/2010/main" val="1972272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4471787-AC3E-8491-5002-1A9B2717B70F}"/>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1E1EA8F4-D9AD-5867-9494-D4D95896EA67}"/>
              </a:ext>
            </a:extLst>
          </p:cNvPr>
          <p:cNvSpPr>
            <a:spLocks noGrp="1"/>
          </p:cNvSpPr>
          <p:nvPr>
            <p:ph type="dt" sz="half" idx="10"/>
          </p:nvPr>
        </p:nvSpPr>
        <p:spPr/>
        <p:txBody>
          <a:bodyPr/>
          <a:lstStyle/>
          <a:p>
            <a:fld id="{F85572C1-5358-42AB-945E-3BE092CC101D}" type="datetimeFigureOut">
              <a:rPr lang="it-IT" smtClean="0"/>
              <a:t>23/06/2025</a:t>
            </a:fld>
            <a:endParaRPr lang="it-IT" dirty="0"/>
          </a:p>
        </p:txBody>
      </p:sp>
      <p:sp>
        <p:nvSpPr>
          <p:cNvPr id="4" name="Segnaposto piè di pagina 3">
            <a:extLst>
              <a:ext uri="{FF2B5EF4-FFF2-40B4-BE49-F238E27FC236}">
                <a16:creationId xmlns:a16="http://schemas.microsoft.com/office/drawing/2014/main" id="{B5E69DA7-A677-2C7F-7801-43DF740C3F20}"/>
              </a:ext>
            </a:extLst>
          </p:cNvPr>
          <p:cNvSpPr>
            <a:spLocks noGrp="1"/>
          </p:cNvSpPr>
          <p:nvPr>
            <p:ph type="ftr" sz="quarter" idx="11"/>
          </p:nvPr>
        </p:nvSpPr>
        <p:spPr/>
        <p:txBody>
          <a:bodyPr/>
          <a:lstStyle/>
          <a:p>
            <a:endParaRPr lang="it-IT" dirty="0"/>
          </a:p>
        </p:txBody>
      </p:sp>
      <p:sp>
        <p:nvSpPr>
          <p:cNvPr id="5" name="Segnaposto numero diapositiva 4">
            <a:extLst>
              <a:ext uri="{FF2B5EF4-FFF2-40B4-BE49-F238E27FC236}">
                <a16:creationId xmlns:a16="http://schemas.microsoft.com/office/drawing/2014/main" id="{9B004CEA-5741-6DAA-9B83-8F88A992090D}"/>
              </a:ext>
            </a:extLst>
          </p:cNvPr>
          <p:cNvSpPr>
            <a:spLocks noGrp="1"/>
          </p:cNvSpPr>
          <p:nvPr>
            <p:ph type="sldNum" sz="quarter" idx="12"/>
          </p:nvPr>
        </p:nvSpPr>
        <p:spPr/>
        <p:txBody>
          <a:bodyPr/>
          <a:lstStyle/>
          <a:p>
            <a:fld id="{F0B2886A-63A7-46DF-B373-C65921F4F499}" type="slidenum">
              <a:rPr lang="it-IT" smtClean="0"/>
              <a:t>‹N›</a:t>
            </a:fld>
            <a:endParaRPr lang="it-IT" dirty="0"/>
          </a:p>
        </p:txBody>
      </p:sp>
    </p:spTree>
    <p:extLst>
      <p:ext uri="{BB962C8B-B14F-4D97-AF65-F5344CB8AC3E}">
        <p14:creationId xmlns:p14="http://schemas.microsoft.com/office/powerpoint/2010/main" val="1778144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FBE702DF-E746-9060-2DC5-CB99752A0C1D}"/>
              </a:ext>
            </a:extLst>
          </p:cNvPr>
          <p:cNvSpPr>
            <a:spLocks noGrp="1"/>
          </p:cNvSpPr>
          <p:nvPr>
            <p:ph type="dt" sz="half" idx="10"/>
          </p:nvPr>
        </p:nvSpPr>
        <p:spPr/>
        <p:txBody>
          <a:bodyPr/>
          <a:lstStyle/>
          <a:p>
            <a:fld id="{F85572C1-5358-42AB-945E-3BE092CC101D}" type="datetimeFigureOut">
              <a:rPr lang="it-IT" smtClean="0"/>
              <a:t>23/06/2025</a:t>
            </a:fld>
            <a:endParaRPr lang="it-IT" dirty="0"/>
          </a:p>
        </p:txBody>
      </p:sp>
      <p:sp>
        <p:nvSpPr>
          <p:cNvPr id="3" name="Segnaposto piè di pagina 2">
            <a:extLst>
              <a:ext uri="{FF2B5EF4-FFF2-40B4-BE49-F238E27FC236}">
                <a16:creationId xmlns:a16="http://schemas.microsoft.com/office/drawing/2014/main" id="{820F4159-191E-17AA-B76C-FEB243AEDA3F}"/>
              </a:ext>
            </a:extLst>
          </p:cNvPr>
          <p:cNvSpPr>
            <a:spLocks noGrp="1"/>
          </p:cNvSpPr>
          <p:nvPr>
            <p:ph type="ftr" sz="quarter" idx="11"/>
          </p:nvPr>
        </p:nvSpPr>
        <p:spPr/>
        <p:txBody>
          <a:bodyPr/>
          <a:lstStyle/>
          <a:p>
            <a:endParaRPr lang="it-IT" dirty="0"/>
          </a:p>
        </p:txBody>
      </p:sp>
      <p:sp>
        <p:nvSpPr>
          <p:cNvPr id="4" name="Segnaposto numero diapositiva 3">
            <a:extLst>
              <a:ext uri="{FF2B5EF4-FFF2-40B4-BE49-F238E27FC236}">
                <a16:creationId xmlns:a16="http://schemas.microsoft.com/office/drawing/2014/main" id="{16ED0C37-42A1-099B-8CB5-F0C16FA16D30}"/>
              </a:ext>
            </a:extLst>
          </p:cNvPr>
          <p:cNvSpPr>
            <a:spLocks noGrp="1"/>
          </p:cNvSpPr>
          <p:nvPr>
            <p:ph type="sldNum" sz="quarter" idx="12"/>
          </p:nvPr>
        </p:nvSpPr>
        <p:spPr/>
        <p:txBody>
          <a:bodyPr/>
          <a:lstStyle/>
          <a:p>
            <a:fld id="{F0B2886A-63A7-46DF-B373-C65921F4F499}" type="slidenum">
              <a:rPr lang="it-IT" smtClean="0"/>
              <a:t>‹N›</a:t>
            </a:fld>
            <a:endParaRPr lang="it-IT" dirty="0"/>
          </a:p>
        </p:txBody>
      </p:sp>
    </p:spTree>
    <p:extLst>
      <p:ext uri="{BB962C8B-B14F-4D97-AF65-F5344CB8AC3E}">
        <p14:creationId xmlns:p14="http://schemas.microsoft.com/office/powerpoint/2010/main" val="2181322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53D06A5-6E21-3ABD-6F5B-D20908CBB932}"/>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B98CCED-5EC4-47C4-E8AD-7A007EC3CD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42A44783-2AB2-2948-1E6E-BC2251C7A3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8B056C15-841D-6781-BE12-2145449B572B}"/>
              </a:ext>
            </a:extLst>
          </p:cNvPr>
          <p:cNvSpPr>
            <a:spLocks noGrp="1"/>
          </p:cNvSpPr>
          <p:nvPr>
            <p:ph type="dt" sz="half" idx="10"/>
          </p:nvPr>
        </p:nvSpPr>
        <p:spPr/>
        <p:txBody>
          <a:bodyPr/>
          <a:lstStyle/>
          <a:p>
            <a:fld id="{F85572C1-5358-42AB-945E-3BE092CC101D}" type="datetimeFigureOut">
              <a:rPr lang="it-IT" smtClean="0"/>
              <a:t>23/06/2025</a:t>
            </a:fld>
            <a:endParaRPr lang="it-IT" dirty="0"/>
          </a:p>
        </p:txBody>
      </p:sp>
      <p:sp>
        <p:nvSpPr>
          <p:cNvPr id="6" name="Segnaposto piè di pagina 5">
            <a:extLst>
              <a:ext uri="{FF2B5EF4-FFF2-40B4-BE49-F238E27FC236}">
                <a16:creationId xmlns:a16="http://schemas.microsoft.com/office/drawing/2014/main" id="{9FEF09D1-BDF5-E8C3-B163-85907DEC59F2}"/>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2A4D6DB3-B641-48C5-AC8C-25719BA8189A}"/>
              </a:ext>
            </a:extLst>
          </p:cNvPr>
          <p:cNvSpPr>
            <a:spLocks noGrp="1"/>
          </p:cNvSpPr>
          <p:nvPr>
            <p:ph type="sldNum" sz="quarter" idx="12"/>
          </p:nvPr>
        </p:nvSpPr>
        <p:spPr/>
        <p:txBody>
          <a:bodyPr/>
          <a:lstStyle/>
          <a:p>
            <a:fld id="{F0B2886A-63A7-46DF-B373-C65921F4F499}" type="slidenum">
              <a:rPr lang="it-IT" smtClean="0"/>
              <a:t>‹N›</a:t>
            </a:fld>
            <a:endParaRPr lang="it-IT" dirty="0"/>
          </a:p>
        </p:txBody>
      </p:sp>
    </p:spTree>
    <p:extLst>
      <p:ext uri="{BB962C8B-B14F-4D97-AF65-F5344CB8AC3E}">
        <p14:creationId xmlns:p14="http://schemas.microsoft.com/office/powerpoint/2010/main" val="1530713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10F0C89-580D-C07E-123F-EA278E1FEC1F}"/>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C888A051-094D-C936-912B-8821D892D4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a:extLst>
              <a:ext uri="{FF2B5EF4-FFF2-40B4-BE49-F238E27FC236}">
                <a16:creationId xmlns:a16="http://schemas.microsoft.com/office/drawing/2014/main" id="{9778EDDB-7D0F-B98D-E353-11398EC91D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62499AE7-6925-1780-88AC-60192ED720EF}"/>
              </a:ext>
            </a:extLst>
          </p:cNvPr>
          <p:cNvSpPr>
            <a:spLocks noGrp="1"/>
          </p:cNvSpPr>
          <p:nvPr>
            <p:ph type="dt" sz="half" idx="10"/>
          </p:nvPr>
        </p:nvSpPr>
        <p:spPr/>
        <p:txBody>
          <a:bodyPr/>
          <a:lstStyle/>
          <a:p>
            <a:fld id="{F85572C1-5358-42AB-945E-3BE092CC101D}" type="datetimeFigureOut">
              <a:rPr lang="it-IT" smtClean="0"/>
              <a:t>23/06/2025</a:t>
            </a:fld>
            <a:endParaRPr lang="it-IT" dirty="0"/>
          </a:p>
        </p:txBody>
      </p:sp>
      <p:sp>
        <p:nvSpPr>
          <p:cNvPr id="6" name="Segnaposto piè di pagina 5">
            <a:extLst>
              <a:ext uri="{FF2B5EF4-FFF2-40B4-BE49-F238E27FC236}">
                <a16:creationId xmlns:a16="http://schemas.microsoft.com/office/drawing/2014/main" id="{8E3FECE4-0A68-A9DD-C6EE-7F271DDCD958}"/>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959F9D14-F93D-9B36-D6AD-9E4D736D7074}"/>
              </a:ext>
            </a:extLst>
          </p:cNvPr>
          <p:cNvSpPr>
            <a:spLocks noGrp="1"/>
          </p:cNvSpPr>
          <p:nvPr>
            <p:ph type="sldNum" sz="quarter" idx="12"/>
          </p:nvPr>
        </p:nvSpPr>
        <p:spPr/>
        <p:txBody>
          <a:bodyPr/>
          <a:lstStyle/>
          <a:p>
            <a:fld id="{F0B2886A-63A7-46DF-B373-C65921F4F499}" type="slidenum">
              <a:rPr lang="it-IT" smtClean="0"/>
              <a:t>‹N›</a:t>
            </a:fld>
            <a:endParaRPr lang="it-IT" dirty="0"/>
          </a:p>
        </p:txBody>
      </p:sp>
    </p:spTree>
    <p:extLst>
      <p:ext uri="{BB962C8B-B14F-4D97-AF65-F5344CB8AC3E}">
        <p14:creationId xmlns:p14="http://schemas.microsoft.com/office/powerpoint/2010/main" val="370433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77BF36A-82EF-4042-774D-835D80AA658B}"/>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7B5DFD9B-0DE7-C870-F933-191E773F5D5A}"/>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EC3EB76-1A95-A46D-555B-460BD3BCF3ED}"/>
              </a:ext>
            </a:extLst>
          </p:cNvPr>
          <p:cNvSpPr>
            <a:spLocks noGrp="1"/>
          </p:cNvSpPr>
          <p:nvPr>
            <p:ph type="dt" sz="half" idx="10"/>
          </p:nvPr>
        </p:nvSpPr>
        <p:spPr/>
        <p:txBody>
          <a:bodyPr/>
          <a:lstStyle/>
          <a:p>
            <a:fld id="{F85572C1-5358-42AB-945E-3BE092CC101D}" type="datetimeFigureOut">
              <a:rPr lang="it-IT" smtClean="0"/>
              <a:t>23/06/2025</a:t>
            </a:fld>
            <a:endParaRPr lang="it-IT" dirty="0"/>
          </a:p>
        </p:txBody>
      </p:sp>
      <p:sp>
        <p:nvSpPr>
          <p:cNvPr id="5" name="Segnaposto piè di pagina 4">
            <a:extLst>
              <a:ext uri="{FF2B5EF4-FFF2-40B4-BE49-F238E27FC236}">
                <a16:creationId xmlns:a16="http://schemas.microsoft.com/office/drawing/2014/main" id="{922584C6-AAFA-B261-3902-F950D399BACE}"/>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75845977-C3F1-D50D-35EE-A52C1CDE45CE}"/>
              </a:ext>
            </a:extLst>
          </p:cNvPr>
          <p:cNvSpPr>
            <a:spLocks noGrp="1"/>
          </p:cNvSpPr>
          <p:nvPr>
            <p:ph type="sldNum" sz="quarter" idx="12"/>
          </p:nvPr>
        </p:nvSpPr>
        <p:spPr/>
        <p:txBody>
          <a:bodyPr/>
          <a:lstStyle/>
          <a:p>
            <a:fld id="{F0B2886A-63A7-46DF-B373-C65921F4F499}" type="slidenum">
              <a:rPr lang="it-IT" smtClean="0"/>
              <a:t>‹N›</a:t>
            </a:fld>
            <a:endParaRPr lang="it-IT" dirty="0"/>
          </a:p>
        </p:txBody>
      </p:sp>
    </p:spTree>
    <p:extLst>
      <p:ext uri="{BB962C8B-B14F-4D97-AF65-F5344CB8AC3E}">
        <p14:creationId xmlns:p14="http://schemas.microsoft.com/office/powerpoint/2010/main" val="4279803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E6E929E6-D8A0-02CF-DF21-F118BCCEDA9C}"/>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D5571619-FBC0-FA09-70B3-F46CC2AF264C}"/>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4C5A4F9B-2725-A805-909C-4E992D221F2B}"/>
              </a:ext>
            </a:extLst>
          </p:cNvPr>
          <p:cNvSpPr>
            <a:spLocks noGrp="1"/>
          </p:cNvSpPr>
          <p:nvPr>
            <p:ph type="dt" sz="half" idx="10"/>
          </p:nvPr>
        </p:nvSpPr>
        <p:spPr/>
        <p:txBody>
          <a:bodyPr/>
          <a:lstStyle/>
          <a:p>
            <a:fld id="{F85572C1-5358-42AB-945E-3BE092CC101D}" type="datetimeFigureOut">
              <a:rPr lang="it-IT" smtClean="0"/>
              <a:t>23/06/2025</a:t>
            </a:fld>
            <a:endParaRPr lang="it-IT" dirty="0"/>
          </a:p>
        </p:txBody>
      </p:sp>
      <p:sp>
        <p:nvSpPr>
          <p:cNvPr id="5" name="Segnaposto piè di pagina 4">
            <a:extLst>
              <a:ext uri="{FF2B5EF4-FFF2-40B4-BE49-F238E27FC236}">
                <a16:creationId xmlns:a16="http://schemas.microsoft.com/office/drawing/2014/main" id="{BF1E117E-6EA4-FDA0-9158-8E6D15EBD16E}"/>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829D6EFE-9BEC-6C81-2625-06BA1CFD909B}"/>
              </a:ext>
            </a:extLst>
          </p:cNvPr>
          <p:cNvSpPr>
            <a:spLocks noGrp="1"/>
          </p:cNvSpPr>
          <p:nvPr>
            <p:ph type="sldNum" sz="quarter" idx="12"/>
          </p:nvPr>
        </p:nvSpPr>
        <p:spPr/>
        <p:txBody>
          <a:bodyPr/>
          <a:lstStyle/>
          <a:p>
            <a:fld id="{F0B2886A-63A7-46DF-B373-C65921F4F499}" type="slidenum">
              <a:rPr lang="it-IT" smtClean="0"/>
              <a:t>‹N›</a:t>
            </a:fld>
            <a:endParaRPr lang="it-IT" dirty="0"/>
          </a:p>
        </p:txBody>
      </p:sp>
    </p:spTree>
    <p:extLst>
      <p:ext uri="{BB962C8B-B14F-4D97-AF65-F5344CB8AC3E}">
        <p14:creationId xmlns:p14="http://schemas.microsoft.com/office/powerpoint/2010/main" val="3180207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FAC837A9-E98D-2B83-2A45-93298E2C40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F56B46D6-0F1F-E4E3-1CD0-994D5BAFCC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6EF453C0-51E1-7A5A-062C-1DD067BB2A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5572C1-5358-42AB-945E-3BE092CC101D}" type="datetimeFigureOut">
              <a:rPr lang="it-IT" smtClean="0"/>
              <a:t>23/06/2025</a:t>
            </a:fld>
            <a:endParaRPr lang="it-IT" dirty="0"/>
          </a:p>
        </p:txBody>
      </p:sp>
      <p:sp>
        <p:nvSpPr>
          <p:cNvPr id="5" name="Segnaposto piè di pagina 4">
            <a:extLst>
              <a:ext uri="{FF2B5EF4-FFF2-40B4-BE49-F238E27FC236}">
                <a16:creationId xmlns:a16="http://schemas.microsoft.com/office/drawing/2014/main" id="{080F3A46-3C6D-0876-411C-DC58DE5510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dirty="0"/>
          </a:p>
        </p:txBody>
      </p:sp>
      <p:sp>
        <p:nvSpPr>
          <p:cNvPr id="6" name="Segnaposto numero diapositiva 5">
            <a:extLst>
              <a:ext uri="{FF2B5EF4-FFF2-40B4-BE49-F238E27FC236}">
                <a16:creationId xmlns:a16="http://schemas.microsoft.com/office/drawing/2014/main" id="{3E1A4A39-DEDE-8263-0930-4B6A914204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B2886A-63A7-46DF-B373-C65921F4F499}" type="slidenum">
              <a:rPr lang="it-IT" smtClean="0"/>
              <a:t>‹N›</a:t>
            </a:fld>
            <a:endParaRPr lang="it-IT" dirty="0"/>
          </a:p>
        </p:txBody>
      </p:sp>
    </p:spTree>
    <p:extLst>
      <p:ext uri="{BB962C8B-B14F-4D97-AF65-F5344CB8AC3E}">
        <p14:creationId xmlns:p14="http://schemas.microsoft.com/office/powerpoint/2010/main" val="3149857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Layout" Target="../diagrams/layout1.xml"/><Relationship Id="rId7" Type="http://schemas.openxmlformats.org/officeDocument/2006/relationships/image" Target="../media/image6.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9" name="Rectangle 128">
            <a:extLst>
              <a:ext uri="{FF2B5EF4-FFF2-40B4-BE49-F238E27FC236}">
                <a16:creationId xmlns:a16="http://schemas.microsoft.com/office/drawing/2014/main" id="{FB33DC6A-1F1C-4A06-834E-CFF88F1C0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36" name="Freeform: Shape 130">
            <a:extLst>
              <a:ext uri="{FF2B5EF4-FFF2-40B4-BE49-F238E27FC236}">
                <a16:creationId xmlns:a16="http://schemas.microsoft.com/office/drawing/2014/main" id="{0FE1D5CF-87B8-4A8A-AD3C-01D06A6076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08641" cy="6858000"/>
          </a:xfrm>
          <a:custGeom>
            <a:avLst/>
            <a:gdLst>
              <a:gd name="connsiteX0" fmla="*/ 0 w 6208641"/>
              <a:gd name="connsiteY0" fmla="*/ 0 h 6858000"/>
              <a:gd name="connsiteX1" fmla="*/ 5464181 w 6208641"/>
              <a:gd name="connsiteY1" fmla="*/ 0 h 6858000"/>
              <a:gd name="connsiteX2" fmla="*/ 5538086 w 6208641"/>
              <a:gd name="connsiteY2" fmla="*/ 159684 h 6858000"/>
              <a:gd name="connsiteX3" fmla="*/ 6208641 w 6208641"/>
              <a:gd name="connsiteY3" fmla="*/ 3706589 h 6858000"/>
              <a:gd name="connsiteX4" fmla="*/ 5734754 w 6208641"/>
              <a:gd name="connsiteY4" fmla="*/ 6730443 h 6858000"/>
              <a:gd name="connsiteX5" fmla="*/ 5689361 w 6208641"/>
              <a:gd name="connsiteY5" fmla="*/ 6858000 h 6858000"/>
              <a:gd name="connsiteX6" fmla="*/ 0 w 620864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8641" h="6858000">
                <a:moveTo>
                  <a:pt x="0" y="0"/>
                </a:moveTo>
                <a:lnTo>
                  <a:pt x="5464181" y="0"/>
                </a:lnTo>
                <a:lnTo>
                  <a:pt x="5538086" y="159684"/>
                </a:lnTo>
                <a:cubicBezTo>
                  <a:pt x="5961440" y="1172168"/>
                  <a:pt x="6208641" y="2392735"/>
                  <a:pt x="6208641" y="3706589"/>
                </a:cubicBezTo>
                <a:cubicBezTo>
                  <a:pt x="6208641" y="4801467"/>
                  <a:pt x="6036974" y="5831563"/>
                  <a:pt x="5734754" y="6730443"/>
                </a:cubicBezTo>
                <a:lnTo>
                  <a:pt x="568936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38" name="Freeform: Shape 132">
            <a:extLst>
              <a:ext uri="{FF2B5EF4-FFF2-40B4-BE49-F238E27FC236}">
                <a16:creationId xmlns:a16="http://schemas.microsoft.com/office/drawing/2014/main" id="{60926200-45C2-41E9-839F-31CD5FE4C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203325" cy="6858000"/>
          </a:xfrm>
          <a:custGeom>
            <a:avLst/>
            <a:gdLst>
              <a:gd name="connsiteX0" fmla="*/ 0 w 6203325"/>
              <a:gd name="connsiteY0" fmla="*/ 0 h 6858000"/>
              <a:gd name="connsiteX1" fmla="*/ 5458865 w 6203325"/>
              <a:gd name="connsiteY1" fmla="*/ 0 h 6858000"/>
              <a:gd name="connsiteX2" fmla="*/ 5532770 w 6203325"/>
              <a:gd name="connsiteY2" fmla="*/ 159684 h 6858000"/>
              <a:gd name="connsiteX3" fmla="*/ 6203325 w 6203325"/>
              <a:gd name="connsiteY3" fmla="*/ 3706589 h 6858000"/>
              <a:gd name="connsiteX4" fmla="*/ 5729438 w 6203325"/>
              <a:gd name="connsiteY4" fmla="*/ 6730443 h 6858000"/>
              <a:gd name="connsiteX5" fmla="*/ 5684045 w 6203325"/>
              <a:gd name="connsiteY5" fmla="*/ 6858000 h 6858000"/>
              <a:gd name="connsiteX6" fmla="*/ 0 w 62033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3325" h="6858000">
                <a:moveTo>
                  <a:pt x="0" y="0"/>
                </a:moveTo>
                <a:lnTo>
                  <a:pt x="5458865" y="0"/>
                </a:lnTo>
                <a:lnTo>
                  <a:pt x="5532770" y="159684"/>
                </a:lnTo>
                <a:cubicBezTo>
                  <a:pt x="5956124" y="1172168"/>
                  <a:pt x="6203325" y="2392735"/>
                  <a:pt x="6203325" y="3706589"/>
                </a:cubicBezTo>
                <a:cubicBezTo>
                  <a:pt x="6203325" y="4801467"/>
                  <a:pt x="6031658" y="5831563"/>
                  <a:pt x="5729438" y="6730443"/>
                </a:cubicBezTo>
                <a:lnTo>
                  <a:pt x="568404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olo 1">
            <a:extLst>
              <a:ext uri="{FF2B5EF4-FFF2-40B4-BE49-F238E27FC236}">
                <a16:creationId xmlns:a16="http://schemas.microsoft.com/office/drawing/2014/main" id="{7DE2DDD6-BBE9-60AF-E587-F47A547643BA}"/>
              </a:ext>
            </a:extLst>
          </p:cNvPr>
          <p:cNvSpPr>
            <a:spLocks noGrp="1"/>
          </p:cNvSpPr>
          <p:nvPr>
            <p:ph type="ctrTitle"/>
          </p:nvPr>
        </p:nvSpPr>
        <p:spPr>
          <a:xfrm>
            <a:off x="489098" y="1106034"/>
            <a:ext cx="5019074" cy="3204134"/>
          </a:xfrm>
        </p:spPr>
        <p:txBody>
          <a:bodyPr anchor="b">
            <a:normAutofit/>
          </a:bodyPr>
          <a:lstStyle/>
          <a:p>
            <a:pPr algn="l"/>
            <a:r>
              <a:rPr lang="it-IT" sz="5400" b="1" dirty="0">
                <a:effectLst>
                  <a:outerShdw blurRad="38100" dist="38100" dir="2700000" algn="tl">
                    <a:srgbClr val="000000">
                      <a:alpha val="43137"/>
                    </a:srgbClr>
                  </a:outerShdw>
                </a:effectLst>
              </a:rPr>
              <a:t>Football Data WareHouse</a:t>
            </a:r>
          </a:p>
        </p:txBody>
      </p:sp>
      <p:sp>
        <p:nvSpPr>
          <p:cNvPr id="3" name="Sottotitolo 2">
            <a:extLst>
              <a:ext uri="{FF2B5EF4-FFF2-40B4-BE49-F238E27FC236}">
                <a16:creationId xmlns:a16="http://schemas.microsoft.com/office/drawing/2014/main" id="{3F86B8EC-3933-B53E-EF09-467D58596D44}"/>
              </a:ext>
            </a:extLst>
          </p:cNvPr>
          <p:cNvSpPr>
            <a:spLocks noGrp="1"/>
          </p:cNvSpPr>
          <p:nvPr>
            <p:ph type="subTitle" idx="1"/>
          </p:nvPr>
        </p:nvSpPr>
        <p:spPr>
          <a:xfrm>
            <a:off x="494124" y="4872922"/>
            <a:ext cx="5013698" cy="1208141"/>
          </a:xfrm>
        </p:spPr>
        <p:txBody>
          <a:bodyPr>
            <a:normAutofit/>
          </a:bodyPr>
          <a:lstStyle/>
          <a:p>
            <a:pPr algn="l"/>
            <a:r>
              <a:rPr lang="it-IT" dirty="0"/>
              <a:t>By</a:t>
            </a:r>
            <a:r>
              <a:rPr lang="it-IT" sz="2800" dirty="0"/>
              <a:t> Mattia Maucione</a:t>
            </a:r>
          </a:p>
          <a:p>
            <a:pPr algn="l"/>
            <a:r>
              <a:rPr lang="it-IT" sz="1800" dirty="0"/>
              <a:t>ID</a:t>
            </a:r>
            <a:r>
              <a:rPr lang="it-IT" sz="2000" dirty="0"/>
              <a:t>: 2007209</a:t>
            </a:r>
          </a:p>
        </p:txBody>
      </p:sp>
      <p:sp>
        <p:nvSpPr>
          <p:cNvPr id="135" name="Rectangle 13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67989"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pic>
        <p:nvPicPr>
          <p:cNvPr id="17" name="Immagine 16" descr="Immagine che contiene testo, forniture per ufficio, Personal Computer, design&#10;&#10;Il contenuto generato dall'IA potrebbe non essere corretto.">
            <a:extLst>
              <a:ext uri="{FF2B5EF4-FFF2-40B4-BE49-F238E27FC236}">
                <a16:creationId xmlns:a16="http://schemas.microsoft.com/office/drawing/2014/main" id="{0A7C6E1F-18F9-D557-F9D0-BD1B25456AC8}"/>
              </a:ext>
            </a:extLst>
          </p:cNvPr>
          <p:cNvPicPr>
            <a:picLocks noChangeAspect="1"/>
          </p:cNvPicPr>
          <p:nvPr/>
        </p:nvPicPr>
        <p:blipFill>
          <a:blip r:embed="rId2"/>
          <a:stretch>
            <a:fillRect/>
          </a:stretch>
        </p:blipFill>
        <p:spPr>
          <a:xfrm>
            <a:off x="8432943" y="625683"/>
            <a:ext cx="1831086" cy="2743200"/>
          </a:xfrm>
          <a:prstGeom prst="rect">
            <a:avLst/>
          </a:prstGeom>
        </p:spPr>
      </p:pic>
      <p:sp>
        <p:nvSpPr>
          <p:cNvPr id="137" name="Rectangle 13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098" y="4546920"/>
            <a:ext cx="501907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Immagine 4" descr="Immagine che contiene testo, logo, Carattere, Elementi grafici&#10;&#10;Il contenuto generato dall'IA potrebbe non essere corretto.">
            <a:extLst>
              <a:ext uri="{FF2B5EF4-FFF2-40B4-BE49-F238E27FC236}">
                <a16:creationId xmlns:a16="http://schemas.microsoft.com/office/drawing/2014/main" id="{6BEFD79E-FA0F-DADA-AD2B-A08F58C44C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4071" y="3944826"/>
            <a:ext cx="4708833" cy="1954165"/>
          </a:xfrm>
          <a:prstGeom prst="rect">
            <a:avLst/>
          </a:prstGeom>
        </p:spPr>
      </p:pic>
    </p:spTree>
    <p:extLst>
      <p:ext uri="{BB962C8B-B14F-4D97-AF65-F5344CB8AC3E}">
        <p14:creationId xmlns:p14="http://schemas.microsoft.com/office/powerpoint/2010/main" val="2466238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9613011-FD5C-DDB2-C6CB-F7943DC84014}"/>
              </a:ext>
            </a:extLst>
          </p:cNvPr>
          <p:cNvSpPr>
            <a:spLocks noGrp="1"/>
          </p:cNvSpPr>
          <p:nvPr>
            <p:ph type="title"/>
          </p:nvPr>
        </p:nvSpPr>
        <p:spPr>
          <a:xfrm>
            <a:off x="654050" y="0"/>
            <a:ext cx="10515600" cy="1325563"/>
          </a:xfrm>
        </p:spPr>
        <p:txBody>
          <a:bodyPr/>
          <a:lstStyle/>
          <a:p>
            <a:pPr algn="ctr"/>
            <a:r>
              <a:rPr lang="en-GB" b="1" noProof="0">
                <a:effectLst>
                  <a:outerShdw blurRad="38100" dist="38100" dir="2700000" algn="tl">
                    <a:srgbClr val="000000">
                      <a:alpha val="43137"/>
                    </a:srgbClr>
                  </a:outerShdw>
                </a:effectLst>
              </a:rPr>
              <a:t>Motivation</a:t>
            </a:r>
            <a:r>
              <a:rPr lang="it-IT" b="1">
                <a:effectLst>
                  <a:outerShdw blurRad="38100" dist="38100" dir="2700000" algn="tl">
                    <a:srgbClr val="000000">
                      <a:alpha val="43137"/>
                    </a:srgbClr>
                  </a:outerShdw>
                </a:effectLst>
              </a:rPr>
              <a:t> &amp; objective</a:t>
            </a:r>
            <a:endParaRPr lang="it-IT" b="1" dirty="0">
              <a:effectLst>
                <a:outerShdw blurRad="38100" dist="38100" dir="2700000" algn="tl">
                  <a:srgbClr val="000000">
                    <a:alpha val="43137"/>
                  </a:srgbClr>
                </a:outerShdw>
              </a:effectLst>
            </a:endParaRPr>
          </a:p>
        </p:txBody>
      </p:sp>
      <p:sp>
        <p:nvSpPr>
          <p:cNvPr id="3" name="Segnaposto contenuto 2">
            <a:extLst>
              <a:ext uri="{FF2B5EF4-FFF2-40B4-BE49-F238E27FC236}">
                <a16:creationId xmlns:a16="http://schemas.microsoft.com/office/drawing/2014/main" id="{61E8283A-4121-D006-5E9C-B6E9A10B7C5F}"/>
              </a:ext>
            </a:extLst>
          </p:cNvPr>
          <p:cNvSpPr>
            <a:spLocks noGrp="1"/>
          </p:cNvSpPr>
          <p:nvPr>
            <p:ph idx="1"/>
          </p:nvPr>
        </p:nvSpPr>
        <p:spPr>
          <a:xfrm>
            <a:off x="80750" y="1398375"/>
            <a:ext cx="8428630" cy="2357414"/>
          </a:xfrm>
        </p:spPr>
        <p:txBody>
          <a:bodyPr>
            <a:normAutofit fontScale="92500"/>
          </a:bodyPr>
          <a:lstStyle/>
          <a:p>
            <a:r>
              <a:rPr lang="it-IT"/>
              <a:t>Project Description:</a:t>
            </a:r>
          </a:p>
          <a:p>
            <a:pPr marL="0" indent="0" algn="just">
              <a:buNone/>
            </a:pPr>
            <a:r>
              <a:rPr lang="en-US" sz="2200"/>
              <a:t>This project focuses on the development of a Data Warehouse to analyze the factors that influence the market value of professional football players across the top five European leagues (Serie A, Premier League, La Liga, Bundesliga, Ligue 1). It integrates two datasets: player performance statistics (2018–2024) and market valuations (2000–2024), harmonized through structured ETL operations.</a:t>
            </a:r>
            <a:endParaRPr lang="it-IT" sz="2200" dirty="0"/>
          </a:p>
        </p:txBody>
      </p:sp>
      <p:sp>
        <p:nvSpPr>
          <p:cNvPr id="4" name="CasellaDiTesto 3">
            <a:extLst>
              <a:ext uri="{FF2B5EF4-FFF2-40B4-BE49-F238E27FC236}">
                <a16:creationId xmlns:a16="http://schemas.microsoft.com/office/drawing/2014/main" id="{AE70AEFE-323F-21BF-CAD3-3FF25F56DF6C}"/>
              </a:ext>
            </a:extLst>
          </p:cNvPr>
          <p:cNvSpPr txBox="1"/>
          <p:nvPr/>
        </p:nvSpPr>
        <p:spPr>
          <a:xfrm>
            <a:off x="5770728" y="3882350"/>
            <a:ext cx="6421272" cy="2893100"/>
          </a:xfrm>
          <a:prstGeom prst="rect">
            <a:avLst/>
          </a:prstGeom>
          <a:noFill/>
        </p:spPr>
        <p:txBody>
          <a:bodyPr wrap="square" rtlCol="0">
            <a:spAutoFit/>
          </a:bodyPr>
          <a:lstStyle/>
          <a:p>
            <a:pPr marL="285750" indent="-285750">
              <a:buFont typeface="Arial" panose="020B0604020202020204" pitchFamily="34" charset="0"/>
              <a:buChar char="•"/>
            </a:pPr>
            <a:r>
              <a:rPr lang="it-IT" sz="2400"/>
              <a:t>Objective</a:t>
            </a:r>
          </a:p>
          <a:p>
            <a:pPr algn="just"/>
            <a:r>
              <a:rPr lang="en-US" sz="2000"/>
              <a:t>To build a unified and consistent analytical base using a Dimensional Fact Model and a star schema in PostgreSQL, enabling detailed analysis of player valuation trends based on age, performance metrics, league, club, and role. The project includes data preparation, schema design, and statistical analysis performed with SQL and Python.</a:t>
            </a:r>
          </a:p>
          <a:p>
            <a:pPr marL="285750" indent="-285750">
              <a:buFont typeface="Arial" panose="020B0604020202020204" pitchFamily="34" charset="0"/>
              <a:buChar char="•"/>
            </a:pPr>
            <a:endParaRPr lang="it-IT" dirty="0"/>
          </a:p>
        </p:txBody>
      </p:sp>
    </p:spTree>
    <p:extLst>
      <p:ext uri="{BB962C8B-B14F-4D97-AF65-F5344CB8AC3E}">
        <p14:creationId xmlns:p14="http://schemas.microsoft.com/office/powerpoint/2010/main" val="3696224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D1A285F-40F1-2E16-F7A9-EF012BA80608}"/>
              </a:ext>
            </a:extLst>
          </p:cNvPr>
          <p:cNvSpPr>
            <a:spLocks noGrp="1"/>
          </p:cNvSpPr>
          <p:nvPr>
            <p:ph type="title"/>
          </p:nvPr>
        </p:nvSpPr>
        <p:spPr>
          <a:xfrm>
            <a:off x="914400" y="0"/>
            <a:ext cx="10363200" cy="1117599"/>
          </a:xfrm>
        </p:spPr>
        <p:txBody>
          <a:bodyPr/>
          <a:lstStyle/>
          <a:p>
            <a:pPr algn="ctr"/>
            <a:r>
              <a:rPr lang="it-IT" b="1" dirty="0">
                <a:effectLst>
                  <a:outerShdw blurRad="38100" dist="38100" dir="2700000" algn="tl">
                    <a:srgbClr val="000000">
                      <a:alpha val="43137"/>
                    </a:srgbClr>
                  </a:outerShdw>
                </a:effectLst>
              </a:rPr>
              <a:t>Datasets Overview</a:t>
            </a:r>
          </a:p>
        </p:txBody>
      </p:sp>
      <p:sp>
        <p:nvSpPr>
          <p:cNvPr id="4" name="CasellaDiTesto 3">
            <a:extLst>
              <a:ext uri="{FF2B5EF4-FFF2-40B4-BE49-F238E27FC236}">
                <a16:creationId xmlns:a16="http://schemas.microsoft.com/office/drawing/2014/main" id="{4112B4FA-9423-F881-C52B-F49BF2DD2869}"/>
              </a:ext>
            </a:extLst>
          </p:cNvPr>
          <p:cNvSpPr txBox="1"/>
          <p:nvPr/>
        </p:nvSpPr>
        <p:spPr>
          <a:xfrm>
            <a:off x="0" y="1085850"/>
            <a:ext cx="4273550" cy="338554"/>
          </a:xfrm>
          <a:prstGeom prst="rect">
            <a:avLst/>
          </a:prstGeom>
          <a:noFill/>
        </p:spPr>
        <p:txBody>
          <a:bodyPr wrap="square" rtlCol="0">
            <a:spAutoFit/>
          </a:bodyPr>
          <a:lstStyle/>
          <a:p>
            <a:r>
              <a:rPr lang="it-IT" sz="1600" dirty="0"/>
              <a:t>In this project I join two datasets.</a:t>
            </a:r>
          </a:p>
        </p:txBody>
      </p:sp>
      <p:sp>
        <p:nvSpPr>
          <p:cNvPr id="6" name="CasellaDiTesto 5">
            <a:extLst>
              <a:ext uri="{FF2B5EF4-FFF2-40B4-BE49-F238E27FC236}">
                <a16:creationId xmlns:a16="http://schemas.microsoft.com/office/drawing/2014/main" id="{7C9DE9FD-5851-0E71-529F-5D1818E1C4C0}"/>
              </a:ext>
            </a:extLst>
          </p:cNvPr>
          <p:cNvSpPr txBox="1"/>
          <p:nvPr/>
        </p:nvSpPr>
        <p:spPr>
          <a:xfrm>
            <a:off x="0" y="1453902"/>
            <a:ext cx="4889500" cy="646331"/>
          </a:xfrm>
          <a:prstGeom prst="rect">
            <a:avLst/>
          </a:prstGeom>
          <a:noFill/>
        </p:spPr>
        <p:txBody>
          <a:bodyPr wrap="square" rtlCol="0">
            <a:spAutoFit/>
          </a:bodyPr>
          <a:lstStyle/>
          <a:p>
            <a:pPr marL="342900" indent="-342900">
              <a:buFont typeface="Arial" panose="020B0604020202020204" pitchFamily="34" charset="0"/>
              <a:buChar char="•"/>
            </a:pPr>
            <a:r>
              <a:rPr lang="it-IT" b="1" dirty="0"/>
              <a:t>Performance dataset (2018-2024):</a:t>
            </a:r>
          </a:p>
          <a:p>
            <a:r>
              <a:rPr lang="it-IT" dirty="0"/>
              <a:t>	</a:t>
            </a:r>
          </a:p>
        </p:txBody>
      </p:sp>
      <p:sp>
        <p:nvSpPr>
          <p:cNvPr id="9" name="CasellaDiTesto 8">
            <a:extLst>
              <a:ext uri="{FF2B5EF4-FFF2-40B4-BE49-F238E27FC236}">
                <a16:creationId xmlns:a16="http://schemas.microsoft.com/office/drawing/2014/main" id="{47C1BA37-1A68-46C5-3B20-232CDA32423A}"/>
              </a:ext>
            </a:extLst>
          </p:cNvPr>
          <p:cNvSpPr txBox="1"/>
          <p:nvPr/>
        </p:nvSpPr>
        <p:spPr>
          <a:xfrm>
            <a:off x="0" y="3886200"/>
            <a:ext cx="3746923" cy="369332"/>
          </a:xfrm>
          <a:prstGeom prst="rect">
            <a:avLst/>
          </a:prstGeom>
          <a:noFill/>
        </p:spPr>
        <p:txBody>
          <a:bodyPr wrap="none" rtlCol="0">
            <a:spAutoFit/>
          </a:bodyPr>
          <a:lstStyle/>
          <a:p>
            <a:pPr marL="285750" indent="-285750">
              <a:buFont typeface="Arial" panose="020B0604020202020204" pitchFamily="34" charset="0"/>
              <a:buChar char="•"/>
            </a:pPr>
            <a:r>
              <a:rPr lang="it-IT" b="1" dirty="0"/>
              <a:t>Valuations dataset (2000-2024):</a:t>
            </a:r>
          </a:p>
        </p:txBody>
      </p:sp>
      <p:sp>
        <p:nvSpPr>
          <p:cNvPr id="10" name="CasellaDiTesto 9">
            <a:extLst>
              <a:ext uri="{FF2B5EF4-FFF2-40B4-BE49-F238E27FC236}">
                <a16:creationId xmlns:a16="http://schemas.microsoft.com/office/drawing/2014/main" id="{2F84BA6B-1724-2DAC-64E3-FC824B7ED0B8}"/>
              </a:ext>
            </a:extLst>
          </p:cNvPr>
          <p:cNvSpPr txBox="1"/>
          <p:nvPr/>
        </p:nvSpPr>
        <p:spPr>
          <a:xfrm>
            <a:off x="3911600" y="1715532"/>
            <a:ext cx="8128000" cy="2123658"/>
          </a:xfrm>
          <a:prstGeom prst="rect">
            <a:avLst/>
          </a:prstGeom>
          <a:noFill/>
        </p:spPr>
        <p:txBody>
          <a:bodyPr wrap="square" rtlCol="0">
            <a:spAutoFit/>
          </a:bodyPr>
          <a:lstStyle/>
          <a:p>
            <a:pPr marL="342900" indent="-342900">
              <a:buFont typeface="+mj-lt"/>
              <a:buAutoNum type="arabicPeriod"/>
            </a:pPr>
            <a:r>
              <a:rPr lang="en-US" sz="1600" dirty="0"/>
              <a:t>Offensive metrics (goals, assists, xG, key passes)</a:t>
            </a:r>
            <a:endParaRPr lang="it-IT" sz="1600" dirty="0"/>
          </a:p>
          <a:p>
            <a:pPr marL="342900" indent="-342900">
              <a:buFont typeface="+mj-lt"/>
              <a:buAutoNum type="arabicPeriod"/>
            </a:pPr>
            <a:r>
              <a:rPr lang="en-US" sz="1600" dirty="0"/>
              <a:t>Defensive metrics (tackles, interceptions, blocks)</a:t>
            </a:r>
          </a:p>
          <a:p>
            <a:pPr marL="342900" indent="-342900">
              <a:buFont typeface="+mj-lt"/>
              <a:buAutoNum type="arabicPeriod"/>
            </a:pPr>
            <a:r>
              <a:rPr lang="en-US" sz="1600" dirty="0"/>
              <a:t>Possession and passing data (passess completed, progressive carries)</a:t>
            </a:r>
          </a:p>
          <a:p>
            <a:pPr marL="342900" indent="-342900">
              <a:buFont typeface="+mj-lt"/>
              <a:buAutoNum type="arabicPeriod"/>
            </a:pPr>
            <a:r>
              <a:rPr lang="en-US" sz="1600" dirty="0"/>
              <a:t>Separative CSVs for each aspect (player_defense.csv, player_shooting.csv)</a:t>
            </a:r>
          </a:p>
          <a:p>
            <a:pPr marL="342900" indent="-342900">
              <a:buFont typeface="+mj-lt"/>
              <a:buAutoNum type="arabicPeriod"/>
            </a:pPr>
            <a:endParaRPr lang="en-US" sz="1600" dirty="0"/>
          </a:p>
          <a:p>
            <a:pPr marL="342900" indent="-342900">
              <a:buFont typeface="+mj-lt"/>
              <a:buAutoNum type="arabicPeriod"/>
            </a:pPr>
            <a:endParaRPr lang="en-US" sz="1600" dirty="0"/>
          </a:p>
          <a:p>
            <a:r>
              <a:rPr lang="en-US" sz="1600" dirty="0"/>
              <a:t>Each row represents a </a:t>
            </a:r>
            <a:r>
              <a:rPr lang="en-US" sz="1600" b="1" dirty="0"/>
              <a:t>player-season pair</a:t>
            </a:r>
            <a:r>
              <a:rPr lang="en-US" sz="1600" dirty="0"/>
              <a:t>, and includes team, league, and season metadata.</a:t>
            </a:r>
          </a:p>
        </p:txBody>
      </p:sp>
      <p:sp>
        <p:nvSpPr>
          <p:cNvPr id="18" name="CasellaDiTesto 17">
            <a:extLst>
              <a:ext uri="{FF2B5EF4-FFF2-40B4-BE49-F238E27FC236}">
                <a16:creationId xmlns:a16="http://schemas.microsoft.com/office/drawing/2014/main" id="{6E22F0F1-455C-E393-D135-565C08D9D3E8}"/>
              </a:ext>
            </a:extLst>
          </p:cNvPr>
          <p:cNvSpPr txBox="1"/>
          <p:nvPr/>
        </p:nvSpPr>
        <p:spPr>
          <a:xfrm>
            <a:off x="3911600" y="4210904"/>
            <a:ext cx="7810077" cy="861774"/>
          </a:xfrm>
          <a:prstGeom prst="rect">
            <a:avLst/>
          </a:prstGeom>
          <a:noFill/>
        </p:spPr>
        <p:txBody>
          <a:bodyPr wrap="square" rtlCol="0">
            <a:spAutoFit/>
          </a:bodyPr>
          <a:lstStyle/>
          <a:p>
            <a:pPr marL="342900" indent="-342900">
              <a:buFont typeface="+mj-lt"/>
              <a:buAutoNum type="arabicPeriod"/>
            </a:pPr>
            <a:r>
              <a:rPr lang="en-US" sz="1600" dirty="0"/>
              <a:t>Player name, date of valuation, and market value in euros</a:t>
            </a:r>
          </a:p>
          <a:p>
            <a:pPr marL="342900" indent="-342900">
              <a:buFont typeface="+mj-lt"/>
              <a:buAutoNum type="arabicPeriod"/>
            </a:pPr>
            <a:r>
              <a:rPr lang="en-US" sz="1600" dirty="0"/>
              <a:t>Club, competition (league), nationality, and birth year</a:t>
            </a:r>
          </a:p>
          <a:p>
            <a:pPr marL="342900" indent="-342900">
              <a:buFont typeface="+mj-lt"/>
              <a:buAutoNum type="arabicPeriod"/>
            </a:pPr>
            <a:endParaRPr lang="it-IT" dirty="0"/>
          </a:p>
        </p:txBody>
      </p:sp>
      <p:sp>
        <p:nvSpPr>
          <p:cNvPr id="19" name="CasellaDiTesto 18">
            <a:extLst>
              <a:ext uri="{FF2B5EF4-FFF2-40B4-BE49-F238E27FC236}">
                <a16:creationId xmlns:a16="http://schemas.microsoft.com/office/drawing/2014/main" id="{B33E3D75-B2EA-091A-9DC5-7DE9B3A2B138}"/>
              </a:ext>
            </a:extLst>
          </p:cNvPr>
          <p:cNvSpPr txBox="1"/>
          <p:nvPr/>
        </p:nvSpPr>
        <p:spPr>
          <a:xfrm>
            <a:off x="0" y="5440491"/>
            <a:ext cx="10718704" cy="369332"/>
          </a:xfrm>
          <a:prstGeom prst="rect">
            <a:avLst/>
          </a:prstGeom>
          <a:noFill/>
        </p:spPr>
        <p:txBody>
          <a:bodyPr wrap="none" rtlCol="0">
            <a:spAutoFit/>
          </a:bodyPr>
          <a:lstStyle/>
          <a:p>
            <a:r>
              <a:rPr lang="en-US" dirty="0"/>
              <a:t>Data harmonized with the performance dataset through ETL operations (based on name, season, and club).</a:t>
            </a:r>
            <a:endParaRPr lang="it-IT" dirty="0"/>
          </a:p>
        </p:txBody>
      </p:sp>
    </p:spTree>
    <p:extLst>
      <p:ext uri="{BB962C8B-B14F-4D97-AF65-F5344CB8AC3E}">
        <p14:creationId xmlns:p14="http://schemas.microsoft.com/office/powerpoint/2010/main" val="2581271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1B53B57-E40A-759B-AF3E-22A38C2700B9}"/>
              </a:ext>
            </a:extLst>
          </p:cNvPr>
          <p:cNvSpPr>
            <a:spLocks noGrp="1"/>
          </p:cNvSpPr>
          <p:nvPr>
            <p:ph type="title"/>
          </p:nvPr>
        </p:nvSpPr>
        <p:spPr>
          <a:xfrm>
            <a:off x="838200" y="0"/>
            <a:ext cx="10515600" cy="1325563"/>
          </a:xfrm>
        </p:spPr>
        <p:txBody>
          <a:bodyPr/>
          <a:lstStyle/>
          <a:p>
            <a:pPr algn="ctr"/>
            <a:r>
              <a:rPr lang="it-IT" b="1" dirty="0">
                <a:effectLst>
                  <a:outerShdw blurRad="38100" dist="38100" dir="2700000" algn="tl">
                    <a:srgbClr val="000000">
                      <a:alpha val="43137"/>
                    </a:srgbClr>
                  </a:outerShdw>
                </a:effectLst>
              </a:rPr>
              <a:t>ETL </a:t>
            </a:r>
            <a:r>
              <a:rPr lang="it-IT" b="1" dirty="0" err="1">
                <a:effectLst>
                  <a:outerShdw blurRad="38100" dist="38100" dir="2700000" algn="tl">
                    <a:srgbClr val="000000">
                      <a:alpha val="43137"/>
                    </a:srgbClr>
                  </a:outerShdw>
                </a:effectLst>
              </a:rPr>
              <a:t>Process</a:t>
            </a:r>
            <a:r>
              <a:rPr lang="it-IT" b="1" dirty="0">
                <a:effectLst>
                  <a:outerShdw blurRad="38100" dist="38100" dir="2700000" algn="tl">
                    <a:srgbClr val="000000">
                      <a:alpha val="43137"/>
                    </a:srgbClr>
                  </a:outerShdw>
                </a:effectLst>
              </a:rPr>
              <a:t> - </a:t>
            </a:r>
            <a:r>
              <a:rPr lang="it-IT" b="1" dirty="0" err="1">
                <a:effectLst>
                  <a:outerShdw blurRad="38100" dist="38100" dir="2700000" algn="tl">
                    <a:srgbClr val="000000">
                      <a:alpha val="43137"/>
                    </a:srgbClr>
                  </a:outerShdw>
                </a:effectLst>
              </a:rPr>
              <a:t>Overview</a:t>
            </a:r>
            <a:endParaRPr lang="it-IT" b="1" dirty="0">
              <a:effectLst>
                <a:outerShdw blurRad="38100" dist="38100" dir="2700000" algn="tl">
                  <a:srgbClr val="000000">
                    <a:alpha val="43137"/>
                  </a:srgbClr>
                </a:outerShdw>
              </a:effectLst>
            </a:endParaRPr>
          </a:p>
        </p:txBody>
      </p:sp>
      <p:pic>
        <p:nvPicPr>
          <p:cNvPr id="10" name="Segnaposto contenuto 9" descr="Immagine che contiene schermata, testo, diagramma, Carattere">
            <a:extLst>
              <a:ext uri="{FF2B5EF4-FFF2-40B4-BE49-F238E27FC236}">
                <a16:creationId xmlns:a16="http://schemas.microsoft.com/office/drawing/2014/main" id="{C66E8DCD-9C7F-155C-E393-55B6A1AA11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0891" y="1579886"/>
            <a:ext cx="2842256" cy="1799678"/>
          </a:xfrm>
        </p:spPr>
      </p:pic>
      <p:sp>
        <p:nvSpPr>
          <p:cNvPr id="11" name="CasellaDiTesto 10">
            <a:extLst>
              <a:ext uri="{FF2B5EF4-FFF2-40B4-BE49-F238E27FC236}">
                <a16:creationId xmlns:a16="http://schemas.microsoft.com/office/drawing/2014/main" id="{A5BE6EC2-F500-0020-F895-7FCC5E68C5F4}"/>
              </a:ext>
            </a:extLst>
          </p:cNvPr>
          <p:cNvSpPr txBox="1"/>
          <p:nvPr/>
        </p:nvSpPr>
        <p:spPr>
          <a:xfrm>
            <a:off x="3708400" y="1325563"/>
            <a:ext cx="8375650" cy="2308324"/>
          </a:xfrm>
          <a:prstGeom prst="rect">
            <a:avLst/>
          </a:prstGeom>
          <a:noFill/>
        </p:spPr>
        <p:txBody>
          <a:bodyPr wrap="square" rtlCol="0">
            <a:spAutoFit/>
          </a:bodyPr>
          <a:lstStyle/>
          <a:p>
            <a:r>
              <a:rPr lang="it-IT" b="1" dirty="0"/>
              <a:t>3 </a:t>
            </a:r>
            <a:r>
              <a:rPr lang="it-IT" b="1" dirty="0" err="1"/>
              <a:t>phases</a:t>
            </a:r>
            <a:r>
              <a:rPr lang="it-IT" dirty="0"/>
              <a:t>:</a:t>
            </a:r>
          </a:p>
          <a:p>
            <a:endParaRPr lang="it-IT" dirty="0"/>
          </a:p>
          <a:p>
            <a:pPr marL="285750" indent="-285750">
              <a:buFont typeface="Arial" panose="020B0604020202020204" pitchFamily="34" charset="0"/>
              <a:buChar char="•"/>
            </a:pPr>
            <a:r>
              <a:rPr lang="it-IT" dirty="0" err="1"/>
              <a:t>Extract</a:t>
            </a:r>
            <a:r>
              <a:rPr lang="it-IT" dirty="0"/>
              <a:t>: </a:t>
            </a:r>
            <a:r>
              <a:rPr lang="en-US" dirty="0"/>
              <a:t>Multiple CSVs (performance and valuation)</a:t>
            </a:r>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r>
              <a:rPr lang="it-IT" dirty="0" err="1"/>
              <a:t>Transform</a:t>
            </a:r>
            <a:r>
              <a:rPr lang="it-IT" dirty="0"/>
              <a:t>: </a:t>
            </a:r>
            <a:r>
              <a:rPr lang="it-IT" dirty="0" err="1"/>
              <a:t>Cleaning</a:t>
            </a:r>
            <a:r>
              <a:rPr lang="it-IT" dirty="0"/>
              <a:t>, matching, filtering</a:t>
            </a:r>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r>
              <a:rPr lang="it-IT" dirty="0"/>
              <a:t>Load: </a:t>
            </a:r>
            <a:r>
              <a:rPr lang="en-US" dirty="0"/>
              <a:t>Final CSVs imported into PostgreSQL for DW creation</a:t>
            </a:r>
          </a:p>
          <a:p>
            <a:pPr marL="285750" indent="-285750">
              <a:buFont typeface="Arial" panose="020B0604020202020204" pitchFamily="34" charset="0"/>
              <a:buChar char="•"/>
            </a:pPr>
            <a:endParaRPr lang="it-IT" dirty="0"/>
          </a:p>
        </p:txBody>
      </p:sp>
      <p:sp>
        <p:nvSpPr>
          <p:cNvPr id="13" name="CasellaDiTesto 12">
            <a:extLst>
              <a:ext uri="{FF2B5EF4-FFF2-40B4-BE49-F238E27FC236}">
                <a16:creationId xmlns:a16="http://schemas.microsoft.com/office/drawing/2014/main" id="{CC4D848C-A179-67BB-8327-D5E5880D2F45}"/>
              </a:ext>
            </a:extLst>
          </p:cNvPr>
          <p:cNvSpPr txBox="1"/>
          <p:nvPr/>
        </p:nvSpPr>
        <p:spPr>
          <a:xfrm>
            <a:off x="0" y="3985452"/>
            <a:ext cx="12192000" cy="2739211"/>
          </a:xfrm>
          <a:prstGeom prst="rect">
            <a:avLst/>
          </a:prstGeom>
          <a:noFill/>
        </p:spPr>
        <p:txBody>
          <a:bodyPr wrap="square" rtlCol="0">
            <a:spAutoFit/>
          </a:bodyPr>
          <a:lstStyle/>
          <a:p>
            <a:pPr algn="ctr"/>
            <a:r>
              <a:rPr lang="it-IT" sz="2800" b="1" dirty="0" err="1"/>
              <a:t>Extract</a:t>
            </a:r>
            <a:r>
              <a:rPr lang="it-IT" sz="2800" b="1" dirty="0"/>
              <a:t> </a:t>
            </a:r>
            <a:r>
              <a:rPr lang="it-IT" sz="2800" b="1" dirty="0" err="1"/>
              <a:t>phase</a:t>
            </a:r>
            <a:r>
              <a:rPr lang="it-IT" sz="2800" b="1" dirty="0"/>
              <a:t>:</a:t>
            </a:r>
          </a:p>
          <a:p>
            <a:pPr lvl="0"/>
            <a:r>
              <a:rPr lang="it-IT" dirty="0" err="1"/>
              <a:t>Collected</a:t>
            </a:r>
            <a:r>
              <a:rPr lang="it-IT" dirty="0"/>
              <a:t> multiple datasets from </a:t>
            </a:r>
            <a:r>
              <a:rPr lang="it-IT" dirty="0" err="1"/>
              <a:t>two</a:t>
            </a:r>
            <a:r>
              <a:rPr lang="it-IT" dirty="0"/>
              <a:t> sources:</a:t>
            </a:r>
          </a:p>
          <a:p>
            <a:pPr lvl="0"/>
            <a:endParaRPr lang="it-IT" b="1" dirty="0"/>
          </a:p>
          <a:p>
            <a:pPr marL="285750" lvl="0" indent="-285750">
              <a:buFont typeface="Arial" panose="020B0604020202020204" pitchFamily="34" charset="0"/>
              <a:buChar char="•"/>
            </a:pPr>
            <a:r>
              <a:rPr lang="it-IT" b="1" dirty="0"/>
              <a:t>Dataset 1</a:t>
            </a:r>
            <a:r>
              <a:rPr lang="it-IT" dirty="0"/>
              <a:t>: Player performance </a:t>
            </a:r>
            <a:r>
              <a:rPr lang="it-IT" dirty="0" err="1"/>
              <a:t>statistics</a:t>
            </a:r>
            <a:r>
              <a:rPr lang="it-IT" dirty="0"/>
              <a:t> split </a:t>
            </a:r>
            <a:r>
              <a:rPr lang="it-IT" dirty="0" err="1"/>
              <a:t>into</a:t>
            </a:r>
            <a:r>
              <a:rPr lang="it-IT" dirty="0"/>
              <a:t> multiple </a:t>
            </a:r>
            <a:r>
              <a:rPr lang="it-IT" dirty="0" err="1"/>
              <a:t>CSVs</a:t>
            </a:r>
            <a:r>
              <a:rPr lang="it-IT" dirty="0"/>
              <a:t> (</a:t>
            </a:r>
            <a:r>
              <a:rPr lang="it-IT" dirty="0" err="1"/>
              <a:t>player_defense</a:t>
            </a:r>
            <a:r>
              <a:rPr lang="it-IT" dirty="0"/>
              <a:t>, </a:t>
            </a:r>
            <a:r>
              <a:rPr lang="it-IT" dirty="0" err="1"/>
              <a:t>player_gca</a:t>
            </a:r>
            <a:r>
              <a:rPr lang="it-IT" dirty="0"/>
              <a:t>, </a:t>
            </a:r>
            <a:r>
              <a:rPr lang="it-IT" dirty="0" err="1"/>
              <a:t>player_misc</a:t>
            </a:r>
            <a:r>
              <a:rPr lang="it-IT" dirty="0"/>
              <a:t>, </a:t>
            </a:r>
            <a:r>
              <a:rPr lang="it-IT" dirty="0" err="1"/>
              <a:t>player_shooting</a:t>
            </a:r>
            <a:r>
              <a:rPr lang="it-IT" dirty="0"/>
              <a:t>, </a:t>
            </a:r>
            <a:r>
              <a:rPr lang="it-IT" dirty="0" err="1"/>
              <a:t>player_possession</a:t>
            </a:r>
            <a:r>
              <a:rPr lang="it-IT" dirty="0"/>
              <a:t>, </a:t>
            </a:r>
            <a:r>
              <a:rPr lang="it-IT" dirty="0" err="1"/>
              <a:t>player_passing_type</a:t>
            </a:r>
            <a:r>
              <a:rPr lang="it-IT" dirty="0"/>
              <a:t>, </a:t>
            </a:r>
            <a:r>
              <a:rPr lang="it-IT" dirty="0" err="1"/>
              <a:t>player_passing</a:t>
            </a:r>
            <a:r>
              <a:rPr lang="it-IT" dirty="0"/>
              <a:t>, </a:t>
            </a:r>
            <a:r>
              <a:rPr lang="it-IT" dirty="0" err="1"/>
              <a:t>player_standard_stats</a:t>
            </a:r>
            <a:r>
              <a:rPr lang="it-IT" dirty="0"/>
              <a:t>).</a:t>
            </a:r>
          </a:p>
          <a:p>
            <a:pPr marL="285750" lvl="0" indent="-285750">
              <a:buFont typeface="Arial" panose="020B0604020202020204" pitchFamily="34" charset="0"/>
              <a:buChar char="•"/>
            </a:pPr>
            <a:endParaRPr lang="it-IT" b="1" dirty="0"/>
          </a:p>
          <a:p>
            <a:pPr marL="285750" lvl="0" indent="-285750">
              <a:buFont typeface="Arial" panose="020B0604020202020204" pitchFamily="34" charset="0"/>
              <a:buChar char="•"/>
            </a:pPr>
            <a:r>
              <a:rPr lang="it-IT" b="1" dirty="0"/>
              <a:t>Dataset 2</a:t>
            </a:r>
            <a:r>
              <a:rPr lang="it-IT" dirty="0"/>
              <a:t>: Player </a:t>
            </a:r>
            <a:r>
              <a:rPr lang="it-IT" dirty="0" err="1"/>
              <a:t>valuation</a:t>
            </a:r>
            <a:r>
              <a:rPr lang="it-IT" dirty="0"/>
              <a:t> data with </a:t>
            </a:r>
            <a:r>
              <a:rPr lang="it-IT" dirty="0" err="1"/>
              <a:t>supporting</a:t>
            </a:r>
            <a:r>
              <a:rPr lang="it-IT" dirty="0"/>
              <a:t> metadata (players.csv, clubs.csv, competitions.csv).</a:t>
            </a:r>
          </a:p>
          <a:p>
            <a:pPr marL="285750" lvl="0" indent="-285750">
              <a:buFont typeface="Arial" panose="020B0604020202020204" pitchFamily="34" charset="0"/>
              <a:buChar char="•"/>
            </a:pPr>
            <a:endParaRPr lang="it-IT" dirty="0"/>
          </a:p>
          <a:p>
            <a:pPr marL="285750" indent="-285750">
              <a:buFont typeface="Arial" panose="020B0604020202020204" pitchFamily="34" charset="0"/>
              <a:buChar char="•"/>
            </a:pPr>
            <a:endParaRPr lang="it-IT" dirty="0"/>
          </a:p>
        </p:txBody>
      </p:sp>
    </p:spTree>
    <p:extLst>
      <p:ext uri="{BB962C8B-B14F-4D97-AF65-F5344CB8AC3E}">
        <p14:creationId xmlns:p14="http://schemas.microsoft.com/office/powerpoint/2010/main" val="3823538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B9E831F-6C09-908F-9592-FC63119D4550}"/>
              </a:ext>
            </a:extLst>
          </p:cNvPr>
          <p:cNvSpPr>
            <a:spLocks noGrp="1"/>
          </p:cNvSpPr>
          <p:nvPr>
            <p:ph type="title"/>
          </p:nvPr>
        </p:nvSpPr>
        <p:spPr>
          <a:xfrm>
            <a:off x="838200" y="18255"/>
            <a:ext cx="10515600" cy="1325563"/>
          </a:xfrm>
        </p:spPr>
        <p:txBody>
          <a:bodyPr/>
          <a:lstStyle/>
          <a:p>
            <a:pPr algn="ctr"/>
            <a:r>
              <a:rPr lang="it-IT" b="1" dirty="0" err="1">
                <a:effectLst>
                  <a:outerShdw blurRad="38100" dist="38100" dir="2700000" algn="tl">
                    <a:srgbClr val="000000">
                      <a:alpha val="43137"/>
                    </a:srgbClr>
                  </a:outerShdw>
                </a:effectLst>
              </a:rPr>
              <a:t>Transform</a:t>
            </a:r>
            <a:r>
              <a:rPr lang="it-IT" b="1" dirty="0">
                <a:effectLst>
                  <a:outerShdw blurRad="38100" dist="38100" dir="2700000" algn="tl">
                    <a:srgbClr val="000000">
                      <a:alpha val="43137"/>
                    </a:srgbClr>
                  </a:outerShdw>
                </a:effectLst>
              </a:rPr>
              <a:t> </a:t>
            </a:r>
            <a:r>
              <a:rPr lang="it-IT" b="1" dirty="0" err="1">
                <a:effectLst>
                  <a:outerShdw blurRad="38100" dist="38100" dir="2700000" algn="tl">
                    <a:srgbClr val="000000">
                      <a:alpha val="43137"/>
                    </a:srgbClr>
                  </a:outerShdw>
                </a:effectLst>
              </a:rPr>
              <a:t>Phase</a:t>
            </a:r>
            <a:endParaRPr lang="it-IT" b="1" dirty="0">
              <a:effectLst>
                <a:outerShdw blurRad="38100" dist="38100" dir="2700000" algn="tl">
                  <a:srgbClr val="000000">
                    <a:alpha val="43137"/>
                  </a:srgbClr>
                </a:outerShdw>
              </a:effectLst>
            </a:endParaRPr>
          </a:p>
        </p:txBody>
      </p:sp>
      <p:sp>
        <p:nvSpPr>
          <p:cNvPr id="3" name="Segnaposto contenuto 2">
            <a:extLst>
              <a:ext uri="{FF2B5EF4-FFF2-40B4-BE49-F238E27FC236}">
                <a16:creationId xmlns:a16="http://schemas.microsoft.com/office/drawing/2014/main" id="{BF20B01D-CF8D-5F46-0D1F-12B9F14BD9DE}"/>
              </a:ext>
            </a:extLst>
          </p:cNvPr>
          <p:cNvSpPr>
            <a:spLocks noGrp="1"/>
          </p:cNvSpPr>
          <p:nvPr>
            <p:ph idx="1"/>
          </p:nvPr>
        </p:nvSpPr>
        <p:spPr>
          <a:xfrm>
            <a:off x="0" y="1050925"/>
            <a:ext cx="4775200" cy="2028825"/>
          </a:xfrm>
        </p:spPr>
        <p:txBody>
          <a:bodyPr>
            <a:normAutofit fontScale="55000" lnSpcReduction="20000"/>
          </a:bodyPr>
          <a:lstStyle/>
          <a:p>
            <a:pPr marL="0" indent="0">
              <a:buNone/>
            </a:pPr>
            <a:r>
              <a:rPr lang="it-IT" sz="3600" b="1" dirty="0"/>
              <a:t>Data </a:t>
            </a:r>
            <a:r>
              <a:rPr lang="it-IT" sz="3600" b="1" dirty="0" err="1"/>
              <a:t>cleaning</a:t>
            </a:r>
            <a:r>
              <a:rPr lang="it-IT" sz="3600" b="1" dirty="0"/>
              <a:t>:</a:t>
            </a:r>
          </a:p>
          <a:p>
            <a:pPr lvl="0"/>
            <a:r>
              <a:rPr lang="it-IT" sz="2200" b="1" dirty="0" err="1"/>
              <a:t>Standardized</a:t>
            </a:r>
            <a:r>
              <a:rPr lang="it-IT" sz="2200" b="1" dirty="0"/>
              <a:t> </a:t>
            </a:r>
            <a:r>
              <a:rPr lang="it-IT" sz="2200" b="1" dirty="0" err="1"/>
              <a:t>column</a:t>
            </a:r>
            <a:r>
              <a:rPr lang="it-IT" sz="2200" b="1" dirty="0"/>
              <a:t> names and formats</a:t>
            </a:r>
            <a:r>
              <a:rPr lang="it-IT" sz="2200" dirty="0"/>
              <a:t> </a:t>
            </a:r>
            <a:r>
              <a:rPr lang="it-IT" sz="2200" dirty="0" err="1"/>
              <a:t>across</a:t>
            </a:r>
            <a:r>
              <a:rPr lang="it-IT" sz="2200" dirty="0"/>
              <a:t> </a:t>
            </a:r>
            <a:r>
              <a:rPr lang="it-IT" sz="2200" dirty="0" err="1"/>
              <a:t>all</a:t>
            </a:r>
            <a:r>
              <a:rPr lang="it-IT" sz="2200" dirty="0"/>
              <a:t> </a:t>
            </a:r>
            <a:r>
              <a:rPr lang="it-IT" sz="2200" dirty="0" err="1"/>
              <a:t>CSVs</a:t>
            </a:r>
            <a:r>
              <a:rPr lang="it-IT" sz="2200" dirty="0"/>
              <a:t>.</a:t>
            </a:r>
          </a:p>
          <a:p>
            <a:pPr lvl="0"/>
            <a:r>
              <a:rPr lang="it-IT" sz="2200" b="1" dirty="0" err="1"/>
              <a:t>Converted</a:t>
            </a:r>
            <a:r>
              <a:rPr lang="it-IT" sz="2200" dirty="0"/>
              <a:t> </a:t>
            </a:r>
            <a:r>
              <a:rPr lang="it-IT" sz="2200" dirty="0" err="1"/>
              <a:t>all</a:t>
            </a:r>
            <a:r>
              <a:rPr lang="it-IT" sz="2200" dirty="0"/>
              <a:t> </a:t>
            </a:r>
            <a:r>
              <a:rPr lang="it-IT" sz="2200" dirty="0" err="1"/>
              <a:t>dates</a:t>
            </a:r>
            <a:r>
              <a:rPr lang="it-IT" sz="2200" dirty="0"/>
              <a:t> to YYYY format (e.g., </a:t>
            </a:r>
            <a:r>
              <a:rPr lang="it-IT" sz="2200" dirty="0" err="1"/>
              <a:t>valuation_date</a:t>
            </a:r>
            <a:r>
              <a:rPr lang="it-IT" sz="2200" dirty="0"/>
              <a:t> -&gt; </a:t>
            </a:r>
            <a:r>
              <a:rPr lang="it-IT" sz="2200" dirty="0" err="1"/>
              <a:t>year</a:t>
            </a:r>
            <a:r>
              <a:rPr lang="it-IT" sz="2200" dirty="0"/>
              <a:t>).</a:t>
            </a:r>
          </a:p>
          <a:p>
            <a:pPr lvl="0"/>
            <a:r>
              <a:rPr lang="it-IT" sz="2200" b="1" dirty="0" err="1"/>
              <a:t>Cleaned</a:t>
            </a:r>
            <a:r>
              <a:rPr lang="it-IT" sz="2200" dirty="0"/>
              <a:t> up </a:t>
            </a:r>
            <a:r>
              <a:rPr lang="it-IT" sz="2200" dirty="0" err="1"/>
              <a:t>string</a:t>
            </a:r>
            <a:r>
              <a:rPr lang="it-IT" sz="2200" dirty="0"/>
              <a:t> </a:t>
            </a:r>
            <a:r>
              <a:rPr lang="it-IT" sz="2200" dirty="0" err="1"/>
              <a:t>inconsistencies</a:t>
            </a:r>
            <a:r>
              <a:rPr lang="it-IT" sz="2200" dirty="0"/>
              <a:t> in player and club names.</a:t>
            </a:r>
          </a:p>
          <a:p>
            <a:pPr lvl="0"/>
            <a:r>
              <a:rPr lang="it-IT" sz="2200" b="1" dirty="0" err="1"/>
              <a:t>Removed</a:t>
            </a:r>
            <a:r>
              <a:rPr lang="it-IT" sz="2200" dirty="0"/>
              <a:t> </a:t>
            </a:r>
            <a:r>
              <a:rPr lang="it-IT" sz="2200" dirty="0" err="1"/>
              <a:t>rows</a:t>
            </a:r>
            <a:r>
              <a:rPr lang="it-IT" sz="2200" dirty="0"/>
              <a:t> </a:t>
            </a:r>
            <a:r>
              <a:rPr lang="it-IT" sz="2200" dirty="0" err="1"/>
              <a:t>that</a:t>
            </a:r>
            <a:r>
              <a:rPr lang="it-IT" sz="2200" dirty="0"/>
              <a:t> </a:t>
            </a:r>
            <a:r>
              <a:rPr lang="it-IT" sz="2200" dirty="0" err="1"/>
              <a:t>had</a:t>
            </a:r>
            <a:r>
              <a:rPr lang="it-IT" sz="2200" dirty="0"/>
              <a:t> </a:t>
            </a:r>
            <a:r>
              <a:rPr lang="it-IT" sz="2200" dirty="0" err="1"/>
              <a:t>missing</a:t>
            </a:r>
            <a:r>
              <a:rPr lang="it-IT" sz="2200" dirty="0"/>
              <a:t> </a:t>
            </a:r>
            <a:r>
              <a:rPr lang="it-IT" sz="2200" dirty="0" err="1"/>
              <a:t>critical</a:t>
            </a:r>
            <a:r>
              <a:rPr lang="it-IT" sz="2200" dirty="0"/>
              <a:t> </a:t>
            </a:r>
            <a:r>
              <a:rPr lang="it-IT" sz="2200" dirty="0" err="1"/>
              <a:t>identifiers</a:t>
            </a:r>
            <a:r>
              <a:rPr lang="it-IT" sz="2200" dirty="0"/>
              <a:t> (e.g., </a:t>
            </a:r>
            <a:r>
              <a:rPr lang="it-IT" sz="2500" dirty="0" err="1"/>
              <a:t>missing</a:t>
            </a:r>
            <a:r>
              <a:rPr lang="it-IT" sz="2500" dirty="0"/>
              <a:t> </a:t>
            </a:r>
            <a:r>
              <a:rPr lang="it-IT" sz="2200" dirty="0"/>
              <a:t>player names).</a:t>
            </a:r>
            <a:endParaRPr lang="it-IT" sz="2500" dirty="0"/>
          </a:p>
          <a:p>
            <a:endParaRPr lang="it-IT" dirty="0"/>
          </a:p>
        </p:txBody>
      </p:sp>
      <p:sp>
        <p:nvSpPr>
          <p:cNvPr id="4" name="CasellaDiTesto 3">
            <a:extLst>
              <a:ext uri="{FF2B5EF4-FFF2-40B4-BE49-F238E27FC236}">
                <a16:creationId xmlns:a16="http://schemas.microsoft.com/office/drawing/2014/main" id="{0D7D0526-1918-4B81-A72D-9B83E334E502}"/>
              </a:ext>
            </a:extLst>
          </p:cNvPr>
          <p:cNvSpPr txBox="1"/>
          <p:nvPr/>
        </p:nvSpPr>
        <p:spPr>
          <a:xfrm>
            <a:off x="5334000" y="2514600"/>
            <a:ext cx="6858000" cy="1969770"/>
          </a:xfrm>
          <a:prstGeom prst="rect">
            <a:avLst/>
          </a:prstGeom>
          <a:noFill/>
        </p:spPr>
        <p:txBody>
          <a:bodyPr wrap="square" rtlCol="0">
            <a:spAutoFit/>
          </a:bodyPr>
          <a:lstStyle/>
          <a:p>
            <a:r>
              <a:rPr lang="it-IT" sz="2000" b="1" dirty="0"/>
              <a:t>Player Matching &amp; </a:t>
            </a:r>
            <a:r>
              <a:rPr lang="it-IT" sz="2000" b="1" dirty="0" err="1"/>
              <a:t>Enrichment</a:t>
            </a:r>
            <a:endParaRPr lang="it-IT" sz="2000" b="1" dirty="0"/>
          </a:p>
          <a:p>
            <a:pPr marL="285750" lvl="0" indent="-285750">
              <a:buFont typeface="Arial" panose="020B0604020202020204" pitchFamily="34" charset="0"/>
              <a:buChar char="•"/>
            </a:pPr>
            <a:r>
              <a:rPr lang="it-IT" sz="1200" b="1" dirty="0" err="1"/>
              <a:t>Substituted</a:t>
            </a:r>
            <a:r>
              <a:rPr lang="it-IT" sz="1200" dirty="0"/>
              <a:t> </a:t>
            </a:r>
            <a:r>
              <a:rPr lang="it-IT" sz="1200" dirty="0" err="1"/>
              <a:t>player_id</a:t>
            </a:r>
            <a:r>
              <a:rPr lang="it-IT" sz="1200" dirty="0"/>
              <a:t> in the </a:t>
            </a:r>
            <a:r>
              <a:rPr lang="it-IT" sz="1200" dirty="0" err="1"/>
              <a:t>valuation</a:t>
            </a:r>
            <a:r>
              <a:rPr lang="it-IT" sz="1200" dirty="0"/>
              <a:t> dataset with full player names (</a:t>
            </a:r>
            <a:r>
              <a:rPr lang="it-IT" sz="1200" dirty="0" err="1"/>
              <a:t>first_name</a:t>
            </a:r>
            <a:r>
              <a:rPr lang="it-IT" sz="1200" dirty="0"/>
              <a:t> + </a:t>
            </a:r>
            <a:r>
              <a:rPr lang="it-IT" sz="1200" dirty="0" err="1"/>
              <a:t>last_name</a:t>
            </a:r>
            <a:r>
              <a:rPr lang="it-IT" sz="1200" dirty="0"/>
              <a:t>).</a:t>
            </a:r>
          </a:p>
          <a:p>
            <a:pPr marL="285750" lvl="0" indent="-285750">
              <a:buFont typeface="Arial" panose="020B0604020202020204" pitchFamily="34" charset="0"/>
              <a:buChar char="•"/>
            </a:pPr>
            <a:r>
              <a:rPr lang="it-IT" sz="1200" b="1" dirty="0" err="1"/>
              <a:t>Used</a:t>
            </a:r>
            <a:r>
              <a:rPr lang="it-IT" sz="1200" dirty="0"/>
              <a:t> the players.csv file to </a:t>
            </a:r>
            <a:r>
              <a:rPr lang="it-IT" sz="1200" dirty="0" err="1"/>
              <a:t>fill</a:t>
            </a:r>
            <a:r>
              <a:rPr lang="it-IT" sz="1200" dirty="0"/>
              <a:t> </a:t>
            </a:r>
            <a:r>
              <a:rPr lang="it-IT" sz="1200" dirty="0" err="1"/>
              <a:t>missing</a:t>
            </a:r>
            <a:r>
              <a:rPr lang="it-IT" sz="1200" dirty="0"/>
              <a:t> fields like:</a:t>
            </a:r>
          </a:p>
          <a:p>
            <a:pPr marL="742950" lvl="1" indent="-285750">
              <a:buFont typeface="Wingdings" panose="05000000000000000000" pitchFamily="2" charset="2"/>
              <a:buChar char="Ø"/>
            </a:pPr>
            <a:r>
              <a:rPr lang="it-IT" sz="1200" dirty="0" err="1"/>
              <a:t>nation</a:t>
            </a:r>
            <a:r>
              <a:rPr lang="it-IT" sz="1200" dirty="0"/>
              <a:t> from </a:t>
            </a:r>
            <a:r>
              <a:rPr lang="it-IT" sz="1200" dirty="0" err="1"/>
              <a:t>country_of_citizenship</a:t>
            </a:r>
            <a:r>
              <a:rPr lang="it-IT" sz="1200" dirty="0"/>
              <a:t>;</a:t>
            </a:r>
          </a:p>
          <a:p>
            <a:pPr marL="742950" lvl="1" indent="-285750">
              <a:buFont typeface="Wingdings" panose="05000000000000000000" pitchFamily="2" charset="2"/>
              <a:buChar char="Ø"/>
            </a:pPr>
            <a:r>
              <a:rPr lang="it-IT" sz="1200" dirty="0"/>
              <a:t>country from </a:t>
            </a:r>
            <a:r>
              <a:rPr lang="it-IT" sz="1200" dirty="0" err="1"/>
              <a:t>country_of_birth</a:t>
            </a:r>
            <a:r>
              <a:rPr lang="it-IT" sz="1200" dirty="0"/>
              <a:t>;</a:t>
            </a:r>
          </a:p>
          <a:p>
            <a:pPr marL="742950" lvl="1" indent="-285750">
              <a:buFont typeface="Wingdings" panose="05000000000000000000" pitchFamily="2" charset="2"/>
              <a:buChar char="Ø"/>
            </a:pPr>
            <a:r>
              <a:rPr lang="it-IT" sz="1200" dirty="0" err="1"/>
              <a:t>born</a:t>
            </a:r>
            <a:r>
              <a:rPr lang="it-IT" sz="1200" dirty="0"/>
              <a:t> from </a:t>
            </a:r>
            <a:r>
              <a:rPr lang="it-IT" sz="1200" dirty="0" err="1"/>
              <a:t>date_of_birth</a:t>
            </a:r>
            <a:r>
              <a:rPr lang="it-IT" sz="1200" dirty="0"/>
              <a:t> (</a:t>
            </a:r>
            <a:r>
              <a:rPr lang="it-IT" sz="1200" dirty="0" err="1"/>
              <a:t>converted</a:t>
            </a:r>
            <a:r>
              <a:rPr lang="it-IT" sz="1200" dirty="0"/>
              <a:t> to </a:t>
            </a:r>
            <a:r>
              <a:rPr lang="it-IT" sz="1200" dirty="0" err="1"/>
              <a:t>year</a:t>
            </a:r>
            <a:r>
              <a:rPr lang="it-IT" sz="1200" dirty="0"/>
              <a:t> </a:t>
            </a:r>
            <a:r>
              <a:rPr lang="it-IT" sz="1200" dirty="0" err="1"/>
              <a:t>only</a:t>
            </a:r>
            <a:r>
              <a:rPr lang="it-IT" sz="1200" dirty="0"/>
              <a:t>)</a:t>
            </a:r>
          </a:p>
          <a:p>
            <a:pPr marL="285750" indent="-285750">
              <a:buFont typeface="Arial" panose="020B0604020202020204" pitchFamily="34" charset="0"/>
              <a:buChar char="•"/>
            </a:pPr>
            <a:r>
              <a:rPr lang="it-IT" sz="1200" b="1" dirty="0" err="1"/>
              <a:t>Handled</a:t>
            </a:r>
            <a:r>
              <a:rPr lang="it-IT" sz="1200" dirty="0"/>
              <a:t> </a:t>
            </a:r>
            <a:r>
              <a:rPr lang="it-IT" sz="1200" dirty="0" err="1"/>
              <a:t>cases</a:t>
            </a:r>
            <a:r>
              <a:rPr lang="it-IT" sz="1200" dirty="0"/>
              <a:t> </a:t>
            </a:r>
            <a:r>
              <a:rPr lang="it-IT" sz="1200" dirty="0" err="1"/>
              <a:t>where</a:t>
            </a:r>
            <a:r>
              <a:rPr lang="it-IT" sz="1200" dirty="0"/>
              <a:t> names </a:t>
            </a:r>
            <a:r>
              <a:rPr lang="it-IT" sz="1200" dirty="0" err="1"/>
              <a:t>were</a:t>
            </a:r>
            <a:r>
              <a:rPr lang="it-IT" sz="1200" dirty="0"/>
              <a:t> </a:t>
            </a:r>
            <a:r>
              <a:rPr lang="it-IT" sz="1200" dirty="0" err="1"/>
              <a:t>mismatched</a:t>
            </a:r>
            <a:r>
              <a:rPr lang="it-IT" sz="1200" dirty="0"/>
              <a:t> due to </a:t>
            </a:r>
            <a:r>
              <a:rPr lang="it-IT" sz="1200" dirty="0" err="1"/>
              <a:t>formatting</a:t>
            </a:r>
            <a:r>
              <a:rPr lang="it-IT" sz="1200" dirty="0"/>
              <a:t> (e.g., </a:t>
            </a:r>
            <a:r>
              <a:rPr lang="it-IT" sz="1200" dirty="0" err="1"/>
              <a:t>only</a:t>
            </a:r>
            <a:r>
              <a:rPr lang="it-IT" sz="1200" dirty="0"/>
              <a:t> </a:t>
            </a:r>
            <a:r>
              <a:rPr lang="it-IT" sz="1200" dirty="0" err="1"/>
              <a:t>surname</a:t>
            </a:r>
            <a:r>
              <a:rPr lang="it-IT" sz="1200" dirty="0"/>
              <a:t> or extra </a:t>
            </a:r>
            <a:r>
              <a:rPr lang="it-IT" sz="1200" dirty="0" err="1"/>
              <a:t>spaces</a:t>
            </a:r>
            <a:r>
              <a:rPr lang="it-IT" sz="1200" dirty="0"/>
              <a:t>).</a:t>
            </a:r>
            <a:endParaRPr lang="it-IT" sz="2000" dirty="0"/>
          </a:p>
          <a:p>
            <a:endParaRPr lang="it-IT" dirty="0"/>
          </a:p>
        </p:txBody>
      </p:sp>
      <p:sp>
        <p:nvSpPr>
          <p:cNvPr id="5" name="CasellaDiTesto 4">
            <a:extLst>
              <a:ext uri="{FF2B5EF4-FFF2-40B4-BE49-F238E27FC236}">
                <a16:creationId xmlns:a16="http://schemas.microsoft.com/office/drawing/2014/main" id="{21FAFCF9-C3B9-D30B-3A04-99E558359C9B}"/>
              </a:ext>
            </a:extLst>
          </p:cNvPr>
          <p:cNvSpPr txBox="1"/>
          <p:nvPr/>
        </p:nvSpPr>
        <p:spPr>
          <a:xfrm>
            <a:off x="0" y="4375150"/>
            <a:ext cx="5334000" cy="1815882"/>
          </a:xfrm>
          <a:prstGeom prst="rect">
            <a:avLst/>
          </a:prstGeom>
          <a:noFill/>
        </p:spPr>
        <p:txBody>
          <a:bodyPr wrap="square" rtlCol="0">
            <a:spAutoFit/>
          </a:bodyPr>
          <a:lstStyle/>
          <a:p>
            <a:r>
              <a:rPr lang="it-IT" sz="2000" b="1" dirty="0"/>
              <a:t>Club Name </a:t>
            </a:r>
            <a:r>
              <a:rPr lang="it-IT" sz="2000" b="1" dirty="0" err="1"/>
              <a:t>Normalization</a:t>
            </a:r>
            <a:endParaRPr lang="it-IT" sz="2000" b="1" dirty="0"/>
          </a:p>
          <a:p>
            <a:pPr marL="285750" lvl="0" indent="-285750">
              <a:buFont typeface="Arial" panose="020B0604020202020204" pitchFamily="34" charset="0"/>
              <a:buChar char="•"/>
            </a:pPr>
            <a:r>
              <a:rPr lang="it-IT" sz="1200" b="1" dirty="0" err="1"/>
              <a:t>Resolved</a:t>
            </a:r>
            <a:r>
              <a:rPr lang="it-IT" sz="1200" dirty="0"/>
              <a:t> </a:t>
            </a:r>
            <a:r>
              <a:rPr lang="it-IT" sz="1200" dirty="0" err="1"/>
              <a:t>inconsistent</a:t>
            </a:r>
            <a:r>
              <a:rPr lang="it-IT" sz="1200" dirty="0"/>
              <a:t> club names </a:t>
            </a:r>
            <a:r>
              <a:rPr lang="it-IT" sz="1200" dirty="0" err="1"/>
              <a:t>between</a:t>
            </a:r>
            <a:r>
              <a:rPr lang="it-IT" sz="1200" dirty="0"/>
              <a:t> dataset 1 and dataset 2 </a:t>
            </a:r>
            <a:r>
              <a:rPr lang="it-IT" sz="1200" dirty="0" err="1"/>
              <a:t>using</a:t>
            </a:r>
            <a:r>
              <a:rPr lang="it-IT" sz="1200" dirty="0"/>
              <a:t>:</a:t>
            </a:r>
          </a:p>
          <a:p>
            <a:pPr marL="742950" lvl="1" indent="-285750">
              <a:buFont typeface="Wingdings" panose="05000000000000000000" pitchFamily="2" charset="2"/>
              <a:buChar char="Ø"/>
            </a:pPr>
            <a:r>
              <a:rPr lang="it-IT" sz="1200" dirty="0"/>
              <a:t>Manual mapping for </a:t>
            </a:r>
            <a:r>
              <a:rPr lang="it-IT" sz="1200" dirty="0" err="1"/>
              <a:t>known</a:t>
            </a:r>
            <a:r>
              <a:rPr lang="it-IT" sz="1200" dirty="0"/>
              <a:t> mismatches (e.g., Manchester United Football -&gt; Manchester Utd).</a:t>
            </a:r>
          </a:p>
          <a:p>
            <a:pPr marL="742950" lvl="1" indent="-285750">
              <a:buFont typeface="Wingdings" panose="05000000000000000000" pitchFamily="2" charset="2"/>
              <a:buChar char="Ø"/>
            </a:pPr>
            <a:r>
              <a:rPr lang="it-IT" sz="1200" dirty="0"/>
              <a:t>Fuzzy </a:t>
            </a:r>
            <a:r>
              <a:rPr lang="it-IT" sz="1200" dirty="0" err="1"/>
              <a:t>string</a:t>
            </a:r>
            <a:r>
              <a:rPr lang="it-IT" sz="1200" dirty="0"/>
              <a:t> matching with </a:t>
            </a:r>
            <a:r>
              <a:rPr lang="it-IT" sz="1200" dirty="0" err="1"/>
              <a:t>fallback</a:t>
            </a:r>
            <a:r>
              <a:rPr lang="it-IT" sz="1200" dirty="0"/>
              <a:t> </a:t>
            </a:r>
            <a:r>
              <a:rPr lang="it-IT" sz="1200" dirty="0" err="1"/>
              <a:t>logic</a:t>
            </a:r>
            <a:r>
              <a:rPr lang="it-IT" sz="1200" dirty="0"/>
              <a:t>.</a:t>
            </a:r>
          </a:p>
          <a:p>
            <a:endParaRPr lang="it-IT" sz="1400" dirty="0"/>
          </a:p>
          <a:p>
            <a:endParaRPr lang="it-IT" dirty="0"/>
          </a:p>
        </p:txBody>
      </p:sp>
    </p:spTree>
    <p:extLst>
      <p:ext uri="{BB962C8B-B14F-4D97-AF65-F5344CB8AC3E}">
        <p14:creationId xmlns:p14="http://schemas.microsoft.com/office/powerpoint/2010/main" val="1656168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6EECD0-1DAE-BA3C-16E2-0BD58650F997}"/>
              </a:ext>
            </a:extLst>
          </p:cNvPr>
          <p:cNvSpPr>
            <a:spLocks noGrp="1"/>
          </p:cNvSpPr>
          <p:nvPr>
            <p:ph type="title"/>
          </p:nvPr>
        </p:nvSpPr>
        <p:spPr>
          <a:xfrm>
            <a:off x="838200" y="18255"/>
            <a:ext cx="10515600" cy="1325563"/>
          </a:xfrm>
        </p:spPr>
        <p:txBody>
          <a:bodyPr/>
          <a:lstStyle/>
          <a:p>
            <a:pPr algn="ctr"/>
            <a:r>
              <a:rPr lang="it-IT" b="1" dirty="0" err="1">
                <a:effectLst>
                  <a:outerShdw blurRad="38100" dist="38100" dir="2700000" algn="tl">
                    <a:srgbClr val="000000">
                      <a:alpha val="43137"/>
                    </a:srgbClr>
                  </a:outerShdw>
                </a:effectLst>
              </a:rPr>
              <a:t>Transform</a:t>
            </a:r>
            <a:r>
              <a:rPr lang="it-IT" b="1" dirty="0">
                <a:effectLst>
                  <a:outerShdw blurRad="38100" dist="38100" dir="2700000" algn="tl">
                    <a:srgbClr val="000000">
                      <a:alpha val="43137"/>
                    </a:srgbClr>
                  </a:outerShdw>
                </a:effectLst>
              </a:rPr>
              <a:t> </a:t>
            </a:r>
            <a:r>
              <a:rPr lang="it-IT" b="1" dirty="0" err="1">
                <a:effectLst>
                  <a:outerShdw blurRad="38100" dist="38100" dir="2700000" algn="tl">
                    <a:srgbClr val="000000">
                      <a:alpha val="43137"/>
                    </a:srgbClr>
                  </a:outerShdw>
                </a:effectLst>
              </a:rPr>
              <a:t>Phase</a:t>
            </a:r>
            <a:r>
              <a:rPr lang="it-IT" b="1" dirty="0">
                <a:effectLst>
                  <a:outerShdw blurRad="38100" dist="38100" dir="2700000" algn="tl">
                    <a:srgbClr val="000000">
                      <a:alpha val="43137"/>
                    </a:srgbClr>
                  </a:outerShdw>
                </a:effectLst>
              </a:rPr>
              <a:t> </a:t>
            </a:r>
          </a:p>
        </p:txBody>
      </p:sp>
      <p:sp>
        <p:nvSpPr>
          <p:cNvPr id="4" name="CasellaDiTesto 3">
            <a:extLst>
              <a:ext uri="{FF2B5EF4-FFF2-40B4-BE49-F238E27FC236}">
                <a16:creationId xmlns:a16="http://schemas.microsoft.com/office/drawing/2014/main" id="{D5D79330-ED19-B6C4-371F-0908D31F8DE4}"/>
              </a:ext>
            </a:extLst>
          </p:cNvPr>
          <p:cNvSpPr txBox="1"/>
          <p:nvPr/>
        </p:nvSpPr>
        <p:spPr>
          <a:xfrm>
            <a:off x="0" y="1111250"/>
            <a:ext cx="5549900" cy="1723549"/>
          </a:xfrm>
          <a:prstGeom prst="rect">
            <a:avLst/>
          </a:prstGeom>
          <a:noFill/>
        </p:spPr>
        <p:txBody>
          <a:bodyPr wrap="square" rtlCol="0">
            <a:spAutoFit/>
          </a:bodyPr>
          <a:lstStyle/>
          <a:p>
            <a:r>
              <a:rPr lang="it-IT" sz="2000" b="1" dirty="0" err="1"/>
              <a:t>Competition</a:t>
            </a:r>
            <a:r>
              <a:rPr lang="it-IT" sz="2000" b="1" dirty="0"/>
              <a:t> Name Mapping</a:t>
            </a:r>
          </a:p>
          <a:p>
            <a:pPr marL="285750" lvl="0" indent="-285750">
              <a:buFont typeface="Arial" panose="020B0604020202020204" pitchFamily="34" charset="0"/>
              <a:buChar char="•"/>
            </a:pPr>
            <a:r>
              <a:rPr lang="it-IT" sz="1200" b="1" dirty="0" err="1"/>
              <a:t>Mapped</a:t>
            </a:r>
            <a:r>
              <a:rPr lang="it-IT" sz="1200" dirty="0"/>
              <a:t> verbose </a:t>
            </a:r>
            <a:r>
              <a:rPr lang="it-IT" sz="1200" dirty="0" err="1"/>
              <a:t>competition</a:t>
            </a:r>
            <a:r>
              <a:rPr lang="it-IT" sz="1200" dirty="0"/>
              <a:t> names to </a:t>
            </a:r>
            <a:r>
              <a:rPr lang="it-IT" sz="1200" dirty="0" err="1"/>
              <a:t>standardized</a:t>
            </a:r>
            <a:r>
              <a:rPr lang="it-IT" sz="1200" dirty="0"/>
              <a:t> </a:t>
            </a:r>
            <a:r>
              <a:rPr lang="it-IT" sz="1200" dirty="0" err="1"/>
              <a:t>versions</a:t>
            </a:r>
            <a:r>
              <a:rPr lang="it-IT" sz="1200" dirty="0"/>
              <a:t> </a:t>
            </a:r>
            <a:r>
              <a:rPr lang="it-IT" sz="1200" dirty="0" err="1"/>
              <a:t>using</a:t>
            </a:r>
            <a:r>
              <a:rPr lang="it-IT" sz="1200" dirty="0"/>
              <a:t> a </a:t>
            </a:r>
            <a:r>
              <a:rPr lang="it-IT" sz="1200" dirty="0" err="1"/>
              <a:t>manual</a:t>
            </a:r>
            <a:r>
              <a:rPr lang="it-IT" sz="1200" dirty="0"/>
              <a:t> </a:t>
            </a:r>
            <a:r>
              <a:rPr lang="it-IT" sz="1200" dirty="0" err="1"/>
              <a:t>dictionary</a:t>
            </a:r>
            <a:r>
              <a:rPr lang="it-IT" sz="1200" dirty="0"/>
              <a:t>.</a:t>
            </a:r>
          </a:p>
          <a:p>
            <a:pPr marL="285750" lvl="0" indent="-285750">
              <a:buFont typeface="Arial" panose="020B0604020202020204" pitchFamily="34" charset="0"/>
              <a:buChar char="•"/>
            </a:pPr>
            <a:r>
              <a:rPr lang="it-IT" sz="1200" b="1" dirty="0" err="1"/>
              <a:t>Dropped</a:t>
            </a:r>
            <a:r>
              <a:rPr lang="it-IT" sz="1200" dirty="0"/>
              <a:t> </a:t>
            </a:r>
            <a:r>
              <a:rPr lang="it-IT" sz="1200" dirty="0" err="1"/>
              <a:t>rows</a:t>
            </a:r>
            <a:r>
              <a:rPr lang="it-IT" sz="1200" dirty="0"/>
              <a:t> for </a:t>
            </a:r>
            <a:r>
              <a:rPr lang="it-IT" sz="1200" dirty="0" err="1"/>
              <a:t>competitions</a:t>
            </a:r>
            <a:r>
              <a:rPr lang="it-IT" sz="1200" dirty="0"/>
              <a:t> </a:t>
            </a:r>
            <a:r>
              <a:rPr lang="it-IT" sz="1200" dirty="0" err="1"/>
              <a:t>outside</a:t>
            </a:r>
            <a:r>
              <a:rPr lang="it-IT" sz="1200" dirty="0"/>
              <a:t> the top 5 </a:t>
            </a:r>
            <a:r>
              <a:rPr lang="it-IT" sz="1200" dirty="0" err="1"/>
              <a:t>leagues</a:t>
            </a:r>
            <a:r>
              <a:rPr lang="it-IT" sz="1200" dirty="0"/>
              <a:t> (Premier League, Serie A, La Liga, Bundesliga, </a:t>
            </a:r>
            <a:r>
              <a:rPr lang="it-IT" sz="1200" dirty="0" err="1"/>
              <a:t>Ligue</a:t>
            </a:r>
            <a:r>
              <a:rPr lang="it-IT" sz="1200" dirty="0"/>
              <a:t> 1).</a:t>
            </a:r>
          </a:p>
          <a:p>
            <a:endParaRPr lang="it-IT" sz="2000" dirty="0"/>
          </a:p>
          <a:p>
            <a:endParaRPr lang="it-IT" dirty="0"/>
          </a:p>
        </p:txBody>
      </p:sp>
      <p:sp>
        <p:nvSpPr>
          <p:cNvPr id="5" name="CasellaDiTesto 4">
            <a:extLst>
              <a:ext uri="{FF2B5EF4-FFF2-40B4-BE49-F238E27FC236}">
                <a16:creationId xmlns:a16="http://schemas.microsoft.com/office/drawing/2014/main" id="{15FAC422-0D5B-3CFF-72E3-C0182A87D7B8}"/>
              </a:ext>
            </a:extLst>
          </p:cNvPr>
          <p:cNvSpPr txBox="1"/>
          <p:nvPr/>
        </p:nvSpPr>
        <p:spPr>
          <a:xfrm>
            <a:off x="6096000" y="2607092"/>
            <a:ext cx="6254750" cy="2123658"/>
          </a:xfrm>
          <a:prstGeom prst="rect">
            <a:avLst/>
          </a:prstGeom>
          <a:noFill/>
        </p:spPr>
        <p:txBody>
          <a:bodyPr wrap="square" rtlCol="0">
            <a:spAutoFit/>
          </a:bodyPr>
          <a:lstStyle/>
          <a:p>
            <a:r>
              <a:rPr lang="it-IT" sz="2000" b="1" dirty="0" err="1"/>
              <a:t>Enriching</a:t>
            </a:r>
            <a:r>
              <a:rPr lang="it-IT" sz="2000" b="1" dirty="0"/>
              <a:t> Club-</a:t>
            </a:r>
            <a:r>
              <a:rPr lang="it-IT" sz="2000" b="1" dirty="0" err="1"/>
              <a:t>Year</a:t>
            </a:r>
            <a:r>
              <a:rPr lang="it-IT" sz="2000" b="1" dirty="0"/>
              <a:t> Information</a:t>
            </a:r>
          </a:p>
          <a:p>
            <a:pPr marL="285750" lvl="0" indent="-285750">
              <a:buFont typeface="Arial" panose="020B0604020202020204" pitchFamily="34" charset="0"/>
              <a:buChar char="•"/>
            </a:pPr>
            <a:r>
              <a:rPr lang="it-IT" sz="1200" dirty="0"/>
              <a:t>In dataset 2, </a:t>
            </a:r>
            <a:r>
              <a:rPr lang="it-IT" sz="1200" b="1" dirty="0" err="1"/>
              <a:t>added</a:t>
            </a:r>
            <a:r>
              <a:rPr lang="it-IT" sz="1200" dirty="0"/>
              <a:t> a </a:t>
            </a:r>
            <a:r>
              <a:rPr lang="it-IT" sz="1200" dirty="0" err="1"/>
              <a:t>club_in_year</a:t>
            </a:r>
            <a:r>
              <a:rPr lang="it-IT" sz="1200" dirty="0"/>
              <a:t> </a:t>
            </a:r>
            <a:r>
              <a:rPr lang="it-IT" sz="1200" dirty="0" err="1"/>
              <a:t>column</a:t>
            </a:r>
            <a:r>
              <a:rPr lang="it-IT" sz="1200" dirty="0"/>
              <a:t> by:</a:t>
            </a:r>
          </a:p>
          <a:p>
            <a:pPr marL="742950" lvl="1" indent="-285750">
              <a:buFont typeface="Wingdings" panose="05000000000000000000" pitchFamily="2" charset="2"/>
              <a:buChar char="Ø"/>
            </a:pPr>
            <a:r>
              <a:rPr lang="it-IT" sz="1200" dirty="0" err="1"/>
              <a:t>Searching</a:t>
            </a:r>
            <a:r>
              <a:rPr lang="it-IT" sz="1200" dirty="0"/>
              <a:t> </a:t>
            </a:r>
            <a:r>
              <a:rPr lang="it-IT" sz="1200" dirty="0" err="1"/>
              <a:t>each</a:t>
            </a:r>
            <a:r>
              <a:rPr lang="it-IT" sz="1200" dirty="0"/>
              <a:t> dataset_1 file for matching (</a:t>
            </a:r>
            <a:r>
              <a:rPr lang="it-IT" sz="1200" dirty="0" err="1"/>
              <a:t>player_name</a:t>
            </a:r>
            <a:r>
              <a:rPr lang="it-IT" sz="1200" dirty="0"/>
              <a:t>, season).</a:t>
            </a:r>
          </a:p>
          <a:p>
            <a:pPr marL="742950" lvl="1" indent="-285750">
              <a:buFont typeface="Wingdings" panose="05000000000000000000" pitchFamily="2" charset="2"/>
              <a:buChar char="Ø"/>
            </a:pPr>
            <a:endParaRPr lang="it-IT" sz="1200" dirty="0"/>
          </a:p>
          <a:p>
            <a:pPr marL="742950" lvl="1" indent="-285750">
              <a:buFont typeface="Wingdings" panose="05000000000000000000" pitchFamily="2" charset="2"/>
              <a:buChar char="Ø"/>
            </a:pPr>
            <a:r>
              <a:rPr lang="it-IT" sz="1200" dirty="0" err="1"/>
              <a:t>Extracting</a:t>
            </a:r>
            <a:r>
              <a:rPr lang="it-IT" sz="1200" dirty="0"/>
              <a:t> the </a:t>
            </a:r>
            <a:r>
              <a:rPr lang="it-IT" sz="1200" dirty="0" err="1"/>
              <a:t>squad</a:t>
            </a:r>
            <a:r>
              <a:rPr lang="it-IT" sz="1200" dirty="0"/>
              <a:t> (club name) from the </a:t>
            </a:r>
            <a:r>
              <a:rPr lang="it-IT" sz="1200" dirty="0" err="1"/>
              <a:t>year</a:t>
            </a:r>
            <a:r>
              <a:rPr lang="it-IT" sz="1200" dirty="0"/>
              <a:t> of </a:t>
            </a:r>
            <a:r>
              <a:rPr lang="it-IT" sz="1200" dirty="0" err="1"/>
              <a:t>interest</a:t>
            </a:r>
            <a:r>
              <a:rPr lang="it-IT" sz="1200" dirty="0"/>
              <a:t>.</a:t>
            </a:r>
          </a:p>
          <a:p>
            <a:pPr marL="742950" lvl="1" indent="-285750">
              <a:buFont typeface="Wingdings" panose="05000000000000000000" pitchFamily="2" charset="2"/>
              <a:buChar char="Ø"/>
            </a:pPr>
            <a:endParaRPr lang="it-IT" sz="1200" dirty="0"/>
          </a:p>
          <a:p>
            <a:pPr marL="742950" lvl="1" indent="-285750">
              <a:buFont typeface="Wingdings" panose="05000000000000000000" pitchFamily="2" charset="2"/>
              <a:buChar char="Ø"/>
            </a:pPr>
            <a:r>
              <a:rPr lang="it-IT" sz="1200" dirty="0"/>
              <a:t>Using </a:t>
            </a:r>
            <a:r>
              <a:rPr lang="it-IT" sz="1200" dirty="0" err="1"/>
              <a:t>fallback</a:t>
            </a:r>
            <a:r>
              <a:rPr lang="it-IT" sz="1200" dirty="0"/>
              <a:t> to </a:t>
            </a:r>
            <a:r>
              <a:rPr lang="it-IT" sz="1200" dirty="0" err="1"/>
              <a:t>current</a:t>
            </a:r>
            <a:r>
              <a:rPr lang="it-IT" sz="1200" dirty="0"/>
              <a:t> club </a:t>
            </a:r>
            <a:r>
              <a:rPr lang="it-IT" sz="1200" dirty="0" err="1"/>
              <a:t>if</a:t>
            </a:r>
            <a:r>
              <a:rPr lang="it-IT" sz="1200" dirty="0"/>
              <a:t> none </a:t>
            </a:r>
            <a:r>
              <a:rPr lang="it-IT" sz="1200" dirty="0" err="1"/>
              <a:t>was</a:t>
            </a:r>
            <a:r>
              <a:rPr lang="it-IT" sz="1200" dirty="0"/>
              <a:t> </a:t>
            </a:r>
            <a:r>
              <a:rPr lang="it-IT" sz="1200" dirty="0" err="1"/>
              <a:t>found</a:t>
            </a:r>
            <a:r>
              <a:rPr lang="it-IT" sz="1200" dirty="0"/>
              <a:t>.</a:t>
            </a:r>
          </a:p>
          <a:p>
            <a:endParaRPr lang="it-IT" sz="2000" b="1" dirty="0"/>
          </a:p>
          <a:p>
            <a:endParaRPr lang="it-IT" sz="2000" dirty="0"/>
          </a:p>
        </p:txBody>
      </p:sp>
      <p:sp>
        <p:nvSpPr>
          <p:cNvPr id="8" name="CasellaDiTesto 7">
            <a:extLst>
              <a:ext uri="{FF2B5EF4-FFF2-40B4-BE49-F238E27FC236}">
                <a16:creationId xmlns:a16="http://schemas.microsoft.com/office/drawing/2014/main" id="{EE2C2B31-5CCC-993C-34F6-8BA1D33C9FB6}"/>
              </a:ext>
            </a:extLst>
          </p:cNvPr>
          <p:cNvSpPr txBox="1"/>
          <p:nvPr/>
        </p:nvSpPr>
        <p:spPr>
          <a:xfrm>
            <a:off x="0" y="4931142"/>
            <a:ext cx="5549900" cy="1631216"/>
          </a:xfrm>
          <a:prstGeom prst="rect">
            <a:avLst/>
          </a:prstGeom>
          <a:noFill/>
        </p:spPr>
        <p:txBody>
          <a:bodyPr wrap="square" rtlCol="0">
            <a:spAutoFit/>
          </a:bodyPr>
          <a:lstStyle/>
          <a:p>
            <a:r>
              <a:rPr lang="it-IT" sz="2000" b="1" dirty="0"/>
              <a:t>Global </a:t>
            </a:r>
            <a:r>
              <a:rPr lang="it-IT" sz="2000" b="1" dirty="0" err="1"/>
              <a:t>Missing</a:t>
            </a:r>
            <a:r>
              <a:rPr lang="it-IT" sz="2000" b="1" dirty="0"/>
              <a:t> Value </a:t>
            </a:r>
            <a:r>
              <a:rPr lang="it-IT" sz="2000" b="1" dirty="0" err="1"/>
              <a:t>Resolution</a:t>
            </a:r>
            <a:endParaRPr lang="it-IT" sz="2000" b="1" dirty="0"/>
          </a:p>
          <a:p>
            <a:pPr marL="285750" lvl="0" indent="-285750">
              <a:buFont typeface="Arial" panose="020B0604020202020204" pitchFamily="34" charset="0"/>
              <a:buChar char="•"/>
            </a:pPr>
            <a:r>
              <a:rPr lang="it-IT" sz="1200" b="1" dirty="0" err="1"/>
              <a:t>Repaired</a:t>
            </a:r>
            <a:r>
              <a:rPr lang="it-IT" sz="1200" dirty="0"/>
              <a:t> </a:t>
            </a:r>
            <a:r>
              <a:rPr lang="it-IT" sz="1200" dirty="0" err="1"/>
              <a:t>missing</a:t>
            </a:r>
            <a:r>
              <a:rPr lang="it-IT" sz="1200" dirty="0"/>
              <a:t> </a:t>
            </a:r>
            <a:r>
              <a:rPr lang="it-IT" sz="1200" dirty="0" err="1"/>
              <a:t>values</a:t>
            </a:r>
            <a:r>
              <a:rPr lang="it-IT" sz="1200" dirty="0"/>
              <a:t> in key fields (</a:t>
            </a:r>
            <a:r>
              <a:rPr lang="it-IT" sz="1200" dirty="0" err="1"/>
              <a:t>born</a:t>
            </a:r>
            <a:r>
              <a:rPr lang="it-IT" sz="1200" dirty="0"/>
              <a:t>, country, </a:t>
            </a:r>
            <a:r>
              <a:rPr lang="it-IT" sz="1200" dirty="0" err="1"/>
              <a:t>continent</a:t>
            </a:r>
            <a:r>
              <a:rPr lang="it-IT" sz="1200" dirty="0"/>
              <a:t>, </a:t>
            </a:r>
            <a:r>
              <a:rPr lang="it-IT" sz="1200" dirty="0" err="1"/>
              <a:t>nation</a:t>
            </a:r>
            <a:r>
              <a:rPr lang="it-IT" sz="1200" dirty="0"/>
              <a:t>, age) </a:t>
            </a:r>
            <a:r>
              <a:rPr lang="it-IT" sz="1200" dirty="0" err="1"/>
              <a:t>using</a:t>
            </a:r>
            <a:r>
              <a:rPr lang="it-IT" sz="1200" dirty="0"/>
              <a:t>:</a:t>
            </a:r>
          </a:p>
          <a:p>
            <a:pPr marL="742950" lvl="1" indent="-285750">
              <a:buFont typeface="Wingdings" panose="05000000000000000000" pitchFamily="2" charset="2"/>
              <a:buChar char="Ø"/>
            </a:pPr>
            <a:r>
              <a:rPr lang="it-IT" sz="1200" dirty="0" err="1"/>
              <a:t>Secondary</a:t>
            </a:r>
            <a:r>
              <a:rPr lang="it-IT" sz="1200" dirty="0"/>
              <a:t> dataset joins (players.csv)</a:t>
            </a:r>
          </a:p>
          <a:p>
            <a:pPr lvl="1"/>
            <a:r>
              <a:rPr lang="it-IT" sz="1200" dirty="0"/>
              <a:t>Value </a:t>
            </a:r>
            <a:r>
              <a:rPr lang="it-IT" sz="1200" dirty="0" err="1"/>
              <a:t>inference</a:t>
            </a:r>
            <a:r>
              <a:rPr lang="it-IT" sz="1200" dirty="0"/>
              <a:t> from </a:t>
            </a:r>
            <a:r>
              <a:rPr lang="it-IT" sz="1200" dirty="0" err="1"/>
              <a:t>same</a:t>
            </a:r>
            <a:r>
              <a:rPr lang="it-IT" sz="1200" dirty="0"/>
              <a:t>-country </a:t>
            </a:r>
            <a:r>
              <a:rPr lang="it-IT" sz="1200" dirty="0" err="1"/>
              <a:t>rows</a:t>
            </a:r>
            <a:r>
              <a:rPr lang="it-IT" sz="1200" dirty="0"/>
              <a:t> in </a:t>
            </a:r>
            <a:r>
              <a:rPr lang="it-IT" sz="1200" dirty="0" err="1"/>
              <a:t>other</a:t>
            </a:r>
            <a:r>
              <a:rPr lang="it-IT" sz="1200" dirty="0"/>
              <a:t> files.</a:t>
            </a:r>
          </a:p>
          <a:p>
            <a:pPr marL="742950" lvl="1" indent="-285750">
              <a:buFont typeface="Wingdings" panose="05000000000000000000" pitchFamily="2" charset="2"/>
              <a:buChar char="Ø"/>
            </a:pPr>
            <a:r>
              <a:rPr lang="it-IT" sz="1200" dirty="0" err="1"/>
              <a:t>Computed</a:t>
            </a:r>
            <a:r>
              <a:rPr lang="it-IT" sz="1200" dirty="0"/>
              <a:t> age </a:t>
            </a:r>
            <a:r>
              <a:rPr lang="it-IT" sz="1200" dirty="0" err="1"/>
              <a:t>using</a:t>
            </a:r>
            <a:r>
              <a:rPr lang="it-IT" sz="1200" dirty="0"/>
              <a:t> season - </a:t>
            </a:r>
            <a:r>
              <a:rPr lang="it-IT" sz="1200" dirty="0" err="1"/>
              <a:t>born</a:t>
            </a:r>
            <a:r>
              <a:rPr lang="it-IT" sz="1200" dirty="0"/>
              <a:t>.</a:t>
            </a:r>
          </a:p>
          <a:p>
            <a:endParaRPr lang="it-IT" sz="2000" b="1" dirty="0"/>
          </a:p>
        </p:txBody>
      </p:sp>
    </p:spTree>
    <p:extLst>
      <p:ext uri="{BB962C8B-B14F-4D97-AF65-F5344CB8AC3E}">
        <p14:creationId xmlns:p14="http://schemas.microsoft.com/office/powerpoint/2010/main" val="2607530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BE3606D-86F9-B24C-1969-D2317056BCF9}"/>
              </a:ext>
            </a:extLst>
          </p:cNvPr>
          <p:cNvSpPr>
            <a:spLocks noGrp="1"/>
          </p:cNvSpPr>
          <p:nvPr>
            <p:ph type="title"/>
          </p:nvPr>
        </p:nvSpPr>
        <p:spPr>
          <a:xfrm>
            <a:off x="838200" y="18255"/>
            <a:ext cx="10515600" cy="1325563"/>
          </a:xfrm>
        </p:spPr>
        <p:txBody>
          <a:bodyPr/>
          <a:lstStyle/>
          <a:p>
            <a:pPr algn="ctr"/>
            <a:r>
              <a:rPr lang="it-IT" b="1" dirty="0" err="1">
                <a:effectLst>
                  <a:outerShdw blurRad="38100" dist="38100" dir="2700000" algn="tl">
                    <a:srgbClr val="000000">
                      <a:alpha val="43137"/>
                    </a:srgbClr>
                  </a:outerShdw>
                </a:effectLst>
              </a:rPr>
              <a:t>Preparation</a:t>
            </a:r>
            <a:r>
              <a:rPr lang="it-IT" b="1" dirty="0">
                <a:effectLst>
                  <a:outerShdw blurRad="38100" dist="38100" dir="2700000" algn="tl">
                    <a:srgbClr val="000000">
                      <a:alpha val="43137"/>
                    </a:srgbClr>
                  </a:outerShdw>
                </a:effectLst>
              </a:rPr>
              <a:t> and Load </a:t>
            </a:r>
            <a:r>
              <a:rPr lang="it-IT" b="1" dirty="0" err="1">
                <a:effectLst>
                  <a:outerShdw blurRad="38100" dist="38100" dir="2700000" algn="tl">
                    <a:srgbClr val="000000">
                      <a:alpha val="43137"/>
                    </a:srgbClr>
                  </a:outerShdw>
                </a:effectLst>
              </a:rPr>
              <a:t>Phase</a:t>
            </a:r>
            <a:endParaRPr lang="it-IT" b="1" dirty="0">
              <a:effectLst>
                <a:outerShdw blurRad="38100" dist="38100" dir="2700000" algn="tl">
                  <a:srgbClr val="000000">
                    <a:alpha val="43137"/>
                  </a:srgbClr>
                </a:outerShdw>
              </a:effectLst>
            </a:endParaRPr>
          </a:p>
        </p:txBody>
      </p:sp>
      <p:sp>
        <p:nvSpPr>
          <p:cNvPr id="3" name="Segnaposto contenuto 2">
            <a:extLst>
              <a:ext uri="{FF2B5EF4-FFF2-40B4-BE49-F238E27FC236}">
                <a16:creationId xmlns:a16="http://schemas.microsoft.com/office/drawing/2014/main" id="{7755192C-54AC-0E9D-F853-DF16CD05CD0D}"/>
              </a:ext>
            </a:extLst>
          </p:cNvPr>
          <p:cNvSpPr>
            <a:spLocks noGrp="1"/>
          </p:cNvSpPr>
          <p:nvPr>
            <p:ph idx="1"/>
          </p:nvPr>
        </p:nvSpPr>
        <p:spPr>
          <a:xfrm>
            <a:off x="0" y="1146175"/>
            <a:ext cx="5581650" cy="1546225"/>
          </a:xfrm>
        </p:spPr>
        <p:txBody>
          <a:bodyPr>
            <a:normAutofit/>
          </a:bodyPr>
          <a:lstStyle/>
          <a:p>
            <a:pPr marL="0" indent="0">
              <a:buNone/>
            </a:pPr>
            <a:r>
              <a:rPr lang="it-IT" sz="2000" b="1" dirty="0"/>
              <a:t>Global </a:t>
            </a:r>
            <a:r>
              <a:rPr lang="it-IT" sz="2000" b="1" dirty="0" err="1"/>
              <a:t>Pair</a:t>
            </a:r>
            <a:r>
              <a:rPr lang="it-IT" sz="2000" b="1" dirty="0"/>
              <a:t> Scoring</a:t>
            </a:r>
          </a:p>
          <a:p>
            <a:pPr lvl="0"/>
            <a:r>
              <a:rPr lang="it-IT" sz="1200" b="1" dirty="0" err="1"/>
              <a:t>Computed</a:t>
            </a:r>
            <a:r>
              <a:rPr lang="it-IT" sz="1200" dirty="0"/>
              <a:t> (player, season) </a:t>
            </a:r>
            <a:r>
              <a:rPr lang="it-IT" sz="1200" dirty="0" err="1"/>
              <a:t>pairs</a:t>
            </a:r>
            <a:r>
              <a:rPr lang="it-IT" sz="1200" dirty="0"/>
              <a:t> </a:t>
            </a:r>
            <a:r>
              <a:rPr lang="it-IT" sz="1200" dirty="0" err="1"/>
              <a:t>present</a:t>
            </a:r>
            <a:r>
              <a:rPr lang="it-IT" sz="1200" dirty="0"/>
              <a:t> in </a:t>
            </a:r>
            <a:r>
              <a:rPr lang="it-IT" sz="1200" b="1" dirty="0" err="1"/>
              <a:t>all</a:t>
            </a:r>
            <a:r>
              <a:rPr lang="it-IT" sz="1200" dirty="0"/>
              <a:t> </a:t>
            </a:r>
            <a:r>
              <a:rPr lang="it-IT" sz="1200" dirty="0" err="1"/>
              <a:t>stats</a:t>
            </a:r>
            <a:r>
              <a:rPr lang="it-IT" sz="1200" dirty="0"/>
              <a:t> files </a:t>
            </a:r>
            <a:r>
              <a:rPr lang="it-IT" sz="1200" b="1" dirty="0"/>
              <a:t>and</a:t>
            </a:r>
            <a:r>
              <a:rPr lang="it-IT" sz="1200" dirty="0"/>
              <a:t> the </a:t>
            </a:r>
            <a:r>
              <a:rPr lang="it-IT" sz="1200" dirty="0" err="1"/>
              <a:t>valuation</a:t>
            </a:r>
            <a:r>
              <a:rPr lang="it-IT" sz="1200" dirty="0"/>
              <a:t> file.</a:t>
            </a:r>
          </a:p>
          <a:p>
            <a:pPr lvl="0"/>
            <a:r>
              <a:rPr lang="it-IT" sz="1200" b="1" dirty="0" err="1"/>
              <a:t>Counted</a:t>
            </a:r>
            <a:r>
              <a:rPr lang="it-IT" sz="1200" dirty="0"/>
              <a:t> </a:t>
            </a:r>
            <a:r>
              <a:rPr lang="it-IT" sz="1200" dirty="0" err="1"/>
              <a:t>total</a:t>
            </a:r>
            <a:r>
              <a:rPr lang="it-IT" sz="1200" dirty="0"/>
              <a:t> </a:t>
            </a:r>
            <a:r>
              <a:rPr lang="it-IT" sz="1200" dirty="0" err="1"/>
              <a:t>missing</a:t>
            </a:r>
            <a:r>
              <a:rPr lang="it-IT" sz="1200" dirty="0"/>
              <a:t> </a:t>
            </a:r>
            <a:r>
              <a:rPr lang="it-IT" sz="1200" dirty="0" err="1"/>
              <a:t>cells</a:t>
            </a:r>
            <a:r>
              <a:rPr lang="it-IT" sz="1200" dirty="0"/>
              <a:t> </a:t>
            </a:r>
            <a:r>
              <a:rPr lang="it-IT" sz="1200" dirty="0" err="1"/>
              <a:t>across</a:t>
            </a:r>
            <a:r>
              <a:rPr lang="it-IT" sz="1200" dirty="0"/>
              <a:t> </a:t>
            </a:r>
            <a:r>
              <a:rPr lang="it-IT" sz="1200" dirty="0" err="1"/>
              <a:t>all</a:t>
            </a:r>
            <a:r>
              <a:rPr lang="it-IT" sz="1200" dirty="0"/>
              <a:t> </a:t>
            </a:r>
            <a:r>
              <a:rPr lang="it-IT" sz="1200" dirty="0" err="1"/>
              <a:t>stats</a:t>
            </a:r>
            <a:r>
              <a:rPr lang="it-IT" sz="1200" dirty="0"/>
              <a:t> files </a:t>
            </a:r>
            <a:r>
              <a:rPr lang="it-IT" sz="1200" b="1" dirty="0"/>
              <a:t>per </a:t>
            </a:r>
            <a:r>
              <a:rPr lang="it-IT" sz="1200" b="1" dirty="0" err="1"/>
              <a:t>pair</a:t>
            </a:r>
            <a:r>
              <a:rPr lang="it-IT" sz="1200" dirty="0"/>
              <a:t>.</a:t>
            </a:r>
          </a:p>
          <a:p>
            <a:pPr lvl="0"/>
            <a:r>
              <a:rPr lang="it-IT" sz="1200" b="1" dirty="0" err="1"/>
              <a:t>Selected</a:t>
            </a:r>
            <a:r>
              <a:rPr lang="it-IT" sz="1200" dirty="0"/>
              <a:t> the </a:t>
            </a:r>
            <a:r>
              <a:rPr lang="it-IT" sz="1200" b="1" dirty="0"/>
              <a:t>8,000 best player-season </a:t>
            </a:r>
            <a:r>
              <a:rPr lang="it-IT" sz="1200" b="1" dirty="0" err="1"/>
              <a:t>pairs</a:t>
            </a:r>
            <a:r>
              <a:rPr lang="it-IT" sz="1200" dirty="0"/>
              <a:t> with the </a:t>
            </a:r>
            <a:r>
              <a:rPr lang="it-IT" sz="1200" dirty="0" err="1"/>
              <a:t>lowest</a:t>
            </a:r>
            <a:r>
              <a:rPr lang="it-IT" sz="1200" dirty="0"/>
              <a:t> </a:t>
            </a:r>
            <a:r>
              <a:rPr lang="it-IT" sz="1200" dirty="0" err="1"/>
              <a:t>null</a:t>
            </a:r>
            <a:r>
              <a:rPr lang="it-IT" sz="1200" dirty="0"/>
              <a:t> </a:t>
            </a:r>
            <a:r>
              <a:rPr lang="it-IT" sz="1200" dirty="0" err="1"/>
              <a:t>count</a:t>
            </a:r>
            <a:r>
              <a:rPr lang="it-IT" sz="1200" dirty="0"/>
              <a:t>.</a:t>
            </a:r>
          </a:p>
          <a:p>
            <a:pPr marL="0" indent="0">
              <a:buNone/>
            </a:pPr>
            <a:endParaRPr lang="it-IT" sz="2000" dirty="0"/>
          </a:p>
        </p:txBody>
      </p:sp>
      <p:sp>
        <p:nvSpPr>
          <p:cNvPr id="4" name="CasellaDiTesto 3">
            <a:extLst>
              <a:ext uri="{FF2B5EF4-FFF2-40B4-BE49-F238E27FC236}">
                <a16:creationId xmlns:a16="http://schemas.microsoft.com/office/drawing/2014/main" id="{DFF1CFF0-48A3-8D8F-AB01-58966C6EDAC5}"/>
              </a:ext>
            </a:extLst>
          </p:cNvPr>
          <p:cNvSpPr txBox="1"/>
          <p:nvPr/>
        </p:nvSpPr>
        <p:spPr>
          <a:xfrm>
            <a:off x="0" y="3172966"/>
            <a:ext cx="5588000" cy="1077218"/>
          </a:xfrm>
          <a:prstGeom prst="rect">
            <a:avLst/>
          </a:prstGeom>
          <a:noFill/>
        </p:spPr>
        <p:txBody>
          <a:bodyPr wrap="square" rtlCol="0">
            <a:spAutoFit/>
          </a:bodyPr>
          <a:lstStyle/>
          <a:p>
            <a:r>
              <a:rPr lang="it-IT" sz="2000" b="1" dirty="0"/>
              <a:t>Filtering &amp; Export</a:t>
            </a:r>
          </a:p>
          <a:p>
            <a:pPr marL="285750" lvl="0" indent="-285750">
              <a:buFont typeface="Arial" panose="020B0604020202020204" pitchFamily="34" charset="0"/>
              <a:buChar char="•"/>
            </a:pPr>
            <a:r>
              <a:rPr lang="it-IT" sz="1200" b="1" dirty="0" err="1"/>
              <a:t>Filtered</a:t>
            </a:r>
            <a:r>
              <a:rPr lang="it-IT" sz="1200" dirty="0"/>
              <a:t> </a:t>
            </a:r>
            <a:r>
              <a:rPr lang="it-IT" sz="1200" dirty="0" err="1"/>
              <a:t>every</a:t>
            </a:r>
            <a:r>
              <a:rPr lang="it-IT" sz="1200" dirty="0"/>
              <a:t> </a:t>
            </a:r>
            <a:r>
              <a:rPr lang="it-IT" sz="1200" dirty="0" err="1"/>
              <a:t>stats</a:t>
            </a:r>
            <a:r>
              <a:rPr lang="it-IT" sz="1200" dirty="0"/>
              <a:t> file and the </a:t>
            </a:r>
            <a:r>
              <a:rPr lang="it-IT" sz="1200" dirty="0" err="1"/>
              <a:t>valuation</a:t>
            </a:r>
            <a:r>
              <a:rPr lang="it-IT" sz="1200" dirty="0"/>
              <a:t> file to </a:t>
            </a:r>
            <a:r>
              <a:rPr lang="it-IT" sz="1200" dirty="0" err="1"/>
              <a:t>retain</a:t>
            </a:r>
            <a:r>
              <a:rPr lang="it-IT" sz="1200" dirty="0"/>
              <a:t> </a:t>
            </a:r>
            <a:r>
              <a:rPr lang="it-IT" sz="1200" dirty="0" err="1"/>
              <a:t>only</a:t>
            </a:r>
            <a:r>
              <a:rPr lang="it-IT" sz="1200" dirty="0"/>
              <a:t> the top 8,000 </a:t>
            </a:r>
            <a:r>
              <a:rPr lang="it-IT" sz="1200" dirty="0" err="1"/>
              <a:t>pairs</a:t>
            </a:r>
            <a:r>
              <a:rPr lang="it-IT" sz="1200" dirty="0"/>
              <a:t>.</a:t>
            </a:r>
          </a:p>
          <a:p>
            <a:pPr marL="285750" lvl="0" indent="-285750">
              <a:buFont typeface="Arial" panose="020B0604020202020204" pitchFamily="34" charset="0"/>
              <a:buChar char="•"/>
            </a:pPr>
            <a:r>
              <a:rPr lang="it-IT" sz="1200" b="1" dirty="0" err="1"/>
              <a:t>Ensured</a:t>
            </a:r>
            <a:r>
              <a:rPr lang="it-IT" sz="1200" dirty="0"/>
              <a:t> </a:t>
            </a:r>
            <a:r>
              <a:rPr lang="it-IT" sz="1200" dirty="0" err="1"/>
              <a:t>all</a:t>
            </a:r>
            <a:r>
              <a:rPr lang="it-IT" sz="1200" dirty="0"/>
              <a:t> files </a:t>
            </a:r>
            <a:r>
              <a:rPr lang="it-IT" sz="1200" dirty="0" err="1"/>
              <a:t>had</a:t>
            </a:r>
            <a:r>
              <a:rPr lang="it-IT" sz="1200" dirty="0"/>
              <a:t> </a:t>
            </a:r>
            <a:r>
              <a:rPr lang="it-IT" sz="1200" dirty="0" err="1"/>
              <a:t>identical</a:t>
            </a:r>
            <a:r>
              <a:rPr lang="it-IT" sz="1200" dirty="0"/>
              <a:t> sets of player-season keys.</a:t>
            </a:r>
          </a:p>
          <a:p>
            <a:endParaRPr lang="it-IT" sz="2000" dirty="0"/>
          </a:p>
        </p:txBody>
      </p:sp>
      <p:sp>
        <p:nvSpPr>
          <p:cNvPr id="5" name="CasellaDiTesto 4">
            <a:extLst>
              <a:ext uri="{FF2B5EF4-FFF2-40B4-BE49-F238E27FC236}">
                <a16:creationId xmlns:a16="http://schemas.microsoft.com/office/drawing/2014/main" id="{CBF129BC-E9DE-61A1-381F-1B5C9A4E7C6D}"/>
              </a:ext>
            </a:extLst>
          </p:cNvPr>
          <p:cNvSpPr txBox="1"/>
          <p:nvPr/>
        </p:nvSpPr>
        <p:spPr>
          <a:xfrm>
            <a:off x="0" y="4876800"/>
            <a:ext cx="5499100" cy="1508105"/>
          </a:xfrm>
          <a:prstGeom prst="rect">
            <a:avLst/>
          </a:prstGeom>
          <a:noFill/>
        </p:spPr>
        <p:txBody>
          <a:bodyPr wrap="square" rtlCol="0">
            <a:spAutoFit/>
          </a:bodyPr>
          <a:lstStyle/>
          <a:p>
            <a:r>
              <a:rPr lang="it-IT" sz="2000" b="1" dirty="0"/>
              <a:t>Load </a:t>
            </a:r>
            <a:r>
              <a:rPr lang="it-IT" sz="2000" b="1" dirty="0" err="1"/>
              <a:t>Preparation</a:t>
            </a:r>
            <a:endParaRPr lang="it-IT" sz="2000" b="1" dirty="0"/>
          </a:p>
          <a:p>
            <a:pPr marL="285750" lvl="0" indent="-285750">
              <a:buFont typeface="Arial" panose="020B0604020202020204" pitchFamily="34" charset="0"/>
              <a:buChar char="•"/>
            </a:pPr>
            <a:r>
              <a:rPr lang="it-IT" sz="1200" dirty="0" err="1"/>
              <a:t>Final</a:t>
            </a:r>
            <a:r>
              <a:rPr lang="it-IT" sz="1200" dirty="0"/>
              <a:t> </a:t>
            </a:r>
            <a:r>
              <a:rPr lang="it-IT" sz="1200" dirty="0" err="1"/>
              <a:t>CSVs</a:t>
            </a:r>
            <a:r>
              <a:rPr lang="it-IT" sz="1200" dirty="0"/>
              <a:t> are </a:t>
            </a:r>
            <a:r>
              <a:rPr lang="it-IT" sz="1200" dirty="0" err="1"/>
              <a:t>now</a:t>
            </a:r>
            <a:r>
              <a:rPr lang="it-IT" sz="1200" dirty="0"/>
              <a:t> </a:t>
            </a:r>
            <a:r>
              <a:rPr lang="it-IT" sz="1200" dirty="0" err="1"/>
              <a:t>clean</a:t>
            </a:r>
            <a:r>
              <a:rPr lang="it-IT" sz="1200" dirty="0"/>
              <a:t>, </a:t>
            </a:r>
            <a:r>
              <a:rPr lang="it-IT" sz="1200" dirty="0" err="1"/>
              <a:t>aligned</a:t>
            </a:r>
            <a:r>
              <a:rPr lang="it-IT" sz="1200" dirty="0"/>
              <a:t>, and </a:t>
            </a:r>
            <a:r>
              <a:rPr lang="it-IT" sz="1200" dirty="0" err="1"/>
              <a:t>optimized</a:t>
            </a:r>
            <a:r>
              <a:rPr lang="it-IT" sz="1200" dirty="0"/>
              <a:t>.</a:t>
            </a:r>
          </a:p>
          <a:p>
            <a:pPr marL="285750" lvl="0" indent="-285750">
              <a:buFont typeface="Arial" panose="020B0604020202020204" pitchFamily="34" charset="0"/>
              <a:buChar char="•"/>
            </a:pPr>
            <a:r>
              <a:rPr lang="it-IT" sz="1200" dirty="0" err="1"/>
              <a:t>Each</a:t>
            </a:r>
            <a:r>
              <a:rPr lang="it-IT" sz="1200" dirty="0"/>
              <a:t> file </a:t>
            </a:r>
            <a:r>
              <a:rPr lang="it-IT" sz="1200" dirty="0" err="1"/>
              <a:t>is</a:t>
            </a:r>
            <a:r>
              <a:rPr lang="it-IT" sz="1200" dirty="0"/>
              <a:t> ready for import </a:t>
            </a:r>
            <a:r>
              <a:rPr lang="it-IT" sz="1200" dirty="0" err="1"/>
              <a:t>into</a:t>
            </a:r>
            <a:r>
              <a:rPr lang="it-IT" sz="1200" dirty="0"/>
              <a:t> </a:t>
            </a:r>
            <a:r>
              <a:rPr lang="it-IT" sz="1200" dirty="0" err="1"/>
              <a:t>PostgreSQL</a:t>
            </a:r>
            <a:r>
              <a:rPr lang="it-IT" sz="1200" dirty="0"/>
              <a:t>.</a:t>
            </a:r>
          </a:p>
          <a:p>
            <a:pPr marL="285750" lvl="0" indent="-285750">
              <a:buFont typeface="Arial" panose="020B0604020202020204" pitchFamily="34" charset="0"/>
              <a:buChar char="•"/>
            </a:pPr>
            <a:r>
              <a:rPr lang="it-IT" sz="1200" dirty="0"/>
              <a:t>Keys (player, season) can be </a:t>
            </a:r>
            <a:r>
              <a:rPr lang="it-IT" sz="1200" dirty="0" err="1"/>
              <a:t>used</a:t>
            </a:r>
            <a:r>
              <a:rPr lang="it-IT" sz="1200" dirty="0"/>
              <a:t> to join </a:t>
            </a:r>
            <a:r>
              <a:rPr lang="it-IT" sz="1200" dirty="0" err="1"/>
              <a:t>fact</a:t>
            </a:r>
            <a:r>
              <a:rPr lang="it-IT" sz="1200" dirty="0"/>
              <a:t> and </a:t>
            </a:r>
            <a:r>
              <a:rPr lang="it-IT" sz="1200" dirty="0" err="1"/>
              <a:t>dimension</a:t>
            </a:r>
            <a:r>
              <a:rPr lang="it-IT" sz="1200" dirty="0"/>
              <a:t> </a:t>
            </a:r>
            <a:r>
              <a:rPr lang="it-IT" sz="1200" dirty="0" err="1"/>
              <a:t>tables</a:t>
            </a:r>
            <a:r>
              <a:rPr lang="it-IT" sz="1200" dirty="0"/>
              <a:t>.</a:t>
            </a:r>
          </a:p>
          <a:p>
            <a:endParaRPr lang="it-IT" sz="1400" b="1" dirty="0"/>
          </a:p>
          <a:p>
            <a:endParaRPr lang="it-IT" sz="2000" dirty="0"/>
          </a:p>
        </p:txBody>
      </p:sp>
    </p:spTree>
    <p:extLst>
      <p:ext uri="{BB962C8B-B14F-4D97-AF65-F5344CB8AC3E}">
        <p14:creationId xmlns:p14="http://schemas.microsoft.com/office/powerpoint/2010/main" val="3262198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FF40FD2-9937-7C7A-FA27-998652205457}"/>
              </a:ext>
            </a:extLst>
          </p:cNvPr>
          <p:cNvSpPr>
            <a:spLocks noGrp="1"/>
          </p:cNvSpPr>
          <p:nvPr>
            <p:ph type="title"/>
          </p:nvPr>
        </p:nvSpPr>
        <p:spPr>
          <a:xfrm>
            <a:off x="838200" y="18255"/>
            <a:ext cx="10515600" cy="1325563"/>
          </a:xfrm>
        </p:spPr>
        <p:txBody>
          <a:bodyPr/>
          <a:lstStyle/>
          <a:p>
            <a:pPr algn="ctr"/>
            <a:r>
              <a:rPr lang="it-IT" b="1" dirty="0">
                <a:effectLst>
                  <a:outerShdw blurRad="38100" dist="38100" dir="2700000" algn="tl">
                    <a:srgbClr val="000000">
                      <a:alpha val="43137"/>
                    </a:srgbClr>
                  </a:outerShdw>
                </a:effectLst>
              </a:rPr>
              <a:t>ETL </a:t>
            </a:r>
            <a:r>
              <a:rPr lang="it-IT" b="1" dirty="0" err="1">
                <a:effectLst>
                  <a:outerShdw blurRad="38100" dist="38100" dir="2700000" algn="tl">
                    <a:srgbClr val="000000">
                      <a:alpha val="43137"/>
                    </a:srgbClr>
                  </a:outerShdw>
                </a:effectLst>
              </a:rPr>
              <a:t>Process</a:t>
            </a:r>
            <a:r>
              <a:rPr lang="it-IT" b="1" dirty="0">
                <a:effectLst>
                  <a:outerShdw blurRad="38100" dist="38100" dir="2700000" algn="tl">
                    <a:srgbClr val="000000">
                      <a:alpha val="43137"/>
                    </a:srgbClr>
                  </a:outerShdw>
                </a:effectLst>
              </a:rPr>
              <a:t> – </a:t>
            </a:r>
            <a:r>
              <a:rPr lang="it-IT" b="1" dirty="0" err="1">
                <a:effectLst>
                  <a:outerShdw blurRad="38100" dist="38100" dir="2700000" algn="tl">
                    <a:srgbClr val="000000">
                      <a:alpha val="43137"/>
                    </a:srgbClr>
                  </a:outerShdw>
                </a:effectLst>
              </a:rPr>
              <a:t>Final</a:t>
            </a:r>
            <a:r>
              <a:rPr lang="it-IT" b="1" dirty="0">
                <a:effectLst>
                  <a:outerShdw blurRad="38100" dist="38100" dir="2700000" algn="tl">
                    <a:srgbClr val="000000">
                      <a:alpha val="43137"/>
                    </a:srgbClr>
                  </a:outerShdw>
                </a:effectLst>
              </a:rPr>
              <a:t> </a:t>
            </a:r>
            <a:r>
              <a:rPr lang="it-IT" b="1" dirty="0" err="1">
                <a:effectLst>
                  <a:outerShdw blurRad="38100" dist="38100" dir="2700000" algn="tl">
                    <a:srgbClr val="000000">
                      <a:alpha val="43137"/>
                    </a:srgbClr>
                  </a:outerShdw>
                </a:effectLst>
              </a:rPr>
              <a:t>considerations</a:t>
            </a:r>
            <a:endParaRPr lang="it-IT" b="1" dirty="0">
              <a:effectLst>
                <a:outerShdw blurRad="38100" dist="38100" dir="2700000" algn="tl">
                  <a:srgbClr val="000000">
                    <a:alpha val="43137"/>
                  </a:srgbClr>
                </a:outerShdw>
              </a:effectLst>
            </a:endParaRPr>
          </a:p>
        </p:txBody>
      </p:sp>
      <p:sp>
        <p:nvSpPr>
          <p:cNvPr id="3" name="Segnaposto contenuto 2">
            <a:extLst>
              <a:ext uri="{FF2B5EF4-FFF2-40B4-BE49-F238E27FC236}">
                <a16:creationId xmlns:a16="http://schemas.microsoft.com/office/drawing/2014/main" id="{12943C22-F52E-5C8A-4FB7-1BEFBC6B45E9}"/>
              </a:ext>
            </a:extLst>
          </p:cNvPr>
          <p:cNvSpPr>
            <a:spLocks noGrp="1"/>
          </p:cNvSpPr>
          <p:nvPr>
            <p:ph idx="1"/>
          </p:nvPr>
        </p:nvSpPr>
        <p:spPr>
          <a:xfrm>
            <a:off x="0" y="1089024"/>
            <a:ext cx="12192000" cy="4537075"/>
          </a:xfrm>
        </p:spPr>
        <p:txBody>
          <a:bodyPr>
            <a:normAutofit/>
          </a:bodyPr>
          <a:lstStyle/>
          <a:p>
            <a:r>
              <a:rPr lang="it-IT" sz="2000" dirty="0" err="1"/>
              <a:t>Now</a:t>
            </a:r>
            <a:r>
              <a:rPr lang="it-IT" sz="2000" dirty="0"/>
              <a:t> </a:t>
            </a:r>
            <a:r>
              <a:rPr lang="it-IT" sz="2000" dirty="0" err="1"/>
              <a:t>we</a:t>
            </a:r>
            <a:r>
              <a:rPr lang="it-IT" sz="2000" dirty="0"/>
              <a:t> </a:t>
            </a:r>
            <a:r>
              <a:rPr lang="it-IT" sz="2000" dirty="0" err="1"/>
              <a:t>have</a:t>
            </a:r>
            <a:r>
              <a:rPr lang="it-IT" sz="2000" dirty="0"/>
              <a:t> </a:t>
            </a:r>
            <a:r>
              <a:rPr lang="it-IT" sz="2000" dirty="0" err="1"/>
              <a:t>everything</a:t>
            </a:r>
            <a:r>
              <a:rPr lang="it-IT" sz="2000" dirty="0"/>
              <a:t> to make a DFM and load to </a:t>
            </a:r>
            <a:r>
              <a:rPr lang="it-IT" sz="2000" dirty="0" err="1"/>
              <a:t>PostgreSQL</a:t>
            </a:r>
            <a:r>
              <a:rPr lang="it-IT" sz="2000" dirty="0"/>
              <a:t>, in </a:t>
            </a:r>
            <a:r>
              <a:rPr lang="it-IT" sz="2000" dirty="0" err="1"/>
              <a:t>fact</a:t>
            </a:r>
            <a:r>
              <a:rPr lang="it-IT" sz="2000" dirty="0"/>
              <a:t> </a:t>
            </a:r>
            <a:r>
              <a:rPr lang="it-IT" sz="2000" dirty="0" err="1"/>
              <a:t>we</a:t>
            </a:r>
            <a:r>
              <a:rPr lang="it-IT" sz="2000" dirty="0"/>
              <a:t> </a:t>
            </a:r>
            <a:r>
              <a:rPr lang="it-IT" sz="2000" dirty="0" err="1"/>
              <a:t>have</a:t>
            </a:r>
            <a:r>
              <a:rPr lang="it-IT" sz="2000" dirty="0"/>
              <a:t> </a:t>
            </a:r>
            <a:r>
              <a:rPr lang="it-IT" sz="2000" dirty="0" err="1"/>
              <a:t>each</a:t>
            </a:r>
            <a:r>
              <a:rPr lang="it-IT" sz="2000" dirty="0"/>
              <a:t> file of </a:t>
            </a:r>
            <a:r>
              <a:rPr lang="it-IT" sz="2000" dirty="0" err="1"/>
              <a:t>either</a:t>
            </a:r>
            <a:r>
              <a:rPr lang="it-IT" sz="2000" dirty="0"/>
              <a:t> dataset 1 and dataset 2 with the </a:t>
            </a:r>
            <a:r>
              <a:rPr lang="it-IT" sz="2000" dirty="0" err="1"/>
              <a:t>same</a:t>
            </a:r>
            <a:r>
              <a:rPr lang="it-IT" sz="2000" dirty="0"/>
              <a:t> </a:t>
            </a:r>
            <a:r>
              <a:rPr lang="it-IT" sz="2000" b="1" dirty="0"/>
              <a:t>player-season </a:t>
            </a:r>
            <a:r>
              <a:rPr lang="it-IT" sz="2000" b="1" dirty="0" err="1"/>
              <a:t>pair</a:t>
            </a:r>
            <a:r>
              <a:rPr lang="it-IT" sz="2000" b="1" dirty="0"/>
              <a:t> </a:t>
            </a:r>
            <a:r>
              <a:rPr lang="it-IT" sz="2000" dirty="0"/>
              <a:t>and </a:t>
            </a:r>
            <a:r>
              <a:rPr lang="it-IT" sz="2000" dirty="0" err="1"/>
              <a:t>obviously</a:t>
            </a:r>
            <a:r>
              <a:rPr lang="it-IT" sz="2000" dirty="0"/>
              <a:t> </a:t>
            </a:r>
            <a:r>
              <a:rPr lang="it-IT" sz="2000" dirty="0" err="1"/>
              <a:t>different</a:t>
            </a:r>
            <a:r>
              <a:rPr lang="it-IT" sz="2000" dirty="0"/>
              <a:t> </a:t>
            </a:r>
            <a:r>
              <a:rPr lang="it-IT" sz="2000" dirty="0" err="1"/>
              <a:t>columns</a:t>
            </a:r>
            <a:r>
              <a:rPr lang="it-IT" sz="2000" dirty="0"/>
              <a:t>.</a:t>
            </a:r>
          </a:p>
        </p:txBody>
      </p:sp>
    </p:spTree>
    <p:extLst>
      <p:ext uri="{BB962C8B-B14F-4D97-AF65-F5344CB8AC3E}">
        <p14:creationId xmlns:p14="http://schemas.microsoft.com/office/powerpoint/2010/main" val="3238176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AE71751-2B85-9A9F-B36E-C5EAF75F28F9}"/>
              </a:ext>
            </a:extLst>
          </p:cNvPr>
          <p:cNvSpPr>
            <a:spLocks noGrp="1"/>
          </p:cNvSpPr>
          <p:nvPr>
            <p:ph type="title"/>
          </p:nvPr>
        </p:nvSpPr>
        <p:spPr>
          <a:xfrm>
            <a:off x="838200" y="18255"/>
            <a:ext cx="10515600" cy="1325563"/>
          </a:xfrm>
        </p:spPr>
        <p:txBody>
          <a:bodyPr/>
          <a:lstStyle/>
          <a:p>
            <a:pPr algn="ctr"/>
            <a:r>
              <a:rPr lang="it-IT" b="1" dirty="0">
                <a:effectLst>
                  <a:outerShdw blurRad="38100" dist="38100" dir="2700000" algn="tl">
                    <a:srgbClr val="000000">
                      <a:alpha val="43137"/>
                    </a:srgbClr>
                  </a:outerShdw>
                </a:effectLst>
              </a:rPr>
              <a:t>DFM Schema</a:t>
            </a:r>
          </a:p>
        </p:txBody>
      </p:sp>
      <p:pic>
        <p:nvPicPr>
          <p:cNvPr id="5" name="Segnaposto contenuto 4" descr="Immagine che contiene testo, diagramma, schermata, bianco e nero&#10;&#10;Il contenuto generato dall'IA potrebbe non essere corretto.">
            <a:extLst>
              <a:ext uri="{FF2B5EF4-FFF2-40B4-BE49-F238E27FC236}">
                <a16:creationId xmlns:a16="http://schemas.microsoft.com/office/drawing/2014/main" id="{6D9493CA-FF2E-D228-1C95-4AD5E17864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5014" y="1137551"/>
            <a:ext cx="7233167" cy="5418746"/>
          </a:xfrm>
        </p:spPr>
      </p:pic>
    </p:spTree>
    <p:extLst>
      <p:ext uri="{BB962C8B-B14F-4D97-AF65-F5344CB8AC3E}">
        <p14:creationId xmlns:p14="http://schemas.microsoft.com/office/powerpoint/2010/main" val="3161981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78EC61-692C-12F6-CD8C-00A2344FE9C7}"/>
              </a:ext>
            </a:extLst>
          </p:cNvPr>
          <p:cNvSpPr>
            <a:spLocks noGrp="1"/>
          </p:cNvSpPr>
          <p:nvPr>
            <p:ph type="title"/>
          </p:nvPr>
        </p:nvSpPr>
        <p:spPr>
          <a:xfrm>
            <a:off x="838200" y="18255"/>
            <a:ext cx="10515600" cy="1325563"/>
          </a:xfrm>
        </p:spPr>
        <p:txBody>
          <a:bodyPr/>
          <a:lstStyle/>
          <a:p>
            <a:pPr algn="ctr"/>
            <a:r>
              <a:rPr lang="it-IT" b="1">
                <a:effectLst>
                  <a:outerShdw blurRad="38100" dist="38100" dir="2700000" algn="tl">
                    <a:srgbClr val="000000">
                      <a:alpha val="43137"/>
                    </a:srgbClr>
                  </a:outerShdw>
                </a:effectLst>
              </a:rPr>
              <a:t>PostgreSQL and Star Schema</a:t>
            </a:r>
            <a:endParaRPr lang="it-IT" b="1" dirty="0">
              <a:effectLst>
                <a:outerShdw blurRad="38100" dist="38100" dir="2700000" algn="tl">
                  <a:srgbClr val="000000">
                    <a:alpha val="43137"/>
                  </a:srgbClr>
                </a:outerShdw>
              </a:effectLst>
            </a:endParaRPr>
          </a:p>
        </p:txBody>
      </p:sp>
      <p:pic>
        <p:nvPicPr>
          <p:cNvPr id="9" name="Segnaposto contenuto 8" descr="Immagine che contiene testo, schermata, numero, Parallelo&#10;&#10;Il contenuto generato dall'IA potrebbe non essere corretto.">
            <a:extLst>
              <a:ext uri="{FF2B5EF4-FFF2-40B4-BE49-F238E27FC236}">
                <a16:creationId xmlns:a16="http://schemas.microsoft.com/office/drawing/2014/main" id="{71C89C4B-EDA6-CF19-CA28-5531110AA1B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515" y="1132278"/>
            <a:ext cx="7131034" cy="5548301"/>
          </a:xfrm>
        </p:spPr>
      </p:pic>
      <p:sp>
        <p:nvSpPr>
          <p:cNvPr id="10" name="CasellaDiTesto 9">
            <a:extLst>
              <a:ext uri="{FF2B5EF4-FFF2-40B4-BE49-F238E27FC236}">
                <a16:creationId xmlns:a16="http://schemas.microsoft.com/office/drawing/2014/main" id="{FF3645F3-DA41-7D51-19E8-38182CC015AE}"/>
              </a:ext>
            </a:extLst>
          </p:cNvPr>
          <p:cNvSpPr txBox="1"/>
          <p:nvPr/>
        </p:nvSpPr>
        <p:spPr>
          <a:xfrm>
            <a:off x="7486176" y="3005635"/>
            <a:ext cx="4513480" cy="954107"/>
          </a:xfrm>
          <a:prstGeom prst="rect">
            <a:avLst/>
          </a:prstGeom>
          <a:noFill/>
        </p:spPr>
        <p:txBody>
          <a:bodyPr wrap="none" rtlCol="0">
            <a:spAutoFit/>
          </a:bodyPr>
          <a:lstStyle/>
          <a:p>
            <a:r>
              <a:rPr lang="en-US" sz="1400" dirty="0"/>
              <a:t>• Built on a central fact table: </a:t>
            </a:r>
            <a:r>
              <a:rPr lang="en-US" sz="1400" dirty="0" err="1"/>
              <a:t>fact_player</a:t>
            </a:r>
            <a:endParaRPr lang="en-US" sz="1400" dirty="0"/>
          </a:p>
          <a:p>
            <a:r>
              <a:rPr lang="en-US" sz="1400" dirty="0"/>
              <a:t>• Connected to 4 dimensions:</a:t>
            </a:r>
          </a:p>
          <a:p>
            <a:r>
              <a:rPr lang="en-US" sz="1400" dirty="0"/>
              <a:t>   – </a:t>
            </a:r>
            <a:r>
              <a:rPr lang="en-US" sz="1400" dirty="0" err="1"/>
              <a:t>dim_player</a:t>
            </a:r>
            <a:r>
              <a:rPr lang="en-US" sz="1400" dirty="0"/>
              <a:t>, </a:t>
            </a:r>
            <a:r>
              <a:rPr lang="en-US" sz="1400" dirty="0" err="1"/>
              <a:t>dim_season</a:t>
            </a:r>
            <a:r>
              <a:rPr lang="en-US" sz="1400" dirty="0"/>
              <a:t>, </a:t>
            </a:r>
            <a:r>
              <a:rPr lang="en-US" sz="1400" dirty="0" err="1"/>
              <a:t>dim_club</a:t>
            </a:r>
            <a:r>
              <a:rPr lang="en-US" sz="1400" dirty="0"/>
              <a:t>, </a:t>
            </a:r>
            <a:r>
              <a:rPr lang="en-US" sz="1400" dirty="0" err="1"/>
              <a:t>dim_competition</a:t>
            </a:r>
            <a:endParaRPr lang="en-US" sz="1400" dirty="0"/>
          </a:p>
          <a:p>
            <a:r>
              <a:rPr lang="en-US" sz="1400" dirty="0"/>
              <a:t>• Foreign keys enforce relational integrity</a:t>
            </a:r>
            <a:endParaRPr lang="it-IT" sz="1400" dirty="0"/>
          </a:p>
        </p:txBody>
      </p:sp>
    </p:spTree>
    <p:extLst>
      <p:ext uri="{BB962C8B-B14F-4D97-AF65-F5344CB8AC3E}">
        <p14:creationId xmlns:p14="http://schemas.microsoft.com/office/powerpoint/2010/main" val="2037102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18575D7-5774-B9E9-7FC4-27063847C8A5}"/>
              </a:ext>
            </a:extLst>
          </p:cNvPr>
          <p:cNvSpPr>
            <a:spLocks noGrp="1"/>
          </p:cNvSpPr>
          <p:nvPr>
            <p:ph type="title"/>
          </p:nvPr>
        </p:nvSpPr>
        <p:spPr>
          <a:xfrm>
            <a:off x="838200" y="18255"/>
            <a:ext cx="10515600" cy="1325563"/>
          </a:xfrm>
        </p:spPr>
        <p:txBody>
          <a:bodyPr/>
          <a:lstStyle/>
          <a:p>
            <a:pPr algn="ctr"/>
            <a:r>
              <a:rPr lang="it-IT" b="1" dirty="0" err="1">
                <a:effectLst>
                  <a:outerShdw blurRad="38100" dist="38100" dir="2700000" algn="tl">
                    <a:srgbClr val="000000">
                      <a:alpha val="43137"/>
                    </a:srgbClr>
                  </a:outerShdw>
                </a:effectLst>
              </a:rPr>
              <a:t>Population</a:t>
            </a:r>
            <a:r>
              <a:rPr lang="it-IT" b="1" dirty="0">
                <a:effectLst>
                  <a:outerShdw blurRad="38100" dist="38100" dir="2700000" algn="tl">
                    <a:srgbClr val="000000">
                      <a:alpha val="43137"/>
                    </a:srgbClr>
                  </a:outerShdw>
                </a:effectLst>
              </a:rPr>
              <a:t> of the database</a:t>
            </a:r>
          </a:p>
        </p:txBody>
      </p:sp>
      <p:graphicFrame>
        <p:nvGraphicFramePr>
          <p:cNvPr id="4" name="Segnaposto contenuto 3">
            <a:extLst>
              <a:ext uri="{FF2B5EF4-FFF2-40B4-BE49-F238E27FC236}">
                <a16:creationId xmlns:a16="http://schemas.microsoft.com/office/drawing/2014/main" id="{B490C41A-08E1-AC73-9D3E-4633300745A7}"/>
              </a:ext>
            </a:extLst>
          </p:cNvPr>
          <p:cNvGraphicFramePr>
            <a:graphicFrameLocks noGrp="1"/>
          </p:cNvGraphicFramePr>
          <p:nvPr>
            <p:ph idx="1"/>
            <p:extLst>
              <p:ext uri="{D42A27DB-BD31-4B8C-83A1-F6EECF244321}">
                <p14:modId xmlns:p14="http://schemas.microsoft.com/office/powerpoint/2010/main" val="337723334"/>
              </p:ext>
            </p:extLst>
          </p:nvPr>
        </p:nvGraphicFramePr>
        <p:xfrm>
          <a:off x="2098675" y="1144587"/>
          <a:ext cx="7994650" cy="1425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CasellaDiTesto 6">
            <a:extLst>
              <a:ext uri="{FF2B5EF4-FFF2-40B4-BE49-F238E27FC236}">
                <a16:creationId xmlns:a16="http://schemas.microsoft.com/office/drawing/2014/main" id="{2E959F83-9801-D27A-01A7-AE8BBB695BCF}"/>
              </a:ext>
            </a:extLst>
          </p:cNvPr>
          <p:cNvSpPr txBox="1"/>
          <p:nvPr/>
        </p:nvSpPr>
        <p:spPr>
          <a:xfrm>
            <a:off x="0" y="2769969"/>
            <a:ext cx="11994107" cy="1046440"/>
          </a:xfrm>
          <a:prstGeom prst="rect">
            <a:avLst/>
          </a:prstGeom>
          <a:noFill/>
        </p:spPr>
        <p:txBody>
          <a:bodyPr wrap="square" rtlCol="0">
            <a:spAutoFit/>
          </a:bodyPr>
          <a:lstStyle/>
          <a:p>
            <a:r>
              <a:rPr lang="it-IT" dirty="0"/>
              <a:t>CSV </a:t>
            </a:r>
            <a:r>
              <a:rPr lang="it-IT" dirty="0">
                <a:sym typeface="Wingdings" panose="05000000000000000000" pitchFamily="2" charset="2"/>
              </a:rPr>
              <a:t> STAGING TABLES : </a:t>
            </a:r>
            <a:r>
              <a:rPr lang="it-IT" sz="1400" b="1" dirty="0">
                <a:sym typeface="Wingdings" panose="05000000000000000000" pitchFamily="2" charset="2"/>
              </a:rPr>
              <a:t>COPY COMMAND </a:t>
            </a:r>
          </a:p>
          <a:p>
            <a:r>
              <a:rPr lang="it-IT" sz="1400" b="1" dirty="0" err="1">
                <a:sym typeface="Wingdings" panose="05000000000000000000" pitchFamily="2" charset="2"/>
              </a:rPr>
              <a:t>Example</a:t>
            </a:r>
            <a:r>
              <a:rPr lang="it-IT" sz="1400" b="1" dirty="0">
                <a:sym typeface="Wingdings" panose="05000000000000000000" pitchFamily="2" charset="2"/>
              </a:rPr>
              <a:t>:</a:t>
            </a:r>
          </a:p>
          <a:p>
            <a:r>
              <a:rPr lang="it-IT" sz="1200" dirty="0"/>
              <a:t>\copy </a:t>
            </a:r>
            <a:r>
              <a:rPr lang="it-IT" sz="1200" dirty="0" err="1"/>
              <a:t>staging.stg_players</a:t>
            </a:r>
            <a:r>
              <a:rPr lang="it-IT" sz="1200" dirty="0"/>
              <a:t> FROM 'C:/Users/matti/Desktop/Data-</a:t>
            </a:r>
            <a:r>
              <a:rPr lang="it-IT" sz="1200" dirty="0" err="1"/>
              <a:t>Warehouse</a:t>
            </a:r>
            <a:r>
              <a:rPr lang="it-IT" sz="1200" dirty="0"/>
              <a:t>-on-football-data/data/global_selected_8000/selected_players.csv' DELIMITER ',' CSV HEADER;</a:t>
            </a:r>
          </a:p>
          <a:p>
            <a:pPr marL="342900" indent="-342900">
              <a:buFont typeface="+mj-lt"/>
              <a:buAutoNum type="arabicPeriod"/>
            </a:pPr>
            <a:endParaRPr lang="it-IT" dirty="0"/>
          </a:p>
        </p:txBody>
      </p:sp>
      <p:sp>
        <p:nvSpPr>
          <p:cNvPr id="3" name="CasellaDiTesto 2">
            <a:extLst>
              <a:ext uri="{FF2B5EF4-FFF2-40B4-BE49-F238E27FC236}">
                <a16:creationId xmlns:a16="http://schemas.microsoft.com/office/drawing/2014/main" id="{2EBA0111-C77E-24CF-AE3E-D91C271A54C1}"/>
              </a:ext>
            </a:extLst>
          </p:cNvPr>
          <p:cNvSpPr txBox="1"/>
          <p:nvPr/>
        </p:nvSpPr>
        <p:spPr>
          <a:xfrm>
            <a:off x="-44450" y="3616354"/>
            <a:ext cx="11911557" cy="369332"/>
          </a:xfrm>
          <a:prstGeom prst="rect">
            <a:avLst/>
          </a:prstGeom>
          <a:noFill/>
        </p:spPr>
        <p:txBody>
          <a:bodyPr wrap="square" rtlCol="0">
            <a:spAutoFit/>
          </a:bodyPr>
          <a:lstStyle/>
          <a:p>
            <a:pPr marL="342900" indent="-342900">
              <a:buFont typeface="+mj-lt"/>
              <a:buAutoNum type="arabicPeriod"/>
            </a:pPr>
            <a:endParaRPr lang="it-IT" dirty="0"/>
          </a:p>
        </p:txBody>
      </p:sp>
      <p:sp>
        <p:nvSpPr>
          <p:cNvPr id="5" name="CasellaDiTesto 4">
            <a:extLst>
              <a:ext uri="{FF2B5EF4-FFF2-40B4-BE49-F238E27FC236}">
                <a16:creationId xmlns:a16="http://schemas.microsoft.com/office/drawing/2014/main" id="{E16C966D-E076-827E-04D3-030F8CE758F5}"/>
              </a:ext>
            </a:extLst>
          </p:cNvPr>
          <p:cNvSpPr txBox="1"/>
          <p:nvPr/>
        </p:nvSpPr>
        <p:spPr>
          <a:xfrm>
            <a:off x="-19457" y="3676041"/>
            <a:ext cx="6115457" cy="584775"/>
          </a:xfrm>
          <a:prstGeom prst="rect">
            <a:avLst/>
          </a:prstGeom>
          <a:noFill/>
        </p:spPr>
        <p:txBody>
          <a:bodyPr wrap="none" rtlCol="0">
            <a:spAutoFit/>
          </a:bodyPr>
          <a:lstStyle/>
          <a:p>
            <a:r>
              <a:rPr lang="it-IT" dirty="0"/>
              <a:t>STAGING TABLES </a:t>
            </a:r>
            <a:r>
              <a:rPr lang="it-IT" dirty="0">
                <a:sym typeface="Wingdings" panose="05000000000000000000" pitchFamily="2" charset="2"/>
              </a:rPr>
              <a:t> STAR SCHEMA TABLES: </a:t>
            </a:r>
            <a:r>
              <a:rPr lang="it-IT" sz="1400" b="1" dirty="0">
                <a:sym typeface="Wingdings" panose="05000000000000000000" pitchFamily="2" charset="2"/>
              </a:rPr>
              <a:t>INSERT COMMAND</a:t>
            </a:r>
          </a:p>
          <a:p>
            <a:r>
              <a:rPr lang="it-IT" sz="1400" b="1" dirty="0" err="1">
                <a:sym typeface="Wingdings" panose="05000000000000000000" pitchFamily="2" charset="2"/>
              </a:rPr>
              <a:t>Example</a:t>
            </a:r>
            <a:r>
              <a:rPr lang="it-IT" sz="1400" b="1" dirty="0">
                <a:sym typeface="Wingdings" panose="05000000000000000000" pitchFamily="2" charset="2"/>
              </a:rPr>
              <a:t>:</a:t>
            </a:r>
            <a:endParaRPr lang="it-IT" b="1" dirty="0"/>
          </a:p>
        </p:txBody>
      </p:sp>
      <p:pic>
        <p:nvPicPr>
          <p:cNvPr id="8" name="Immagine 7" descr="Immagine che contiene testo, Carattere, linea, schermata&#10;&#10;Il contenuto generato dall'IA potrebbe non essere corretto.">
            <a:extLst>
              <a:ext uri="{FF2B5EF4-FFF2-40B4-BE49-F238E27FC236}">
                <a16:creationId xmlns:a16="http://schemas.microsoft.com/office/drawing/2014/main" id="{F52AA7EB-9939-6552-61D0-599EC4D7EB0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4278073"/>
            <a:ext cx="4451741" cy="492114"/>
          </a:xfrm>
          <a:prstGeom prst="rect">
            <a:avLst/>
          </a:prstGeom>
        </p:spPr>
      </p:pic>
      <p:pic>
        <p:nvPicPr>
          <p:cNvPr id="11" name="Immagine 10" descr="Immagine che contiene testo, schermata, Carattere&#10;&#10;Il contenuto generato dall'IA potrebbe non essere corretto.">
            <a:extLst>
              <a:ext uri="{FF2B5EF4-FFF2-40B4-BE49-F238E27FC236}">
                <a16:creationId xmlns:a16="http://schemas.microsoft.com/office/drawing/2014/main" id="{BF671DB6-1751-BE29-F2D7-035A04B6BA4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97650" y="3801020"/>
            <a:ext cx="4870450" cy="1759608"/>
          </a:xfrm>
          <a:prstGeom prst="rect">
            <a:avLst/>
          </a:prstGeom>
        </p:spPr>
      </p:pic>
      <p:pic>
        <p:nvPicPr>
          <p:cNvPr id="13" name="Immagine 12">
            <a:extLst>
              <a:ext uri="{FF2B5EF4-FFF2-40B4-BE49-F238E27FC236}">
                <a16:creationId xmlns:a16="http://schemas.microsoft.com/office/drawing/2014/main" id="{6B2D0B69-F341-8010-3248-55A97EFAA37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150" y="5846729"/>
            <a:ext cx="6978650" cy="832738"/>
          </a:xfrm>
          <a:prstGeom prst="rect">
            <a:avLst/>
          </a:prstGeom>
        </p:spPr>
      </p:pic>
      <p:cxnSp>
        <p:nvCxnSpPr>
          <p:cNvPr id="15" name="Connettore 2 14">
            <a:extLst>
              <a:ext uri="{FF2B5EF4-FFF2-40B4-BE49-F238E27FC236}">
                <a16:creationId xmlns:a16="http://schemas.microsoft.com/office/drawing/2014/main" id="{AF5355F2-3D38-06A3-42A9-1816E51B62CC}"/>
              </a:ext>
            </a:extLst>
          </p:cNvPr>
          <p:cNvCxnSpPr/>
          <p:nvPr/>
        </p:nvCxnSpPr>
        <p:spPr>
          <a:xfrm flipH="1">
            <a:off x="5861050" y="4819650"/>
            <a:ext cx="622300" cy="9207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CasellaDiTesto 15">
            <a:extLst>
              <a:ext uri="{FF2B5EF4-FFF2-40B4-BE49-F238E27FC236}">
                <a16:creationId xmlns:a16="http://schemas.microsoft.com/office/drawing/2014/main" id="{F8BCCDD6-27A9-C5D8-7F5B-8CCE1F67BD2E}"/>
              </a:ext>
            </a:extLst>
          </p:cNvPr>
          <p:cNvSpPr txBox="1"/>
          <p:nvPr/>
        </p:nvSpPr>
        <p:spPr>
          <a:xfrm>
            <a:off x="57150" y="5371068"/>
            <a:ext cx="5473700" cy="369332"/>
          </a:xfrm>
          <a:prstGeom prst="rect">
            <a:avLst/>
          </a:prstGeom>
          <a:noFill/>
        </p:spPr>
        <p:txBody>
          <a:bodyPr wrap="square" rtlCol="0">
            <a:spAutoFit/>
          </a:bodyPr>
          <a:lstStyle/>
          <a:p>
            <a:r>
              <a:rPr lang="en-US" dirty="0">
                <a:effectLst>
                  <a:outerShdw blurRad="38100" dist="38100" dir="2700000" algn="tl">
                    <a:srgbClr val="000000">
                      <a:alpha val="43137"/>
                    </a:srgbClr>
                  </a:outerShdw>
                </a:effectLst>
              </a:rPr>
              <a:t>Sample Player-Season Records Across Dimensions</a:t>
            </a:r>
            <a:endParaRPr lang="it-IT"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42018281"/>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646</TotalTime>
  <Words>983</Words>
  <Application>Microsoft Office PowerPoint</Application>
  <PresentationFormat>Widescreen</PresentationFormat>
  <Paragraphs>100</Paragraphs>
  <Slides>11</Slides>
  <Notes>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11</vt:i4>
      </vt:variant>
    </vt:vector>
  </HeadingPairs>
  <TitlesOfParts>
    <vt:vector size="17" baseType="lpstr">
      <vt:lpstr>Aptos</vt:lpstr>
      <vt:lpstr>Aptos Display</vt:lpstr>
      <vt:lpstr>Arial</vt:lpstr>
      <vt:lpstr>Calibri</vt:lpstr>
      <vt:lpstr>Wingdings</vt:lpstr>
      <vt:lpstr>Tema di Office</vt:lpstr>
      <vt:lpstr>Football Data WareHouse</vt:lpstr>
      <vt:lpstr>Motivation &amp; objective</vt:lpstr>
      <vt:lpstr>Datasets Overview</vt:lpstr>
      <vt:lpstr>ETL Process - Overview</vt:lpstr>
      <vt:lpstr>Transform Phase</vt:lpstr>
      <vt:lpstr>Transform Phase </vt:lpstr>
      <vt:lpstr>Preparation and Load Phase</vt:lpstr>
      <vt:lpstr>ETL Process – Final considerations</vt:lpstr>
      <vt:lpstr>DFM Schema</vt:lpstr>
      <vt:lpstr>PostgreSQL and Star Schema</vt:lpstr>
      <vt:lpstr>Population of the database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Mattia Maucione</dc:creator>
  <cp:lastModifiedBy>Mattia Maucione</cp:lastModifiedBy>
  <cp:revision>7</cp:revision>
  <dcterms:created xsi:type="dcterms:W3CDTF">2025-06-16T15:42:15Z</dcterms:created>
  <dcterms:modified xsi:type="dcterms:W3CDTF">2025-06-23T18:45:28Z</dcterms:modified>
</cp:coreProperties>
</file>