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94660"/>
  </p:normalViewPr>
  <p:slideViewPr>
    <p:cSldViewPr snapToGrid="0">
      <p:cViewPr varScale="1">
        <p:scale>
          <a:sx n="150" d="100"/>
          <a:sy n="150" d="100"/>
        </p:scale>
        <p:origin x="624"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8C13F74-6262-46B4-A923-9F832FB99BFD}" type="doc">
      <dgm:prSet loTypeId="urn:microsoft.com/office/officeart/2005/8/layout/process1" loCatId="process" qsTypeId="urn:microsoft.com/office/officeart/2005/8/quickstyle/simple1" qsCatId="simple" csTypeId="urn:microsoft.com/office/officeart/2005/8/colors/accent1_2" csCatId="accent1" phldr="1"/>
      <dgm:spPr/>
    </dgm:pt>
    <dgm:pt modelId="{D3211A68-32F3-491B-98BB-6497F28216D3}">
      <dgm:prSet phldrT="[Testo]"/>
      <dgm:spPr/>
      <dgm:t>
        <a:bodyPr/>
        <a:lstStyle/>
        <a:p>
          <a:r>
            <a:rPr lang="it-IT" dirty="0"/>
            <a:t>CSV FILES</a:t>
          </a:r>
        </a:p>
      </dgm:t>
    </dgm:pt>
    <dgm:pt modelId="{E3B77541-6FD0-44E5-A920-E7E20D909D12}" type="parTrans" cxnId="{2A0EDD03-458B-45C9-9069-24BC1BE43863}">
      <dgm:prSet/>
      <dgm:spPr/>
      <dgm:t>
        <a:bodyPr/>
        <a:lstStyle/>
        <a:p>
          <a:endParaRPr lang="it-IT"/>
        </a:p>
      </dgm:t>
    </dgm:pt>
    <dgm:pt modelId="{B0DB6738-D508-433D-A3A6-5B210B1FFE4F}" type="sibTrans" cxnId="{2A0EDD03-458B-45C9-9069-24BC1BE43863}">
      <dgm:prSet/>
      <dgm:spPr/>
      <dgm:t>
        <a:bodyPr/>
        <a:lstStyle/>
        <a:p>
          <a:endParaRPr lang="it-IT"/>
        </a:p>
      </dgm:t>
    </dgm:pt>
    <dgm:pt modelId="{7AD7149C-63F6-4C91-B3F3-05792DBBDFFD}">
      <dgm:prSet phldrT="[Testo]"/>
      <dgm:spPr/>
      <dgm:t>
        <a:bodyPr/>
        <a:lstStyle/>
        <a:p>
          <a:r>
            <a:rPr lang="it-IT" dirty="0"/>
            <a:t>STAGING TABLES</a:t>
          </a:r>
        </a:p>
      </dgm:t>
    </dgm:pt>
    <dgm:pt modelId="{D042921C-142A-4AE9-A937-F3E231125F01}" type="parTrans" cxnId="{0C76CD40-1B30-4318-8A81-F947921D8920}">
      <dgm:prSet/>
      <dgm:spPr/>
      <dgm:t>
        <a:bodyPr/>
        <a:lstStyle/>
        <a:p>
          <a:endParaRPr lang="it-IT"/>
        </a:p>
      </dgm:t>
    </dgm:pt>
    <dgm:pt modelId="{7D4A8154-5670-4E52-8FD1-7FFDF567E33E}" type="sibTrans" cxnId="{0C76CD40-1B30-4318-8A81-F947921D8920}">
      <dgm:prSet/>
      <dgm:spPr/>
      <dgm:t>
        <a:bodyPr/>
        <a:lstStyle/>
        <a:p>
          <a:endParaRPr lang="it-IT"/>
        </a:p>
      </dgm:t>
    </dgm:pt>
    <dgm:pt modelId="{1C40E776-7D26-4514-BAD4-6BFA69EC6D3F}">
      <dgm:prSet phldrT="[Testo]"/>
      <dgm:spPr/>
      <dgm:t>
        <a:bodyPr/>
        <a:lstStyle/>
        <a:p>
          <a:r>
            <a:rPr lang="it-IT" dirty="0"/>
            <a:t>STAR SCHEMA TABLES</a:t>
          </a:r>
        </a:p>
      </dgm:t>
    </dgm:pt>
    <dgm:pt modelId="{33270364-0AE5-4A59-99E4-F35C3EB84E85}" type="parTrans" cxnId="{01B3DF6E-525B-4E66-9D77-FA5A375A500C}">
      <dgm:prSet/>
      <dgm:spPr/>
      <dgm:t>
        <a:bodyPr/>
        <a:lstStyle/>
        <a:p>
          <a:endParaRPr lang="it-IT"/>
        </a:p>
      </dgm:t>
    </dgm:pt>
    <dgm:pt modelId="{94E4F6F6-A27A-4797-AD1D-E90BEADA53E8}" type="sibTrans" cxnId="{01B3DF6E-525B-4E66-9D77-FA5A375A500C}">
      <dgm:prSet/>
      <dgm:spPr/>
      <dgm:t>
        <a:bodyPr/>
        <a:lstStyle/>
        <a:p>
          <a:endParaRPr lang="it-IT"/>
        </a:p>
      </dgm:t>
    </dgm:pt>
    <dgm:pt modelId="{24334D43-5BB2-4B83-9C26-1F193B37F81B}" type="pres">
      <dgm:prSet presAssocID="{F8C13F74-6262-46B4-A923-9F832FB99BFD}" presName="Name0" presStyleCnt="0">
        <dgm:presLayoutVars>
          <dgm:dir/>
          <dgm:resizeHandles val="exact"/>
        </dgm:presLayoutVars>
      </dgm:prSet>
      <dgm:spPr/>
    </dgm:pt>
    <dgm:pt modelId="{4D13650D-E35E-4E62-B68F-6BAACBDCBB86}" type="pres">
      <dgm:prSet presAssocID="{D3211A68-32F3-491B-98BB-6497F28216D3}" presName="node" presStyleLbl="node1" presStyleIdx="0" presStyleCnt="3">
        <dgm:presLayoutVars>
          <dgm:bulletEnabled val="1"/>
        </dgm:presLayoutVars>
      </dgm:prSet>
      <dgm:spPr/>
    </dgm:pt>
    <dgm:pt modelId="{3CDFAFDA-05C7-47E4-92DB-97E983AF6D0B}" type="pres">
      <dgm:prSet presAssocID="{B0DB6738-D508-433D-A3A6-5B210B1FFE4F}" presName="sibTrans" presStyleLbl="sibTrans2D1" presStyleIdx="0" presStyleCnt="2"/>
      <dgm:spPr/>
    </dgm:pt>
    <dgm:pt modelId="{476A189D-A7E3-4D96-91F1-B9E3D06AA506}" type="pres">
      <dgm:prSet presAssocID="{B0DB6738-D508-433D-A3A6-5B210B1FFE4F}" presName="connectorText" presStyleLbl="sibTrans2D1" presStyleIdx="0" presStyleCnt="2"/>
      <dgm:spPr/>
    </dgm:pt>
    <dgm:pt modelId="{FB03D1A2-8B7D-4956-AB0B-03F0406F6F48}" type="pres">
      <dgm:prSet presAssocID="{7AD7149C-63F6-4C91-B3F3-05792DBBDFFD}" presName="node" presStyleLbl="node1" presStyleIdx="1" presStyleCnt="3">
        <dgm:presLayoutVars>
          <dgm:bulletEnabled val="1"/>
        </dgm:presLayoutVars>
      </dgm:prSet>
      <dgm:spPr/>
    </dgm:pt>
    <dgm:pt modelId="{CD8F1826-5D85-4D01-ADF6-06906C825D93}" type="pres">
      <dgm:prSet presAssocID="{7D4A8154-5670-4E52-8FD1-7FFDF567E33E}" presName="sibTrans" presStyleLbl="sibTrans2D1" presStyleIdx="1" presStyleCnt="2"/>
      <dgm:spPr/>
    </dgm:pt>
    <dgm:pt modelId="{31B23B10-BDAF-4911-A680-1A36B38CACF6}" type="pres">
      <dgm:prSet presAssocID="{7D4A8154-5670-4E52-8FD1-7FFDF567E33E}" presName="connectorText" presStyleLbl="sibTrans2D1" presStyleIdx="1" presStyleCnt="2"/>
      <dgm:spPr/>
    </dgm:pt>
    <dgm:pt modelId="{E301B99F-B357-45D7-933A-96DF6F4EED6F}" type="pres">
      <dgm:prSet presAssocID="{1C40E776-7D26-4514-BAD4-6BFA69EC6D3F}" presName="node" presStyleLbl="node1" presStyleIdx="2" presStyleCnt="3">
        <dgm:presLayoutVars>
          <dgm:bulletEnabled val="1"/>
        </dgm:presLayoutVars>
      </dgm:prSet>
      <dgm:spPr/>
    </dgm:pt>
  </dgm:ptLst>
  <dgm:cxnLst>
    <dgm:cxn modelId="{2A0EDD03-458B-45C9-9069-24BC1BE43863}" srcId="{F8C13F74-6262-46B4-A923-9F832FB99BFD}" destId="{D3211A68-32F3-491B-98BB-6497F28216D3}" srcOrd="0" destOrd="0" parTransId="{E3B77541-6FD0-44E5-A920-E7E20D909D12}" sibTransId="{B0DB6738-D508-433D-A3A6-5B210B1FFE4F}"/>
    <dgm:cxn modelId="{70A41828-3C11-4608-A8B1-6A34619D0767}" type="presOf" srcId="{1C40E776-7D26-4514-BAD4-6BFA69EC6D3F}" destId="{E301B99F-B357-45D7-933A-96DF6F4EED6F}" srcOrd="0" destOrd="0" presId="urn:microsoft.com/office/officeart/2005/8/layout/process1"/>
    <dgm:cxn modelId="{B097FB35-662B-42CE-9B71-8887CD0C4A99}" type="presOf" srcId="{7AD7149C-63F6-4C91-B3F3-05792DBBDFFD}" destId="{FB03D1A2-8B7D-4956-AB0B-03F0406F6F48}" srcOrd="0" destOrd="0" presId="urn:microsoft.com/office/officeart/2005/8/layout/process1"/>
    <dgm:cxn modelId="{0C76CD40-1B30-4318-8A81-F947921D8920}" srcId="{F8C13F74-6262-46B4-A923-9F832FB99BFD}" destId="{7AD7149C-63F6-4C91-B3F3-05792DBBDFFD}" srcOrd="1" destOrd="0" parTransId="{D042921C-142A-4AE9-A937-F3E231125F01}" sibTransId="{7D4A8154-5670-4E52-8FD1-7FFDF567E33E}"/>
    <dgm:cxn modelId="{56E41D49-49C2-40A0-A6CA-FB541A0C784B}" type="presOf" srcId="{D3211A68-32F3-491B-98BB-6497F28216D3}" destId="{4D13650D-E35E-4E62-B68F-6BAACBDCBB86}" srcOrd="0" destOrd="0" presId="urn:microsoft.com/office/officeart/2005/8/layout/process1"/>
    <dgm:cxn modelId="{07E9DF4D-DBB7-47B9-B5F9-D0F454891B7B}" type="presOf" srcId="{7D4A8154-5670-4E52-8FD1-7FFDF567E33E}" destId="{CD8F1826-5D85-4D01-ADF6-06906C825D93}" srcOrd="0" destOrd="0" presId="urn:microsoft.com/office/officeart/2005/8/layout/process1"/>
    <dgm:cxn modelId="{01B3DF6E-525B-4E66-9D77-FA5A375A500C}" srcId="{F8C13F74-6262-46B4-A923-9F832FB99BFD}" destId="{1C40E776-7D26-4514-BAD4-6BFA69EC6D3F}" srcOrd="2" destOrd="0" parTransId="{33270364-0AE5-4A59-99E4-F35C3EB84E85}" sibTransId="{94E4F6F6-A27A-4797-AD1D-E90BEADA53E8}"/>
    <dgm:cxn modelId="{34791F70-8421-4C08-B0EA-C8C2A3E343C1}" type="presOf" srcId="{B0DB6738-D508-433D-A3A6-5B210B1FFE4F}" destId="{476A189D-A7E3-4D96-91F1-B9E3D06AA506}" srcOrd="1" destOrd="0" presId="urn:microsoft.com/office/officeart/2005/8/layout/process1"/>
    <dgm:cxn modelId="{CCBB90D4-7173-45A8-A99E-5322D589AF58}" type="presOf" srcId="{F8C13F74-6262-46B4-A923-9F832FB99BFD}" destId="{24334D43-5BB2-4B83-9C26-1F193B37F81B}" srcOrd="0" destOrd="0" presId="urn:microsoft.com/office/officeart/2005/8/layout/process1"/>
    <dgm:cxn modelId="{440318DA-3C9E-48D3-A337-65FD4B1BE617}" type="presOf" srcId="{B0DB6738-D508-433D-A3A6-5B210B1FFE4F}" destId="{3CDFAFDA-05C7-47E4-92DB-97E983AF6D0B}" srcOrd="0" destOrd="0" presId="urn:microsoft.com/office/officeart/2005/8/layout/process1"/>
    <dgm:cxn modelId="{AFC0A8EA-BCE0-4C91-BD24-A9BC6C85B6BC}" type="presOf" srcId="{7D4A8154-5670-4E52-8FD1-7FFDF567E33E}" destId="{31B23B10-BDAF-4911-A680-1A36B38CACF6}" srcOrd="1" destOrd="0" presId="urn:microsoft.com/office/officeart/2005/8/layout/process1"/>
    <dgm:cxn modelId="{7D4EC19F-0AD3-4F10-BCE2-61EADE11FB1E}" type="presParOf" srcId="{24334D43-5BB2-4B83-9C26-1F193B37F81B}" destId="{4D13650D-E35E-4E62-B68F-6BAACBDCBB86}" srcOrd="0" destOrd="0" presId="urn:microsoft.com/office/officeart/2005/8/layout/process1"/>
    <dgm:cxn modelId="{55A2FB1C-A01F-4432-BDB6-8AF48CCE7D7A}" type="presParOf" srcId="{24334D43-5BB2-4B83-9C26-1F193B37F81B}" destId="{3CDFAFDA-05C7-47E4-92DB-97E983AF6D0B}" srcOrd="1" destOrd="0" presId="urn:microsoft.com/office/officeart/2005/8/layout/process1"/>
    <dgm:cxn modelId="{96224B72-E413-468C-9A28-ED84B5ABF5F4}" type="presParOf" srcId="{3CDFAFDA-05C7-47E4-92DB-97E983AF6D0B}" destId="{476A189D-A7E3-4D96-91F1-B9E3D06AA506}" srcOrd="0" destOrd="0" presId="urn:microsoft.com/office/officeart/2005/8/layout/process1"/>
    <dgm:cxn modelId="{C3D608E0-FE25-42BE-80AB-9F8A7EDBF1D0}" type="presParOf" srcId="{24334D43-5BB2-4B83-9C26-1F193B37F81B}" destId="{FB03D1A2-8B7D-4956-AB0B-03F0406F6F48}" srcOrd="2" destOrd="0" presId="urn:microsoft.com/office/officeart/2005/8/layout/process1"/>
    <dgm:cxn modelId="{2A39400F-CD0B-4AC5-879D-39267B26CC1E}" type="presParOf" srcId="{24334D43-5BB2-4B83-9C26-1F193B37F81B}" destId="{CD8F1826-5D85-4D01-ADF6-06906C825D93}" srcOrd="3" destOrd="0" presId="urn:microsoft.com/office/officeart/2005/8/layout/process1"/>
    <dgm:cxn modelId="{31A84072-21E9-454B-BE99-4D4BCFF9F77C}" type="presParOf" srcId="{CD8F1826-5D85-4D01-ADF6-06906C825D93}" destId="{31B23B10-BDAF-4911-A680-1A36B38CACF6}" srcOrd="0" destOrd="0" presId="urn:microsoft.com/office/officeart/2005/8/layout/process1"/>
    <dgm:cxn modelId="{3E98C8E9-8F9A-458F-BDB5-7EE6ACD3A616}" type="presParOf" srcId="{24334D43-5BB2-4B83-9C26-1F193B37F81B}" destId="{E301B99F-B357-45D7-933A-96DF6F4EED6F}"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13650D-E35E-4E62-B68F-6BAACBDCBB86}">
      <dsp:nvSpPr>
        <dsp:cNvPr id="0" name=""/>
        <dsp:cNvSpPr/>
      </dsp:nvSpPr>
      <dsp:spPr>
        <a:xfrm>
          <a:off x="7026" y="82740"/>
          <a:ext cx="2100157" cy="126009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it-IT" sz="2300" kern="1200" dirty="0"/>
            <a:t>CSV FILES</a:t>
          </a:r>
        </a:p>
      </dsp:txBody>
      <dsp:txXfrm>
        <a:off x="43933" y="119647"/>
        <a:ext cx="2026343" cy="1186280"/>
      </dsp:txXfrm>
    </dsp:sp>
    <dsp:sp modelId="{3CDFAFDA-05C7-47E4-92DB-97E983AF6D0B}">
      <dsp:nvSpPr>
        <dsp:cNvPr id="0" name=""/>
        <dsp:cNvSpPr/>
      </dsp:nvSpPr>
      <dsp:spPr>
        <a:xfrm>
          <a:off x="2317199" y="452368"/>
          <a:ext cx="445233" cy="52083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it-IT" sz="1800" kern="1200"/>
        </a:p>
      </dsp:txBody>
      <dsp:txXfrm>
        <a:off x="2317199" y="556536"/>
        <a:ext cx="311663" cy="312502"/>
      </dsp:txXfrm>
    </dsp:sp>
    <dsp:sp modelId="{FB03D1A2-8B7D-4956-AB0B-03F0406F6F48}">
      <dsp:nvSpPr>
        <dsp:cNvPr id="0" name=""/>
        <dsp:cNvSpPr/>
      </dsp:nvSpPr>
      <dsp:spPr>
        <a:xfrm>
          <a:off x="2947246" y="82740"/>
          <a:ext cx="2100157" cy="126009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it-IT" sz="2300" kern="1200" dirty="0"/>
            <a:t>STAGING TABLES</a:t>
          </a:r>
        </a:p>
      </dsp:txBody>
      <dsp:txXfrm>
        <a:off x="2984153" y="119647"/>
        <a:ext cx="2026343" cy="1186280"/>
      </dsp:txXfrm>
    </dsp:sp>
    <dsp:sp modelId="{CD8F1826-5D85-4D01-ADF6-06906C825D93}">
      <dsp:nvSpPr>
        <dsp:cNvPr id="0" name=""/>
        <dsp:cNvSpPr/>
      </dsp:nvSpPr>
      <dsp:spPr>
        <a:xfrm>
          <a:off x="5257419" y="452368"/>
          <a:ext cx="445233" cy="52083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it-IT" sz="1800" kern="1200"/>
        </a:p>
      </dsp:txBody>
      <dsp:txXfrm>
        <a:off x="5257419" y="556536"/>
        <a:ext cx="311663" cy="312502"/>
      </dsp:txXfrm>
    </dsp:sp>
    <dsp:sp modelId="{E301B99F-B357-45D7-933A-96DF6F4EED6F}">
      <dsp:nvSpPr>
        <dsp:cNvPr id="0" name=""/>
        <dsp:cNvSpPr/>
      </dsp:nvSpPr>
      <dsp:spPr>
        <a:xfrm>
          <a:off x="5887466" y="82740"/>
          <a:ext cx="2100157" cy="126009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it-IT" sz="2300" kern="1200" dirty="0"/>
            <a:t>STAR SCHEMA TABLES</a:t>
          </a:r>
        </a:p>
      </dsp:txBody>
      <dsp:txXfrm>
        <a:off x="5924373" y="119647"/>
        <a:ext cx="2026343" cy="1186280"/>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dirty="0"/>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8C4DBF3-A730-4D1B-9EB7-DCB5A40FDA9B}" type="datetimeFigureOut">
              <a:rPr lang="it-IT" smtClean="0"/>
              <a:t>11/07/2025</a:t>
            </a:fld>
            <a:endParaRPr lang="it-IT" dirty="0"/>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dirty="0"/>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dirty="0"/>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4E5611-52C4-4329-88C3-CBD9F9F9B54A}" type="slidenum">
              <a:rPr lang="it-IT" smtClean="0"/>
              <a:t>‹N›</a:t>
            </a:fld>
            <a:endParaRPr lang="it-IT" dirty="0"/>
          </a:p>
        </p:txBody>
      </p:sp>
    </p:spTree>
    <p:extLst>
      <p:ext uri="{BB962C8B-B14F-4D97-AF65-F5344CB8AC3E}">
        <p14:creationId xmlns:p14="http://schemas.microsoft.com/office/powerpoint/2010/main" val="752314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04B21FF-46C4-1660-F9AE-ED5BE2C11700}"/>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97D0375C-7164-8AA1-4F94-3C02A83D50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52D94E9-CAE5-A631-5B8C-A3EADA31A7AB}"/>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78993D81-6830-8508-9ADF-76FC0DF59B23}"/>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BC36D6F3-763B-1E6E-5BC7-3DBD8EFE07D8}"/>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31433535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B76B192-9396-A933-0668-4B6EF54BB5B9}"/>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EAF1D6E5-1564-3A59-6A3A-9BA1F56BA72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C6858C20-B863-82AF-A9EB-B3A54096F6DF}"/>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D313C64A-6916-F5E5-FB16-E0B35DDD1AA5}"/>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CDDA5973-ED03-0205-FA1F-6EAA2F8F6161}"/>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12828222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1DE6252-47A9-DC66-8923-65CA47F5F70A}"/>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DDCCDC03-EC7F-69F4-54BD-9CA06ECAC9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57AC348F-F9F2-4669-C01C-389CD17B4658}"/>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B99AA0E9-3B00-D7E4-CB34-A7B12E4B5A47}"/>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59164E5C-A965-5ABD-50F8-E60DF9D66722}"/>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209470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D6CCB2D-BB84-2F01-DEDA-D72CA0A55BE3}"/>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19976238-C547-EF33-DA71-1C64DF984643}"/>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AB53ED99-DC7A-EA65-204E-6909A7888D1A}"/>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4FBC385A-8871-1391-88D0-264A2DBBDB35}"/>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6" name="Segnaposto piè di pagina 5">
            <a:extLst>
              <a:ext uri="{FF2B5EF4-FFF2-40B4-BE49-F238E27FC236}">
                <a16:creationId xmlns:a16="http://schemas.microsoft.com/office/drawing/2014/main" id="{26880C97-2378-5AB6-E1D3-D212FB8AE77D}"/>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DF3A3134-0E69-7D24-82C7-FC32D1158A2D}"/>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18647214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20FB57A-1254-7BB9-5419-B25126F588A1}"/>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CA8B0AA6-EB1D-B4D9-6EAD-1FC8A4F8B93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E54343FB-588F-6AF6-47D8-0392987C5BC6}"/>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3E775261-04B8-B1F2-2DBC-9487AA6C79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A9BD4EBD-53DA-E654-1E1A-2A56A4D2BD82}"/>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4981BEA2-68AB-AA7F-312A-E0B8EEC4A43E}"/>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8" name="Segnaposto piè di pagina 7">
            <a:extLst>
              <a:ext uri="{FF2B5EF4-FFF2-40B4-BE49-F238E27FC236}">
                <a16:creationId xmlns:a16="http://schemas.microsoft.com/office/drawing/2014/main" id="{96140475-613D-585C-3D90-7B2EE727A391}"/>
              </a:ext>
            </a:extLst>
          </p:cNvPr>
          <p:cNvSpPr>
            <a:spLocks noGrp="1"/>
          </p:cNvSpPr>
          <p:nvPr>
            <p:ph type="ftr" sz="quarter" idx="11"/>
          </p:nvPr>
        </p:nvSpPr>
        <p:spPr/>
        <p:txBody>
          <a:bodyPr/>
          <a:lstStyle/>
          <a:p>
            <a:endParaRPr lang="it-IT" dirty="0"/>
          </a:p>
        </p:txBody>
      </p:sp>
      <p:sp>
        <p:nvSpPr>
          <p:cNvPr id="9" name="Segnaposto numero diapositiva 8">
            <a:extLst>
              <a:ext uri="{FF2B5EF4-FFF2-40B4-BE49-F238E27FC236}">
                <a16:creationId xmlns:a16="http://schemas.microsoft.com/office/drawing/2014/main" id="{DA604872-3E31-5ACC-63D5-0DC0AD805E21}"/>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19722725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4471787-AC3E-8491-5002-1A9B2717B70F}"/>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1E1EA8F4-D9AD-5867-9494-D4D95896EA67}"/>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4" name="Segnaposto piè di pagina 3">
            <a:extLst>
              <a:ext uri="{FF2B5EF4-FFF2-40B4-BE49-F238E27FC236}">
                <a16:creationId xmlns:a16="http://schemas.microsoft.com/office/drawing/2014/main" id="{B5E69DA7-A677-2C7F-7801-43DF740C3F20}"/>
              </a:ext>
            </a:extLst>
          </p:cNvPr>
          <p:cNvSpPr>
            <a:spLocks noGrp="1"/>
          </p:cNvSpPr>
          <p:nvPr>
            <p:ph type="ftr" sz="quarter" idx="11"/>
          </p:nvPr>
        </p:nvSpPr>
        <p:spPr/>
        <p:txBody>
          <a:bodyPr/>
          <a:lstStyle/>
          <a:p>
            <a:endParaRPr lang="it-IT" dirty="0"/>
          </a:p>
        </p:txBody>
      </p:sp>
      <p:sp>
        <p:nvSpPr>
          <p:cNvPr id="5" name="Segnaposto numero diapositiva 4">
            <a:extLst>
              <a:ext uri="{FF2B5EF4-FFF2-40B4-BE49-F238E27FC236}">
                <a16:creationId xmlns:a16="http://schemas.microsoft.com/office/drawing/2014/main" id="{9B004CEA-5741-6DAA-9B83-8F88A992090D}"/>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1778144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FBE702DF-E746-9060-2DC5-CB99752A0C1D}"/>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3" name="Segnaposto piè di pagina 2">
            <a:extLst>
              <a:ext uri="{FF2B5EF4-FFF2-40B4-BE49-F238E27FC236}">
                <a16:creationId xmlns:a16="http://schemas.microsoft.com/office/drawing/2014/main" id="{820F4159-191E-17AA-B76C-FEB243AEDA3F}"/>
              </a:ext>
            </a:extLst>
          </p:cNvPr>
          <p:cNvSpPr>
            <a:spLocks noGrp="1"/>
          </p:cNvSpPr>
          <p:nvPr>
            <p:ph type="ftr" sz="quarter" idx="11"/>
          </p:nvPr>
        </p:nvSpPr>
        <p:spPr/>
        <p:txBody>
          <a:bodyPr/>
          <a:lstStyle/>
          <a:p>
            <a:endParaRPr lang="it-IT" dirty="0"/>
          </a:p>
        </p:txBody>
      </p:sp>
      <p:sp>
        <p:nvSpPr>
          <p:cNvPr id="4" name="Segnaposto numero diapositiva 3">
            <a:extLst>
              <a:ext uri="{FF2B5EF4-FFF2-40B4-BE49-F238E27FC236}">
                <a16:creationId xmlns:a16="http://schemas.microsoft.com/office/drawing/2014/main" id="{16ED0C37-42A1-099B-8CB5-F0C16FA16D30}"/>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2181322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53D06A5-6E21-3ABD-6F5B-D20908CBB932}"/>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CB98CCED-5EC4-47C4-E8AD-7A007EC3CD8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42A44783-2AB2-2948-1E6E-BC2251C7A3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8B056C15-841D-6781-BE12-2145449B572B}"/>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6" name="Segnaposto piè di pagina 5">
            <a:extLst>
              <a:ext uri="{FF2B5EF4-FFF2-40B4-BE49-F238E27FC236}">
                <a16:creationId xmlns:a16="http://schemas.microsoft.com/office/drawing/2014/main" id="{9FEF09D1-BDF5-E8C3-B163-85907DEC59F2}"/>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2A4D6DB3-B641-48C5-AC8C-25719BA8189A}"/>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1530713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10F0C89-580D-C07E-123F-EA278E1FEC1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C888A051-094D-C936-912B-8821D892D43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dirty="0"/>
          </a:p>
        </p:txBody>
      </p:sp>
      <p:sp>
        <p:nvSpPr>
          <p:cNvPr id="4" name="Segnaposto testo 3">
            <a:extLst>
              <a:ext uri="{FF2B5EF4-FFF2-40B4-BE49-F238E27FC236}">
                <a16:creationId xmlns:a16="http://schemas.microsoft.com/office/drawing/2014/main" id="{9778EDDB-7D0F-B98D-E353-11398EC91D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62499AE7-6925-1780-88AC-60192ED720EF}"/>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6" name="Segnaposto piè di pagina 5">
            <a:extLst>
              <a:ext uri="{FF2B5EF4-FFF2-40B4-BE49-F238E27FC236}">
                <a16:creationId xmlns:a16="http://schemas.microsoft.com/office/drawing/2014/main" id="{8E3FECE4-0A68-A9DD-C6EE-7F271DDCD958}"/>
              </a:ext>
            </a:extLst>
          </p:cNvPr>
          <p:cNvSpPr>
            <a:spLocks noGrp="1"/>
          </p:cNvSpPr>
          <p:nvPr>
            <p:ph type="ftr" sz="quarter" idx="11"/>
          </p:nvPr>
        </p:nvSpPr>
        <p:spPr/>
        <p:txBody>
          <a:bodyPr/>
          <a:lstStyle/>
          <a:p>
            <a:endParaRPr lang="it-IT" dirty="0"/>
          </a:p>
        </p:txBody>
      </p:sp>
      <p:sp>
        <p:nvSpPr>
          <p:cNvPr id="7" name="Segnaposto numero diapositiva 6">
            <a:extLst>
              <a:ext uri="{FF2B5EF4-FFF2-40B4-BE49-F238E27FC236}">
                <a16:creationId xmlns:a16="http://schemas.microsoft.com/office/drawing/2014/main" id="{959F9D14-F93D-9B36-D6AD-9E4D736D7074}"/>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370433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77BF36A-82EF-4042-774D-835D80AA658B}"/>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7B5DFD9B-0DE7-C870-F933-191E773F5D5A}"/>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9EC3EB76-1A95-A46D-555B-460BD3BCF3ED}"/>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922584C6-AAFA-B261-3902-F950D399BACE}"/>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75845977-C3F1-D50D-35EE-A52C1CDE45CE}"/>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4279803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E6E929E6-D8A0-02CF-DF21-F118BCCEDA9C}"/>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D5571619-FBC0-FA09-70B3-F46CC2AF264C}"/>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4C5A4F9B-2725-A805-909C-4E992D221F2B}"/>
              </a:ext>
            </a:extLst>
          </p:cNvPr>
          <p:cNvSpPr>
            <a:spLocks noGrp="1"/>
          </p:cNvSpPr>
          <p:nvPr>
            <p:ph type="dt" sz="half" idx="10"/>
          </p:nvPr>
        </p:nvSpPr>
        <p:spPr/>
        <p:txBody>
          <a:body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BF1E117E-6EA4-FDA0-9158-8E6D15EBD16E}"/>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829D6EFE-9BEC-6C81-2625-06BA1CFD909B}"/>
              </a:ext>
            </a:extLst>
          </p:cNvPr>
          <p:cNvSpPr>
            <a:spLocks noGrp="1"/>
          </p:cNvSpPr>
          <p:nvPr>
            <p:ph type="sldNum" sz="quarter" idx="12"/>
          </p:nvPr>
        </p:nvSpPr>
        <p:spPr/>
        <p:txBody>
          <a:bodyPr/>
          <a:lstStyle/>
          <a:p>
            <a:fld id="{F0B2886A-63A7-46DF-B373-C65921F4F499}" type="slidenum">
              <a:rPr lang="it-IT" smtClean="0"/>
              <a:t>‹N›</a:t>
            </a:fld>
            <a:endParaRPr lang="it-IT" dirty="0"/>
          </a:p>
        </p:txBody>
      </p:sp>
    </p:spTree>
    <p:extLst>
      <p:ext uri="{BB962C8B-B14F-4D97-AF65-F5344CB8AC3E}">
        <p14:creationId xmlns:p14="http://schemas.microsoft.com/office/powerpoint/2010/main" val="3180207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FAC837A9-E98D-2B83-2A45-93298E2C40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F56B46D6-0F1F-E4E3-1CD0-994D5BAFCC1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EF453C0-51E1-7A5A-062C-1DD067BB2A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85572C1-5358-42AB-945E-3BE092CC101D}" type="datetimeFigureOut">
              <a:rPr lang="it-IT" smtClean="0"/>
              <a:t>11/07/2025</a:t>
            </a:fld>
            <a:endParaRPr lang="it-IT" dirty="0"/>
          </a:p>
        </p:txBody>
      </p:sp>
      <p:sp>
        <p:nvSpPr>
          <p:cNvPr id="5" name="Segnaposto piè di pagina 4">
            <a:extLst>
              <a:ext uri="{FF2B5EF4-FFF2-40B4-BE49-F238E27FC236}">
                <a16:creationId xmlns:a16="http://schemas.microsoft.com/office/drawing/2014/main" id="{080F3A46-3C6D-0876-411C-DC58DE5510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dirty="0"/>
          </a:p>
        </p:txBody>
      </p:sp>
      <p:sp>
        <p:nvSpPr>
          <p:cNvPr id="6" name="Segnaposto numero diapositiva 5">
            <a:extLst>
              <a:ext uri="{FF2B5EF4-FFF2-40B4-BE49-F238E27FC236}">
                <a16:creationId xmlns:a16="http://schemas.microsoft.com/office/drawing/2014/main" id="{3E1A4A39-DEDE-8263-0930-4B6A914204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B2886A-63A7-46DF-B373-C65921F4F499}" type="slidenum">
              <a:rPr lang="it-IT" smtClean="0"/>
              <a:t>‹N›</a:t>
            </a:fld>
            <a:endParaRPr lang="it-IT" dirty="0"/>
          </a:p>
        </p:txBody>
      </p:sp>
    </p:spTree>
    <p:extLst>
      <p:ext uri="{BB962C8B-B14F-4D97-AF65-F5344CB8AC3E}">
        <p14:creationId xmlns:p14="http://schemas.microsoft.com/office/powerpoint/2010/main" val="31498572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diagramLayout" Target="../diagrams/layout1.xml"/><Relationship Id="rId7" Type="http://schemas.openxmlformats.org/officeDocument/2006/relationships/image" Target="../media/image13.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6.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png"/></Relationships>
</file>

<file path=ppt/slides/_rels/slide17.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50.png"/></Relationships>
</file>

<file path=ppt/slides/_rels/slide1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www.statsmodels.org/stable/index.html" TargetMode="External"/><Relationship Id="rId3" Type="http://schemas.openxmlformats.org/officeDocument/2006/relationships/hyperlink" Target="https://www.kaggle.com/datasets/conalhenderson/football-data-warehouse/data" TargetMode="External"/><Relationship Id="rId7" Type="http://schemas.openxmlformats.org/officeDocument/2006/relationships/hyperlink" Target="https://matplotlib.org/stable/users/index.html" TargetMode="External"/><Relationship Id="rId2" Type="http://schemas.openxmlformats.org/officeDocument/2006/relationships/hyperlink" Target="https://github.com/mattia9203/Data-Warehouse-on-football-data.git" TargetMode="External"/><Relationship Id="rId1" Type="http://schemas.openxmlformats.org/officeDocument/2006/relationships/slideLayout" Target="../slideLayouts/slideLayout2.xml"/><Relationship Id="rId6" Type="http://schemas.openxmlformats.org/officeDocument/2006/relationships/hyperlink" Target="https://www.postgresql.org/docs/" TargetMode="External"/><Relationship Id="rId5" Type="http://schemas.openxmlformats.org/officeDocument/2006/relationships/hyperlink" Target="https://pandas.pydata.org/docs/" TargetMode="External"/><Relationship Id="rId10" Type="http://schemas.openxmlformats.org/officeDocument/2006/relationships/hyperlink" Target="https://www.pgadmin.org/docs/" TargetMode="External"/><Relationship Id="rId4" Type="http://schemas.openxmlformats.org/officeDocument/2006/relationships/hyperlink" Target="https://www.kaggle.com/datasets/davidcariboo/player-scores/data" TargetMode="External"/><Relationship Id="rId9" Type="http://schemas.openxmlformats.org/officeDocument/2006/relationships/hyperlink" Target="https://docs.sqlalchemy.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9" name="Rectangle 128">
            <a:extLst>
              <a:ext uri="{FF2B5EF4-FFF2-40B4-BE49-F238E27FC236}">
                <a16:creationId xmlns:a16="http://schemas.microsoft.com/office/drawing/2014/main" id="{FB33DC6A-1F1C-4A06-834E-CFF88F1C0B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36" name="Freeform: Shape 130">
            <a:extLst>
              <a:ext uri="{FF2B5EF4-FFF2-40B4-BE49-F238E27FC236}">
                <a16:creationId xmlns:a16="http://schemas.microsoft.com/office/drawing/2014/main" id="{0FE1D5CF-87B8-4A8A-AD3C-01D06A6076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6208641" cy="6858000"/>
          </a:xfrm>
          <a:custGeom>
            <a:avLst/>
            <a:gdLst>
              <a:gd name="connsiteX0" fmla="*/ 0 w 6208641"/>
              <a:gd name="connsiteY0" fmla="*/ 0 h 6858000"/>
              <a:gd name="connsiteX1" fmla="*/ 5464181 w 6208641"/>
              <a:gd name="connsiteY1" fmla="*/ 0 h 6858000"/>
              <a:gd name="connsiteX2" fmla="*/ 5538086 w 6208641"/>
              <a:gd name="connsiteY2" fmla="*/ 159684 h 6858000"/>
              <a:gd name="connsiteX3" fmla="*/ 6208641 w 6208641"/>
              <a:gd name="connsiteY3" fmla="*/ 3706589 h 6858000"/>
              <a:gd name="connsiteX4" fmla="*/ 5734754 w 6208641"/>
              <a:gd name="connsiteY4" fmla="*/ 6730443 h 6858000"/>
              <a:gd name="connsiteX5" fmla="*/ 5689361 w 6208641"/>
              <a:gd name="connsiteY5" fmla="*/ 6858000 h 6858000"/>
              <a:gd name="connsiteX6" fmla="*/ 0 w 620864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08641" h="6858000">
                <a:moveTo>
                  <a:pt x="0" y="0"/>
                </a:moveTo>
                <a:lnTo>
                  <a:pt x="5464181" y="0"/>
                </a:lnTo>
                <a:lnTo>
                  <a:pt x="5538086" y="159684"/>
                </a:lnTo>
                <a:cubicBezTo>
                  <a:pt x="5961440" y="1172168"/>
                  <a:pt x="6208641" y="2392735"/>
                  <a:pt x="6208641" y="3706589"/>
                </a:cubicBezTo>
                <a:cubicBezTo>
                  <a:pt x="6208641" y="4801467"/>
                  <a:pt x="6036974" y="5831563"/>
                  <a:pt x="5734754" y="6730443"/>
                </a:cubicBezTo>
                <a:lnTo>
                  <a:pt x="5689361"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useBgFill="1">
        <p:nvSpPr>
          <p:cNvPr id="138" name="Freeform: Shape 132">
            <a:extLst>
              <a:ext uri="{FF2B5EF4-FFF2-40B4-BE49-F238E27FC236}">
                <a16:creationId xmlns:a16="http://schemas.microsoft.com/office/drawing/2014/main" id="{60926200-45C2-41E9-839F-31CD5FE4CD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203325" cy="6858000"/>
          </a:xfrm>
          <a:custGeom>
            <a:avLst/>
            <a:gdLst>
              <a:gd name="connsiteX0" fmla="*/ 0 w 6203325"/>
              <a:gd name="connsiteY0" fmla="*/ 0 h 6858000"/>
              <a:gd name="connsiteX1" fmla="*/ 5458865 w 6203325"/>
              <a:gd name="connsiteY1" fmla="*/ 0 h 6858000"/>
              <a:gd name="connsiteX2" fmla="*/ 5532770 w 6203325"/>
              <a:gd name="connsiteY2" fmla="*/ 159684 h 6858000"/>
              <a:gd name="connsiteX3" fmla="*/ 6203325 w 6203325"/>
              <a:gd name="connsiteY3" fmla="*/ 3706589 h 6858000"/>
              <a:gd name="connsiteX4" fmla="*/ 5729438 w 6203325"/>
              <a:gd name="connsiteY4" fmla="*/ 6730443 h 6858000"/>
              <a:gd name="connsiteX5" fmla="*/ 5684045 w 6203325"/>
              <a:gd name="connsiteY5" fmla="*/ 6858000 h 6858000"/>
              <a:gd name="connsiteX6" fmla="*/ 0 w 6203325"/>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203325" h="6858000">
                <a:moveTo>
                  <a:pt x="0" y="0"/>
                </a:moveTo>
                <a:lnTo>
                  <a:pt x="5458865" y="0"/>
                </a:lnTo>
                <a:lnTo>
                  <a:pt x="5532770" y="159684"/>
                </a:lnTo>
                <a:cubicBezTo>
                  <a:pt x="5956124" y="1172168"/>
                  <a:pt x="6203325" y="2392735"/>
                  <a:pt x="6203325" y="3706589"/>
                </a:cubicBezTo>
                <a:cubicBezTo>
                  <a:pt x="6203325" y="4801467"/>
                  <a:pt x="6031658" y="5831563"/>
                  <a:pt x="5729438" y="6730443"/>
                </a:cubicBezTo>
                <a:lnTo>
                  <a:pt x="5684045"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olo 1">
            <a:extLst>
              <a:ext uri="{FF2B5EF4-FFF2-40B4-BE49-F238E27FC236}">
                <a16:creationId xmlns:a16="http://schemas.microsoft.com/office/drawing/2014/main" id="{7DE2DDD6-BBE9-60AF-E587-F47A547643BA}"/>
              </a:ext>
            </a:extLst>
          </p:cNvPr>
          <p:cNvSpPr>
            <a:spLocks noGrp="1"/>
          </p:cNvSpPr>
          <p:nvPr>
            <p:ph type="ctrTitle"/>
          </p:nvPr>
        </p:nvSpPr>
        <p:spPr>
          <a:xfrm>
            <a:off x="489098" y="1106034"/>
            <a:ext cx="5019074" cy="3204134"/>
          </a:xfrm>
        </p:spPr>
        <p:txBody>
          <a:bodyPr anchor="b">
            <a:normAutofit/>
          </a:bodyPr>
          <a:lstStyle/>
          <a:p>
            <a:pPr algn="l"/>
            <a:r>
              <a:rPr lang="it-IT" sz="5400" b="1" dirty="0">
                <a:effectLst>
                  <a:outerShdw blurRad="38100" dist="38100" dir="2700000" algn="tl">
                    <a:srgbClr val="000000">
                      <a:alpha val="43137"/>
                    </a:srgbClr>
                  </a:outerShdw>
                </a:effectLst>
              </a:rPr>
              <a:t>Football Data WareHouse</a:t>
            </a:r>
          </a:p>
        </p:txBody>
      </p:sp>
      <p:sp>
        <p:nvSpPr>
          <p:cNvPr id="3" name="Sottotitolo 2">
            <a:extLst>
              <a:ext uri="{FF2B5EF4-FFF2-40B4-BE49-F238E27FC236}">
                <a16:creationId xmlns:a16="http://schemas.microsoft.com/office/drawing/2014/main" id="{3F86B8EC-3933-B53E-EF09-467D58596D44}"/>
              </a:ext>
            </a:extLst>
          </p:cNvPr>
          <p:cNvSpPr>
            <a:spLocks noGrp="1"/>
          </p:cNvSpPr>
          <p:nvPr>
            <p:ph type="subTitle" idx="1"/>
          </p:nvPr>
        </p:nvSpPr>
        <p:spPr>
          <a:xfrm>
            <a:off x="494124" y="4872922"/>
            <a:ext cx="5013698" cy="1208141"/>
          </a:xfrm>
        </p:spPr>
        <p:txBody>
          <a:bodyPr>
            <a:normAutofit/>
          </a:bodyPr>
          <a:lstStyle/>
          <a:p>
            <a:pPr algn="l"/>
            <a:r>
              <a:rPr lang="it-IT" dirty="0"/>
              <a:t>By</a:t>
            </a:r>
            <a:r>
              <a:rPr lang="it-IT" sz="2800" dirty="0"/>
              <a:t> Mattia Maucione</a:t>
            </a:r>
          </a:p>
          <a:p>
            <a:pPr algn="l"/>
            <a:r>
              <a:rPr lang="it-IT" sz="1800" dirty="0"/>
              <a:t>ID</a:t>
            </a:r>
            <a:r>
              <a:rPr lang="it-IT" sz="2000" dirty="0"/>
              <a:t>: 2007209</a:t>
            </a:r>
          </a:p>
        </p:txBody>
      </p:sp>
      <p:sp>
        <p:nvSpPr>
          <p:cNvPr id="135" name="Rectangle 13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67989"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pic>
        <p:nvPicPr>
          <p:cNvPr id="17" name="Immagine 16" descr="Immagine che contiene testo, forniture per ufficio, Personal Computer, design&#10;&#10;Il contenuto generato dall'IA potrebbe non essere corretto.">
            <a:extLst>
              <a:ext uri="{FF2B5EF4-FFF2-40B4-BE49-F238E27FC236}">
                <a16:creationId xmlns:a16="http://schemas.microsoft.com/office/drawing/2014/main" id="{0A7C6E1F-18F9-D557-F9D0-BD1B25456AC8}"/>
              </a:ext>
            </a:extLst>
          </p:cNvPr>
          <p:cNvPicPr>
            <a:picLocks noChangeAspect="1"/>
          </p:cNvPicPr>
          <p:nvPr/>
        </p:nvPicPr>
        <p:blipFill>
          <a:blip r:embed="rId2"/>
          <a:stretch>
            <a:fillRect/>
          </a:stretch>
        </p:blipFill>
        <p:spPr>
          <a:xfrm>
            <a:off x="8432943" y="625683"/>
            <a:ext cx="1831086" cy="2743200"/>
          </a:xfrm>
          <a:prstGeom prst="rect">
            <a:avLst/>
          </a:prstGeom>
        </p:spPr>
      </p:pic>
      <p:sp>
        <p:nvSpPr>
          <p:cNvPr id="137" name="Rectangle 13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098" y="4546920"/>
            <a:ext cx="501907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pic>
        <p:nvPicPr>
          <p:cNvPr id="5" name="Immagine 4" descr="Immagine che contiene testo, logo, Carattere, Elementi grafici&#10;&#10;Il contenuto generato dall'IA potrebbe non essere corretto.">
            <a:extLst>
              <a:ext uri="{FF2B5EF4-FFF2-40B4-BE49-F238E27FC236}">
                <a16:creationId xmlns:a16="http://schemas.microsoft.com/office/drawing/2014/main" id="{6BEFD79E-FA0F-DADA-AD2B-A08F58C44C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4071" y="3944826"/>
            <a:ext cx="4708833" cy="1954165"/>
          </a:xfrm>
          <a:prstGeom prst="rect">
            <a:avLst/>
          </a:prstGeom>
        </p:spPr>
      </p:pic>
    </p:spTree>
    <p:extLst>
      <p:ext uri="{BB962C8B-B14F-4D97-AF65-F5344CB8AC3E}">
        <p14:creationId xmlns:p14="http://schemas.microsoft.com/office/powerpoint/2010/main" val="24662381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9613011-FD5C-DDB2-C6CB-F7943DC84014}"/>
              </a:ext>
            </a:extLst>
          </p:cNvPr>
          <p:cNvSpPr>
            <a:spLocks noGrp="1"/>
          </p:cNvSpPr>
          <p:nvPr>
            <p:ph type="title"/>
          </p:nvPr>
        </p:nvSpPr>
        <p:spPr>
          <a:xfrm>
            <a:off x="654050" y="0"/>
            <a:ext cx="10515600" cy="1325563"/>
          </a:xfrm>
        </p:spPr>
        <p:txBody>
          <a:bodyPr/>
          <a:lstStyle/>
          <a:p>
            <a:pPr algn="ctr"/>
            <a:r>
              <a:rPr lang="en-GB" b="1" noProof="0" dirty="0">
                <a:effectLst>
                  <a:outerShdw blurRad="38100" dist="38100" dir="2700000" algn="tl">
                    <a:srgbClr val="000000">
                      <a:alpha val="43137"/>
                    </a:srgbClr>
                  </a:outerShdw>
                </a:effectLst>
              </a:rPr>
              <a:t>Motivation</a:t>
            </a:r>
            <a:r>
              <a:rPr lang="it-IT" b="1" dirty="0">
                <a:effectLst>
                  <a:outerShdw blurRad="38100" dist="38100" dir="2700000" algn="tl">
                    <a:srgbClr val="000000">
                      <a:alpha val="43137"/>
                    </a:srgbClr>
                  </a:outerShdw>
                </a:effectLst>
              </a:rPr>
              <a:t> &amp; </a:t>
            </a:r>
            <a:r>
              <a:rPr lang="it-IT" b="1" dirty="0" err="1">
                <a:effectLst>
                  <a:outerShdw blurRad="38100" dist="38100" dir="2700000" algn="tl">
                    <a:srgbClr val="000000">
                      <a:alpha val="43137"/>
                    </a:srgbClr>
                  </a:outerShdw>
                </a:effectLst>
              </a:rPr>
              <a:t>objective</a:t>
            </a:r>
            <a:endParaRPr lang="it-IT" b="1" dirty="0">
              <a:effectLst>
                <a:outerShdw blurRad="38100" dist="38100" dir="2700000" algn="tl">
                  <a:srgbClr val="000000">
                    <a:alpha val="43137"/>
                  </a:srgbClr>
                </a:outerShdw>
              </a:effectLst>
            </a:endParaRPr>
          </a:p>
        </p:txBody>
      </p:sp>
      <p:sp>
        <p:nvSpPr>
          <p:cNvPr id="3" name="Segnaposto contenuto 2">
            <a:extLst>
              <a:ext uri="{FF2B5EF4-FFF2-40B4-BE49-F238E27FC236}">
                <a16:creationId xmlns:a16="http://schemas.microsoft.com/office/drawing/2014/main" id="{61E8283A-4121-D006-5E9C-B6E9A10B7C5F}"/>
              </a:ext>
            </a:extLst>
          </p:cNvPr>
          <p:cNvSpPr>
            <a:spLocks noGrp="1"/>
          </p:cNvSpPr>
          <p:nvPr>
            <p:ph idx="1"/>
          </p:nvPr>
        </p:nvSpPr>
        <p:spPr>
          <a:xfrm>
            <a:off x="80750" y="1398375"/>
            <a:ext cx="8428630" cy="2357414"/>
          </a:xfrm>
        </p:spPr>
        <p:txBody>
          <a:bodyPr>
            <a:normAutofit fontScale="92500"/>
          </a:bodyPr>
          <a:lstStyle/>
          <a:p>
            <a:r>
              <a:rPr lang="it-IT" dirty="0"/>
              <a:t>Project </a:t>
            </a:r>
            <a:r>
              <a:rPr lang="it-IT" dirty="0" err="1"/>
              <a:t>Description</a:t>
            </a:r>
            <a:r>
              <a:rPr lang="it-IT" dirty="0"/>
              <a:t>:</a:t>
            </a:r>
          </a:p>
          <a:p>
            <a:pPr marL="0" indent="0" algn="just">
              <a:buNone/>
            </a:pPr>
            <a:r>
              <a:rPr lang="en-US" sz="2200" dirty="0"/>
              <a:t>This project focuses on the development of a Data Warehouse to analyze the factors that influence the market value of professional football players across the top five European leagues (Serie A, Premier League, La Liga, Bundesliga, Ligue 1). It integrates two datasets: player performance statistics (2018–2024) and market valuations (2000–2024), harmonized through structured ETL operations.</a:t>
            </a:r>
            <a:endParaRPr lang="it-IT" sz="2200" dirty="0"/>
          </a:p>
        </p:txBody>
      </p:sp>
      <p:sp>
        <p:nvSpPr>
          <p:cNvPr id="4" name="CasellaDiTesto 3">
            <a:extLst>
              <a:ext uri="{FF2B5EF4-FFF2-40B4-BE49-F238E27FC236}">
                <a16:creationId xmlns:a16="http://schemas.microsoft.com/office/drawing/2014/main" id="{AE70AEFE-323F-21BF-CAD3-3FF25F56DF6C}"/>
              </a:ext>
            </a:extLst>
          </p:cNvPr>
          <p:cNvSpPr txBox="1"/>
          <p:nvPr/>
        </p:nvSpPr>
        <p:spPr>
          <a:xfrm>
            <a:off x="5770728" y="3882350"/>
            <a:ext cx="6421272" cy="2893100"/>
          </a:xfrm>
          <a:prstGeom prst="rect">
            <a:avLst/>
          </a:prstGeom>
          <a:noFill/>
        </p:spPr>
        <p:txBody>
          <a:bodyPr wrap="square" rtlCol="0">
            <a:spAutoFit/>
          </a:bodyPr>
          <a:lstStyle/>
          <a:p>
            <a:pPr marL="285750" indent="-285750">
              <a:buFont typeface="Arial" panose="020B0604020202020204" pitchFamily="34" charset="0"/>
              <a:buChar char="•"/>
            </a:pPr>
            <a:r>
              <a:rPr lang="it-IT" sz="2400" dirty="0" err="1"/>
              <a:t>Objective</a:t>
            </a:r>
            <a:endParaRPr lang="it-IT" sz="2400" dirty="0"/>
          </a:p>
          <a:p>
            <a:pPr algn="just"/>
            <a:r>
              <a:rPr lang="en-US" sz="2000" dirty="0"/>
              <a:t>Build a unified and consistent analytical base using a Dimensional Fact Model and a star schema in PostgreSQL, enabling detailed analysis of player valuation trends based on age, performance metrics, league, club, and role. The project includes data preparation, schema design, and statistical analysis performed with SQL and Python.</a:t>
            </a:r>
          </a:p>
          <a:p>
            <a:pPr marL="285750" indent="-285750">
              <a:buFont typeface="Arial" panose="020B0604020202020204" pitchFamily="34" charset="0"/>
              <a:buChar char="•"/>
            </a:pPr>
            <a:endParaRPr lang="it-IT" dirty="0"/>
          </a:p>
        </p:txBody>
      </p:sp>
    </p:spTree>
    <p:extLst>
      <p:ext uri="{BB962C8B-B14F-4D97-AF65-F5344CB8AC3E}">
        <p14:creationId xmlns:p14="http://schemas.microsoft.com/office/powerpoint/2010/main" val="3696224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down)">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down)">
                                      <p:cBhvr>
                                        <p:cTn id="17" dur="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wipe(down)">
                                      <p:cBhvr>
                                        <p:cTn id="2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uiExpand="1"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D1A285F-40F1-2E16-F7A9-EF012BA80608}"/>
              </a:ext>
            </a:extLst>
          </p:cNvPr>
          <p:cNvSpPr>
            <a:spLocks noGrp="1"/>
          </p:cNvSpPr>
          <p:nvPr>
            <p:ph type="title"/>
          </p:nvPr>
        </p:nvSpPr>
        <p:spPr>
          <a:xfrm>
            <a:off x="914400" y="0"/>
            <a:ext cx="10363200" cy="1117599"/>
          </a:xfrm>
        </p:spPr>
        <p:txBody>
          <a:bodyPr/>
          <a:lstStyle/>
          <a:p>
            <a:pPr algn="ctr"/>
            <a:r>
              <a:rPr lang="it-IT" b="1" dirty="0">
                <a:effectLst>
                  <a:outerShdw blurRad="38100" dist="38100" dir="2700000" algn="tl">
                    <a:srgbClr val="000000">
                      <a:alpha val="43137"/>
                    </a:srgbClr>
                  </a:outerShdw>
                </a:effectLst>
              </a:rPr>
              <a:t>Datasets Overview</a:t>
            </a:r>
          </a:p>
        </p:txBody>
      </p:sp>
      <p:sp>
        <p:nvSpPr>
          <p:cNvPr id="4" name="CasellaDiTesto 3">
            <a:extLst>
              <a:ext uri="{FF2B5EF4-FFF2-40B4-BE49-F238E27FC236}">
                <a16:creationId xmlns:a16="http://schemas.microsoft.com/office/drawing/2014/main" id="{4112B4FA-9423-F881-C52B-F49BF2DD2869}"/>
              </a:ext>
            </a:extLst>
          </p:cNvPr>
          <p:cNvSpPr txBox="1"/>
          <p:nvPr/>
        </p:nvSpPr>
        <p:spPr>
          <a:xfrm>
            <a:off x="0" y="1085850"/>
            <a:ext cx="4273550" cy="338554"/>
          </a:xfrm>
          <a:prstGeom prst="rect">
            <a:avLst/>
          </a:prstGeom>
          <a:noFill/>
        </p:spPr>
        <p:txBody>
          <a:bodyPr wrap="square" rtlCol="0">
            <a:spAutoFit/>
          </a:bodyPr>
          <a:lstStyle/>
          <a:p>
            <a:r>
              <a:rPr lang="it-IT" sz="1600" dirty="0"/>
              <a:t>In this project I join two datasets.</a:t>
            </a:r>
          </a:p>
        </p:txBody>
      </p:sp>
      <p:sp>
        <p:nvSpPr>
          <p:cNvPr id="6" name="CasellaDiTesto 5">
            <a:extLst>
              <a:ext uri="{FF2B5EF4-FFF2-40B4-BE49-F238E27FC236}">
                <a16:creationId xmlns:a16="http://schemas.microsoft.com/office/drawing/2014/main" id="{7C9DE9FD-5851-0E71-529F-5D1818E1C4C0}"/>
              </a:ext>
            </a:extLst>
          </p:cNvPr>
          <p:cNvSpPr txBox="1"/>
          <p:nvPr/>
        </p:nvSpPr>
        <p:spPr>
          <a:xfrm>
            <a:off x="0" y="1453902"/>
            <a:ext cx="4889500" cy="646331"/>
          </a:xfrm>
          <a:prstGeom prst="rect">
            <a:avLst/>
          </a:prstGeom>
          <a:noFill/>
        </p:spPr>
        <p:txBody>
          <a:bodyPr wrap="square" rtlCol="0">
            <a:spAutoFit/>
          </a:bodyPr>
          <a:lstStyle/>
          <a:p>
            <a:pPr marL="342900" indent="-342900">
              <a:buFont typeface="Arial" panose="020B0604020202020204" pitchFamily="34" charset="0"/>
              <a:buChar char="•"/>
            </a:pPr>
            <a:r>
              <a:rPr lang="it-IT" b="1" dirty="0"/>
              <a:t>Performance dataset (2018-2024):</a:t>
            </a:r>
          </a:p>
          <a:p>
            <a:r>
              <a:rPr lang="it-IT" dirty="0"/>
              <a:t>	</a:t>
            </a:r>
          </a:p>
        </p:txBody>
      </p:sp>
      <p:sp>
        <p:nvSpPr>
          <p:cNvPr id="9" name="CasellaDiTesto 8">
            <a:extLst>
              <a:ext uri="{FF2B5EF4-FFF2-40B4-BE49-F238E27FC236}">
                <a16:creationId xmlns:a16="http://schemas.microsoft.com/office/drawing/2014/main" id="{47C1BA37-1A68-46C5-3B20-232CDA32423A}"/>
              </a:ext>
            </a:extLst>
          </p:cNvPr>
          <p:cNvSpPr txBox="1"/>
          <p:nvPr/>
        </p:nvSpPr>
        <p:spPr>
          <a:xfrm>
            <a:off x="0" y="3886200"/>
            <a:ext cx="3746923" cy="369332"/>
          </a:xfrm>
          <a:prstGeom prst="rect">
            <a:avLst/>
          </a:prstGeom>
          <a:noFill/>
        </p:spPr>
        <p:txBody>
          <a:bodyPr wrap="none" rtlCol="0">
            <a:spAutoFit/>
          </a:bodyPr>
          <a:lstStyle/>
          <a:p>
            <a:pPr marL="285750" indent="-285750">
              <a:buFont typeface="Arial" panose="020B0604020202020204" pitchFamily="34" charset="0"/>
              <a:buChar char="•"/>
            </a:pPr>
            <a:r>
              <a:rPr lang="it-IT" b="1" dirty="0"/>
              <a:t>Valuations dataset (2000-2024):</a:t>
            </a:r>
          </a:p>
        </p:txBody>
      </p:sp>
      <p:sp>
        <p:nvSpPr>
          <p:cNvPr id="10" name="CasellaDiTesto 9">
            <a:extLst>
              <a:ext uri="{FF2B5EF4-FFF2-40B4-BE49-F238E27FC236}">
                <a16:creationId xmlns:a16="http://schemas.microsoft.com/office/drawing/2014/main" id="{2F84BA6B-1724-2DAC-64E3-FC824B7ED0B8}"/>
              </a:ext>
            </a:extLst>
          </p:cNvPr>
          <p:cNvSpPr txBox="1"/>
          <p:nvPr/>
        </p:nvSpPr>
        <p:spPr>
          <a:xfrm>
            <a:off x="3911600" y="1715532"/>
            <a:ext cx="8128000" cy="2123658"/>
          </a:xfrm>
          <a:prstGeom prst="rect">
            <a:avLst/>
          </a:prstGeom>
          <a:noFill/>
        </p:spPr>
        <p:txBody>
          <a:bodyPr wrap="square" rtlCol="0">
            <a:spAutoFit/>
          </a:bodyPr>
          <a:lstStyle/>
          <a:p>
            <a:pPr marL="342900" indent="-342900">
              <a:buFont typeface="+mj-lt"/>
              <a:buAutoNum type="arabicPeriod"/>
            </a:pPr>
            <a:r>
              <a:rPr lang="en-US" sz="1600" dirty="0"/>
              <a:t>Offensive metrics (goals, assists, xG, key passes)</a:t>
            </a:r>
            <a:endParaRPr lang="it-IT" sz="1600" dirty="0"/>
          </a:p>
          <a:p>
            <a:pPr marL="342900" indent="-342900">
              <a:buFont typeface="+mj-lt"/>
              <a:buAutoNum type="arabicPeriod"/>
            </a:pPr>
            <a:r>
              <a:rPr lang="en-US" sz="1600" dirty="0"/>
              <a:t>Defensive metrics (tackles, interceptions, blocks)</a:t>
            </a:r>
          </a:p>
          <a:p>
            <a:pPr marL="342900" indent="-342900">
              <a:buFont typeface="+mj-lt"/>
              <a:buAutoNum type="arabicPeriod"/>
            </a:pPr>
            <a:r>
              <a:rPr lang="en-US" sz="1600" dirty="0"/>
              <a:t>Possession and passing data (passess completed, progressive carries)</a:t>
            </a:r>
          </a:p>
          <a:p>
            <a:pPr marL="342900" indent="-342900">
              <a:buFont typeface="+mj-lt"/>
              <a:buAutoNum type="arabicPeriod"/>
            </a:pPr>
            <a:r>
              <a:rPr lang="en-US" sz="1600" dirty="0"/>
              <a:t>Separative CSVs for each aspect (player_defense.csv, player_shooting.csv)</a:t>
            </a:r>
          </a:p>
          <a:p>
            <a:pPr marL="342900" indent="-342900">
              <a:buFont typeface="+mj-lt"/>
              <a:buAutoNum type="arabicPeriod"/>
            </a:pPr>
            <a:endParaRPr lang="en-US" sz="1600" dirty="0"/>
          </a:p>
          <a:p>
            <a:pPr marL="342900" indent="-342900">
              <a:buFont typeface="+mj-lt"/>
              <a:buAutoNum type="arabicPeriod"/>
            </a:pPr>
            <a:endParaRPr lang="en-US" sz="1600" dirty="0"/>
          </a:p>
          <a:p>
            <a:r>
              <a:rPr lang="en-US" sz="1600" dirty="0"/>
              <a:t>Each row represents a </a:t>
            </a:r>
            <a:r>
              <a:rPr lang="en-US" sz="1600" b="1" dirty="0"/>
              <a:t>player-season pair</a:t>
            </a:r>
            <a:r>
              <a:rPr lang="en-US" sz="1600" dirty="0"/>
              <a:t>, and includes team, league, and season metadata.</a:t>
            </a:r>
          </a:p>
        </p:txBody>
      </p:sp>
      <p:sp>
        <p:nvSpPr>
          <p:cNvPr id="18" name="CasellaDiTesto 17">
            <a:extLst>
              <a:ext uri="{FF2B5EF4-FFF2-40B4-BE49-F238E27FC236}">
                <a16:creationId xmlns:a16="http://schemas.microsoft.com/office/drawing/2014/main" id="{6E22F0F1-455C-E393-D135-565C08D9D3E8}"/>
              </a:ext>
            </a:extLst>
          </p:cNvPr>
          <p:cNvSpPr txBox="1"/>
          <p:nvPr/>
        </p:nvSpPr>
        <p:spPr>
          <a:xfrm>
            <a:off x="3911600" y="4210904"/>
            <a:ext cx="7810077" cy="861774"/>
          </a:xfrm>
          <a:prstGeom prst="rect">
            <a:avLst/>
          </a:prstGeom>
          <a:noFill/>
        </p:spPr>
        <p:txBody>
          <a:bodyPr wrap="square" rtlCol="0">
            <a:spAutoFit/>
          </a:bodyPr>
          <a:lstStyle/>
          <a:p>
            <a:pPr marL="342900" indent="-342900">
              <a:buFont typeface="+mj-lt"/>
              <a:buAutoNum type="arabicPeriod"/>
            </a:pPr>
            <a:r>
              <a:rPr lang="en-US" sz="1600" dirty="0"/>
              <a:t>Player name, date of valuation, and market value in euros</a:t>
            </a:r>
          </a:p>
          <a:p>
            <a:pPr marL="342900" indent="-342900">
              <a:buFont typeface="+mj-lt"/>
              <a:buAutoNum type="arabicPeriod"/>
            </a:pPr>
            <a:r>
              <a:rPr lang="en-US" sz="1600" dirty="0"/>
              <a:t>Club, competition (league), nationality, and birth year</a:t>
            </a:r>
          </a:p>
          <a:p>
            <a:pPr marL="342900" indent="-342900">
              <a:buFont typeface="+mj-lt"/>
              <a:buAutoNum type="arabicPeriod"/>
            </a:pPr>
            <a:endParaRPr lang="it-IT" dirty="0"/>
          </a:p>
        </p:txBody>
      </p:sp>
      <p:sp>
        <p:nvSpPr>
          <p:cNvPr id="19" name="CasellaDiTesto 18">
            <a:extLst>
              <a:ext uri="{FF2B5EF4-FFF2-40B4-BE49-F238E27FC236}">
                <a16:creationId xmlns:a16="http://schemas.microsoft.com/office/drawing/2014/main" id="{B33E3D75-B2EA-091A-9DC5-7DE9B3A2B138}"/>
              </a:ext>
            </a:extLst>
          </p:cNvPr>
          <p:cNvSpPr txBox="1"/>
          <p:nvPr/>
        </p:nvSpPr>
        <p:spPr>
          <a:xfrm>
            <a:off x="0" y="5440491"/>
            <a:ext cx="10718704" cy="369332"/>
          </a:xfrm>
          <a:prstGeom prst="rect">
            <a:avLst/>
          </a:prstGeom>
          <a:noFill/>
        </p:spPr>
        <p:txBody>
          <a:bodyPr wrap="none" rtlCol="0">
            <a:spAutoFit/>
          </a:bodyPr>
          <a:lstStyle/>
          <a:p>
            <a:r>
              <a:rPr lang="en-US" dirty="0"/>
              <a:t>Data harmonized with the performance dataset through ETL operations (based on name, season, and club).</a:t>
            </a:r>
            <a:endParaRPr lang="it-IT" dirty="0"/>
          </a:p>
        </p:txBody>
      </p:sp>
    </p:spTree>
    <p:extLst>
      <p:ext uri="{BB962C8B-B14F-4D97-AF65-F5344CB8AC3E}">
        <p14:creationId xmlns:p14="http://schemas.microsoft.com/office/powerpoint/2010/main" val="2581271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inVertical)">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 calcmode="lin" valueType="num">
                                      <p:cBhvr additive="base">
                                        <p:cTn id="22" dur="500" fill="hold"/>
                                        <p:tgtEl>
                                          <p:spTgt spid="10"/>
                                        </p:tgtEl>
                                        <p:attrNameLst>
                                          <p:attrName>ppt_x</p:attrName>
                                        </p:attrNameLst>
                                      </p:cBhvr>
                                      <p:tavLst>
                                        <p:tav tm="0">
                                          <p:val>
                                            <p:strVal val="#ppt_x"/>
                                          </p:val>
                                        </p:tav>
                                        <p:tav tm="100000">
                                          <p:val>
                                            <p:strVal val="#ppt_x"/>
                                          </p:val>
                                        </p:tav>
                                      </p:tavLst>
                                    </p:anim>
                                    <p:anim calcmode="lin" valueType="num">
                                      <p:cBhvr additive="base">
                                        <p:cTn id="23"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down)">
                                      <p:cBhvr>
                                        <p:cTn id="28" dur="500"/>
                                        <p:tgtEl>
                                          <p:spTgt spid="9"/>
                                        </p:tgtEl>
                                      </p:cBhvr>
                                    </p:animEffec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18"/>
                                        </p:tgtEl>
                                        <p:attrNameLst>
                                          <p:attrName>style.visibility</p:attrName>
                                        </p:attrNameLst>
                                      </p:cBhvr>
                                      <p:to>
                                        <p:strVal val="visible"/>
                                      </p:to>
                                    </p:set>
                                    <p:anim calcmode="lin" valueType="num">
                                      <p:cBhvr additive="base">
                                        <p:cTn id="33" dur="500" fill="hold"/>
                                        <p:tgtEl>
                                          <p:spTgt spid="18"/>
                                        </p:tgtEl>
                                        <p:attrNameLst>
                                          <p:attrName>ppt_x</p:attrName>
                                        </p:attrNameLst>
                                      </p:cBhvr>
                                      <p:tavLst>
                                        <p:tav tm="0">
                                          <p:val>
                                            <p:strVal val="#ppt_x"/>
                                          </p:val>
                                        </p:tav>
                                        <p:tav tm="100000">
                                          <p:val>
                                            <p:strVal val="#ppt_x"/>
                                          </p:val>
                                        </p:tav>
                                      </p:tavLst>
                                    </p:anim>
                                    <p:anim calcmode="lin" valueType="num">
                                      <p:cBhvr additive="base">
                                        <p:cTn id="34"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anim calcmode="lin" valueType="num">
                                      <p:cBhvr additive="base">
                                        <p:cTn id="39" dur="500" fill="hold"/>
                                        <p:tgtEl>
                                          <p:spTgt spid="19"/>
                                        </p:tgtEl>
                                        <p:attrNameLst>
                                          <p:attrName>ppt_x</p:attrName>
                                        </p:attrNameLst>
                                      </p:cBhvr>
                                      <p:tavLst>
                                        <p:tav tm="0">
                                          <p:val>
                                            <p:strVal val="#ppt_x"/>
                                          </p:val>
                                        </p:tav>
                                        <p:tav tm="100000">
                                          <p:val>
                                            <p:strVal val="#ppt_x"/>
                                          </p:val>
                                        </p:tav>
                                      </p:tavLst>
                                    </p:anim>
                                    <p:anim calcmode="lin" valueType="num">
                                      <p:cBhvr additive="base">
                                        <p:cTn id="4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P spid="9" grpId="0"/>
      <p:bldP spid="10" grpId="0"/>
      <p:bldP spid="18" grpId="0"/>
      <p:bldP spid="1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1B53B57-E40A-759B-AF3E-22A38C2700B9}"/>
              </a:ext>
            </a:extLst>
          </p:cNvPr>
          <p:cNvSpPr>
            <a:spLocks noGrp="1"/>
          </p:cNvSpPr>
          <p:nvPr>
            <p:ph type="title"/>
          </p:nvPr>
        </p:nvSpPr>
        <p:spPr>
          <a:xfrm>
            <a:off x="838200" y="0"/>
            <a:ext cx="10515600" cy="1325563"/>
          </a:xfrm>
        </p:spPr>
        <p:txBody>
          <a:bodyPr/>
          <a:lstStyle/>
          <a:p>
            <a:pPr algn="ctr"/>
            <a:r>
              <a:rPr lang="it-IT" b="1" dirty="0">
                <a:effectLst>
                  <a:outerShdw blurRad="38100" dist="38100" dir="2700000" algn="tl">
                    <a:srgbClr val="000000">
                      <a:alpha val="43137"/>
                    </a:srgbClr>
                  </a:outerShdw>
                </a:effectLst>
              </a:rPr>
              <a:t>ETL </a:t>
            </a:r>
            <a:r>
              <a:rPr lang="it-IT" b="1" dirty="0" err="1">
                <a:effectLst>
                  <a:outerShdw blurRad="38100" dist="38100" dir="2700000" algn="tl">
                    <a:srgbClr val="000000">
                      <a:alpha val="43137"/>
                    </a:srgbClr>
                  </a:outerShdw>
                </a:effectLst>
              </a:rPr>
              <a:t>Process</a:t>
            </a:r>
            <a:r>
              <a:rPr lang="it-IT" b="1" dirty="0">
                <a:effectLst>
                  <a:outerShdw blurRad="38100" dist="38100" dir="2700000" algn="tl">
                    <a:srgbClr val="000000">
                      <a:alpha val="43137"/>
                    </a:srgbClr>
                  </a:outerShdw>
                </a:effectLst>
              </a:rPr>
              <a:t> - </a:t>
            </a:r>
            <a:r>
              <a:rPr lang="it-IT" b="1" dirty="0" err="1">
                <a:effectLst>
                  <a:outerShdw blurRad="38100" dist="38100" dir="2700000" algn="tl">
                    <a:srgbClr val="000000">
                      <a:alpha val="43137"/>
                    </a:srgbClr>
                  </a:outerShdw>
                </a:effectLst>
              </a:rPr>
              <a:t>Overview</a:t>
            </a:r>
            <a:endParaRPr lang="it-IT" b="1" dirty="0">
              <a:effectLst>
                <a:outerShdw blurRad="38100" dist="38100" dir="2700000" algn="tl">
                  <a:srgbClr val="000000">
                    <a:alpha val="43137"/>
                  </a:srgbClr>
                </a:outerShdw>
              </a:effectLst>
            </a:endParaRPr>
          </a:p>
        </p:txBody>
      </p:sp>
      <p:pic>
        <p:nvPicPr>
          <p:cNvPr id="10" name="Segnaposto contenuto 9" descr="Immagine che contiene schermata, testo, diagramma, Carattere">
            <a:extLst>
              <a:ext uri="{FF2B5EF4-FFF2-40B4-BE49-F238E27FC236}">
                <a16:creationId xmlns:a16="http://schemas.microsoft.com/office/drawing/2014/main" id="{C66E8DCD-9C7F-155C-E393-55B6A1AA11F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80891" y="1579886"/>
            <a:ext cx="2842256" cy="1799678"/>
          </a:xfrm>
        </p:spPr>
      </p:pic>
      <p:sp>
        <p:nvSpPr>
          <p:cNvPr id="11" name="CasellaDiTesto 10">
            <a:extLst>
              <a:ext uri="{FF2B5EF4-FFF2-40B4-BE49-F238E27FC236}">
                <a16:creationId xmlns:a16="http://schemas.microsoft.com/office/drawing/2014/main" id="{A5BE6EC2-F500-0020-F895-7FCC5E68C5F4}"/>
              </a:ext>
            </a:extLst>
          </p:cNvPr>
          <p:cNvSpPr txBox="1"/>
          <p:nvPr/>
        </p:nvSpPr>
        <p:spPr>
          <a:xfrm>
            <a:off x="3708400" y="1325563"/>
            <a:ext cx="8375650" cy="2308324"/>
          </a:xfrm>
          <a:prstGeom prst="rect">
            <a:avLst/>
          </a:prstGeom>
          <a:noFill/>
        </p:spPr>
        <p:txBody>
          <a:bodyPr wrap="square" rtlCol="0">
            <a:spAutoFit/>
          </a:bodyPr>
          <a:lstStyle/>
          <a:p>
            <a:r>
              <a:rPr lang="it-IT" b="1" dirty="0"/>
              <a:t>3 </a:t>
            </a:r>
            <a:r>
              <a:rPr lang="it-IT" b="1" dirty="0" err="1"/>
              <a:t>phases</a:t>
            </a:r>
            <a:r>
              <a:rPr lang="it-IT" dirty="0"/>
              <a:t>:</a:t>
            </a:r>
          </a:p>
          <a:p>
            <a:endParaRPr lang="it-IT" dirty="0"/>
          </a:p>
          <a:p>
            <a:pPr marL="285750" indent="-285750">
              <a:buFont typeface="Arial" panose="020B0604020202020204" pitchFamily="34" charset="0"/>
              <a:buChar char="•"/>
            </a:pPr>
            <a:r>
              <a:rPr lang="it-IT" dirty="0" err="1"/>
              <a:t>Extract</a:t>
            </a:r>
            <a:r>
              <a:rPr lang="it-IT" dirty="0"/>
              <a:t>: </a:t>
            </a:r>
            <a:r>
              <a:rPr lang="en-US" dirty="0"/>
              <a:t>Multiple CSVs (performance and valuation)</a:t>
            </a:r>
          </a:p>
          <a:p>
            <a:pPr marL="285750" indent="-285750">
              <a:buFont typeface="Arial" panose="020B0604020202020204" pitchFamily="34" charset="0"/>
              <a:buChar char="•"/>
            </a:pPr>
            <a:endParaRPr lang="it-IT" dirty="0"/>
          </a:p>
          <a:p>
            <a:pPr marL="285750" indent="-285750">
              <a:buFont typeface="Arial" panose="020B0604020202020204" pitchFamily="34" charset="0"/>
              <a:buChar char="•"/>
            </a:pPr>
            <a:r>
              <a:rPr lang="it-IT" dirty="0" err="1"/>
              <a:t>Transform</a:t>
            </a:r>
            <a:r>
              <a:rPr lang="it-IT" dirty="0"/>
              <a:t>: </a:t>
            </a:r>
            <a:r>
              <a:rPr lang="it-IT" dirty="0" err="1"/>
              <a:t>Cleaning</a:t>
            </a:r>
            <a:r>
              <a:rPr lang="it-IT" dirty="0"/>
              <a:t>, matching, filtering</a:t>
            </a:r>
          </a:p>
          <a:p>
            <a:pPr marL="285750" indent="-285750">
              <a:buFont typeface="Arial" panose="020B0604020202020204" pitchFamily="34" charset="0"/>
              <a:buChar char="•"/>
            </a:pPr>
            <a:endParaRPr lang="it-IT" dirty="0"/>
          </a:p>
          <a:p>
            <a:pPr marL="285750" indent="-285750">
              <a:buFont typeface="Arial" panose="020B0604020202020204" pitchFamily="34" charset="0"/>
              <a:buChar char="•"/>
            </a:pPr>
            <a:r>
              <a:rPr lang="it-IT" dirty="0"/>
              <a:t>Load: </a:t>
            </a:r>
            <a:r>
              <a:rPr lang="en-US" dirty="0"/>
              <a:t>Final CSVs imported into PostgreSQL for DW creation</a:t>
            </a:r>
          </a:p>
          <a:p>
            <a:pPr marL="285750" indent="-285750">
              <a:buFont typeface="Arial" panose="020B0604020202020204" pitchFamily="34" charset="0"/>
              <a:buChar char="•"/>
            </a:pPr>
            <a:endParaRPr lang="it-IT" dirty="0"/>
          </a:p>
        </p:txBody>
      </p:sp>
      <p:sp>
        <p:nvSpPr>
          <p:cNvPr id="13" name="CasellaDiTesto 12">
            <a:extLst>
              <a:ext uri="{FF2B5EF4-FFF2-40B4-BE49-F238E27FC236}">
                <a16:creationId xmlns:a16="http://schemas.microsoft.com/office/drawing/2014/main" id="{CC4D848C-A179-67BB-8327-D5E5880D2F45}"/>
              </a:ext>
            </a:extLst>
          </p:cNvPr>
          <p:cNvSpPr txBox="1"/>
          <p:nvPr/>
        </p:nvSpPr>
        <p:spPr>
          <a:xfrm>
            <a:off x="0" y="3985452"/>
            <a:ext cx="12192000" cy="2739211"/>
          </a:xfrm>
          <a:prstGeom prst="rect">
            <a:avLst/>
          </a:prstGeom>
          <a:noFill/>
        </p:spPr>
        <p:txBody>
          <a:bodyPr wrap="square" rtlCol="0">
            <a:spAutoFit/>
          </a:bodyPr>
          <a:lstStyle/>
          <a:p>
            <a:pPr algn="ctr"/>
            <a:r>
              <a:rPr lang="it-IT" sz="2800" b="1" dirty="0" err="1"/>
              <a:t>Extract</a:t>
            </a:r>
            <a:r>
              <a:rPr lang="it-IT" sz="2800" b="1" dirty="0"/>
              <a:t> </a:t>
            </a:r>
            <a:r>
              <a:rPr lang="it-IT" sz="2800" b="1" dirty="0" err="1"/>
              <a:t>phase</a:t>
            </a:r>
            <a:r>
              <a:rPr lang="it-IT" sz="2800" b="1" dirty="0"/>
              <a:t>:</a:t>
            </a:r>
          </a:p>
          <a:p>
            <a:pPr lvl="0"/>
            <a:r>
              <a:rPr lang="it-IT" dirty="0" err="1"/>
              <a:t>Collected</a:t>
            </a:r>
            <a:r>
              <a:rPr lang="it-IT" dirty="0"/>
              <a:t> multiple datasets from </a:t>
            </a:r>
            <a:r>
              <a:rPr lang="it-IT" dirty="0" err="1"/>
              <a:t>two</a:t>
            </a:r>
            <a:r>
              <a:rPr lang="it-IT" dirty="0"/>
              <a:t> sources:</a:t>
            </a:r>
          </a:p>
          <a:p>
            <a:pPr lvl="0"/>
            <a:endParaRPr lang="it-IT" b="1" dirty="0"/>
          </a:p>
          <a:p>
            <a:pPr marL="285750" lvl="0" indent="-285750">
              <a:buFont typeface="Arial" panose="020B0604020202020204" pitchFamily="34" charset="0"/>
              <a:buChar char="•"/>
            </a:pPr>
            <a:r>
              <a:rPr lang="it-IT" b="1" dirty="0"/>
              <a:t>Dataset 1</a:t>
            </a:r>
            <a:r>
              <a:rPr lang="it-IT" dirty="0"/>
              <a:t>: Player performance </a:t>
            </a:r>
            <a:r>
              <a:rPr lang="it-IT" dirty="0" err="1"/>
              <a:t>statistics</a:t>
            </a:r>
            <a:r>
              <a:rPr lang="it-IT" dirty="0"/>
              <a:t> split </a:t>
            </a:r>
            <a:r>
              <a:rPr lang="it-IT" dirty="0" err="1"/>
              <a:t>into</a:t>
            </a:r>
            <a:r>
              <a:rPr lang="it-IT" dirty="0"/>
              <a:t> multiple </a:t>
            </a:r>
            <a:r>
              <a:rPr lang="it-IT" dirty="0" err="1"/>
              <a:t>CSVs</a:t>
            </a:r>
            <a:r>
              <a:rPr lang="it-IT" dirty="0"/>
              <a:t> (</a:t>
            </a:r>
            <a:r>
              <a:rPr lang="it-IT" dirty="0" err="1"/>
              <a:t>player_defense</a:t>
            </a:r>
            <a:r>
              <a:rPr lang="it-IT" dirty="0"/>
              <a:t>, </a:t>
            </a:r>
            <a:r>
              <a:rPr lang="it-IT" dirty="0" err="1"/>
              <a:t>player_gca</a:t>
            </a:r>
            <a:r>
              <a:rPr lang="it-IT" dirty="0"/>
              <a:t>, </a:t>
            </a:r>
            <a:r>
              <a:rPr lang="it-IT" dirty="0" err="1"/>
              <a:t>player_misc</a:t>
            </a:r>
            <a:r>
              <a:rPr lang="it-IT" dirty="0"/>
              <a:t>, </a:t>
            </a:r>
            <a:r>
              <a:rPr lang="it-IT" dirty="0" err="1"/>
              <a:t>player_shooting</a:t>
            </a:r>
            <a:r>
              <a:rPr lang="it-IT" dirty="0"/>
              <a:t>, </a:t>
            </a:r>
            <a:r>
              <a:rPr lang="it-IT" dirty="0" err="1"/>
              <a:t>player_possession</a:t>
            </a:r>
            <a:r>
              <a:rPr lang="it-IT" dirty="0"/>
              <a:t>, </a:t>
            </a:r>
            <a:r>
              <a:rPr lang="it-IT" dirty="0" err="1"/>
              <a:t>player_passing_type</a:t>
            </a:r>
            <a:r>
              <a:rPr lang="it-IT" dirty="0"/>
              <a:t>, </a:t>
            </a:r>
            <a:r>
              <a:rPr lang="it-IT" dirty="0" err="1"/>
              <a:t>player_passing</a:t>
            </a:r>
            <a:r>
              <a:rPr lang="it-IT" dirty="0"/>
              <a:t>, </a:t>
            </a:r>
            <a:r>
              <a:rPr lang="it-IT" dirty="0" err="1"/>
              <a:t>player_standard_stats</a:t>
            </a:r>
            <a:r>
              <a:rPr lang="it-IT" dirty="0"/>
              <a:t>).</a:t>
            </a:r>
          </a:p>
          <a:p>
            <a:pPr marL="285750" lvl="0" indent="-285750">
              <a:buFont typeface="Arial" panose="020B0604020202020204" pitchFamily="34" charset="0"/>
              <a:buChar char="•"/>
            </a:pPr>
            <a:endParaRPr lang="it-IT" b="1" dirty="0"/>
          </a:p>
          <a:p>
            <a:pPr marL="285750" lvl="0" indent="-285750">
              <a:buFont typeface="Arial" panose="020B0604020202020204" pitchFamily="34" charset="0"/>
              <a:buChar char="•"/>
            </a:pPr>
            <a:r>
              <a:rPr lang="it-IT" b="1" dirty="0"/>
              <a:t>Dataset 2</a:t>
            </a:r>
            <a:r>
              <a:rPr lang="it-IT" dirty="0"/>
              <a:t>: Player </a:t>
            </a:r>
            <a:r>
              <a:rPr lang="it-IT" dirty="0" err="1"/>
              <a:t>valuation</a:t>
            </a:r>
            <a:r>
              <a:rPr lang="it-IT" dirty="0"/>
              <a:t> data with </a:t>
            </a:r>
            <a:r>
              <a:rPr lang="it-IT" dirty="0" err="1"/>
              <a:t>supporting</a:t>
            </a:r>
            <a:r>
              <a:rPr lang="it-IT" dirty="0"/>
              <a:t> metadata (players.csv, clubs.csv, competitions.csv).</a:t>
            </a:r>
          </a:p>
          <a:p>
            <a:pPr marL="285750" lvl="0" indent="-285750">
              <a:buFont typeface="Arial" panose="020B0604020202020204" pitchFamily="34" charset="0"/>
              <a:buChar char="•"/>
            </a:pPr>
            <a:endParaRPr lang="it-IT" dirty="0"/>
          </a:p>
          <a:p>
            <a:pPr marL="285750" indent="-285750">
              <a:buFont typeface="Arial" panose="020B0604020202020204" pitchFamily="34" charset="0"/>
              <a:buChar char="•"/>
            </a:pPr>
            <a:endParaRPr lang="it-IT" dirty="0"/>
          </a:p>
        </p:txBody>
      </p:sp>
    </p:spTree>
    <p:extLst>
      <p:ext uri="{BB962C8B-B14F-4D97-AF65-F5344CB8AC3E}">
        <p14:creationId xmlns:p14="http://schemas.microsoft.com/office/powerpoint/2010/main" val="382353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additive="base">
                                        <p:cTn id="25" dur="500" fill="hold"/>
                                        <p:tgtEl>
                                          <p:spTgt spid="13"/>
                                        </p:tgtEl>
                                        <p:attrNameLst>
                                          <p:attrName>ppt_x</p:attrName>
                                        </p:attrNameLst>
                                      </p:cBhvr>
                                      <p:tavLst>
                                        <p:tav tm="0">
                                          <p:val>
                                            <p:strVal val="#ppt_x"/>
                                          </p:val>
                                        </p:tav>
                                        <p:tav tm="100000">
                                          <p:val>
                                            <p:strVal val="#ppt_x"/>
                                          </p:val>
                                        </p:tav>
                                      </p:tavLst>
                                    </p:anim>
                                    <p:anim calcmode="lin" valueType="num">
                                      <p:cBhvr additive="base">
                                        <p:cTn id="26"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1" grpId="0"/>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B9E831F-6C09-908F-9592-FC63119D4550}"/>
              </a:ext>
            </a:extLst>
          </p:cNvPr>
          <p:cNvSpPr>
            <a:spLocks noGrp="1"/>
          </p:cNvSpPr>
          <p:nvPr>
            <p:ph type="title"/>
          </p:nvPr>
        </p:nvSpPr>
        <p:spPr>
          <a:xfrm>
            <a:off x="838200" y="18255"/>
            <a:ext cx="10515600" cy="1325563"/>
          </a:xfrm>
        </p:spPr>
        <p:txBody>
          <a:bodyPr/>
          <a:lstStyle/>
          <a:p>
            <a:pPr algn="ctr"/>
            <a:r>
              <a:rPr lang="it-IT" b="1" dirty="0" err="1">
                <a:effectLst>
                  <a:outerShdw blurRad="38100" dist="38100" dir="2700000" algn="tl">
                    <a:srgbClr val="000000">
                      <a:alpha val="43137"/>
                    </a:srgbClr>
                  </a:outerShdw>
                </a:effectLst>
              </a:rPr>
              <a:t>Transform</a:t>
            </a:r>
            <a:r>
              <a:rPr lang="it-IT" b="1" dirty="0">
                <a:effectLst>
                  <a:outerShdw blurRad="38100" dist="38100" dir="2700000" algn="tl">
                    <a:srgbClr val="000000">
                      <a:alpha val="43137"/>
                    </a:srgbClr>
                  </a:outerShdw>
                </a:effectLst>
              </a:rPr>
              <a:t> </a:t>
            </a:r>
            <a:r>
              <a:rPr lang="it-IT" b="1" dirty="0" err="1">
                <a:effectLst>
                  <a:outerShdw blurRad="38100" dist="38100" dir="2700000" algn="tl">
                    <a:srgbClr val="000000">
                      <a:alpha val="43137"/>
                    </a:srgbClr>
                  </a:outerShdw>
                </a:effectLst>
              </a:rPr>
              <a:t>Phase</a:t>
            </a:r>
            <a:endParaRPr lang="it-IT" b="1" dirty="0">
              <a:effectLst>
                <a:outerShdw blurRad="38100" dist="38100" dir="2700000" algn="tl">
                  <a:srgbClr val="000000">
                    <a:alpha val="43137"/>
                  </a:srgbClr>
                </a:outerShdw>
              </a:effectLst>
            </a:endParaRPr>
          </a:p>
        </p:txBody>
      </p:sp>
      <p:sp>
        <p:nvSpPr>
          <p:cNvPr id="3" name="Segnaposto contenuto 2">
            <a:extLst>
              <a:ext uri="{FF2B5EF4-FFF2-40B4-BE49-F238E27FC236}">
                <a16:creationId xmlns:a16="http://schemas.microsoft.com/office/drawing/2014/main" id="{BF20B01D-CF8D-5F46-0D1F-12B9F14BD9DE}"/>
              </a:ext>
            </a:extLst>
          </p:cNvPr>
          <p:cNvSpPr>
            <a:spLocks noGrp="1"/>
          </p:cNvSpPr>
          <p:nvPr>
            <p:ph idx="1"/>
          </p:nvPr>
        </p:nvSpPr>
        <p:spPr>
          <a:xfrm>
            <a:off x="0" y="1050925"/>
            <a:ext cx="4775200" cy="2028825"/>
          </a:xfrm>
        </p:spPr>
        <p:txBody>
          <a:bodyPr>
            <a:normAutofit fontScale="55000" lnSpcReduction="20000"/>
          </a:bodyPr>
          <a:lstStyle/>
          <a:p>
            <a:pPr marL="0" indent="0">
              <a:buNone/>
            </a:pPr>
            <a:r>
              <a:rPr lang="it-IT" sz="3600" b="1" dirty="0"/>
              <a:t>Data </a:t>
            </a:r>
            <a:r>
              <a:rPr lang="it-IT" sz="3600" b="1" dirty="0" err="1"/>
              <a:t>cleaning</a:t>
            </a:r>
            <a:r>
              <a:rPr lang="it-IT" sz="3600" b="1" dirty="0"/>
              <a:t>:</a:t>
            </a:r>
          </a:p>
          <a:p>
            <a:pPr lvl="0"/>
            <a:r>
              <a:rPr lang="it-IT" sz="2200" b="1" dirty="0" err="1"/>
              <a:t>Standardized</a:t>
            </a:r>
            <a:r>
              <a:rPr lang="it-IT" sz="2200" b="1" dirty="0"/>
              <a:t> </a:t>
            </a:r>
            <a:r>
              <a:rPr lang="it-IT" sz="2200" b="1" dirty="0" err="1"/>
              <a:t>column</a:t>
            </a:r>
            <a:r>
              <a:rPr lang="it-IT" sz="2200" b="1" dirty="0"/>
              <a:t> names and formats</a:t>
            </a:r>
            <a:r>
              <a:rPr lang="it-IT" sz="2200" dirty="0"/>
              <a:t> </a:t>
            </a:r>
            <a:r>
              <a:rPr lang="it-IT" sz="2200" dirty="0" err="1"/>
              <a:t>across</a:t>
            </a:r>
            <a:r>
              <a:rPr lang="it-IT" sz="2200" dirty="0"/>
              <a:t> </a:t>
            </a:r>
            <a:r>
              <a:rPr lang="it-IT" sz="2200" dirty="0" err="1"/>
              <a:t>all</a:t>
            </a:r>
            <a:r>
              <a:rPr lang="it-IT" sz="2200" dirty="0"/>
              <a:t> </a:t>
            </a:r>
            <a:r>
              <a:rPr lang="it-IT" sz="2200" dirty="0" err="1"/>
              <a:t>CSVs</a:t>
            </a:r>
            <a:r>
              <a:rPr lang="it-IT" sz="2200" dirty="0"/>
              <a:t>.</a:t>
            </a:r>
          </a:p>
          <a:p>
            <a:pPr lvl="0"/>
            <a:r>
              <a:rPr lang="it-IT" sz="2200" b="1" dirty="0" err="1"/>
              <a:t>Converted</a:t>
            </a:r>
            <a:r>
              <a:rPr lang="it-IT" sz="2200" dirty="0"/>
              <a:t> </a:t>
            </a:r>
            <a:r>
              <a:rPr lang="it-IT" sz="2200" dirty="0" err="1"/>
              <a:t>all</a:t>
            </a:r>
            <a:r>
              <a:rPr lang="it-IT" sz="2200" dirty="0"/>
              <a:t> </a:t>
            </a:r>
            <a:r>
              <a:rPr lang="it-IT" sz="2200" dirty="0" err="1"/>
              <a:t>dates</a:t>
            </a:r>
            <a:r>
              <a:rPr lang="it-IT" sz="2200" dirty="0"/>
              <a:t> to YYYY format (e.g., </a:t>
            </a:r>
            <a:r>
              <a:rPr lang="it-IT" sz="2200" dirty="0" err="1"/>
              <a:t>valuation_date</a:t>
            </a:r>
            <a:r>
              <a:rPr lang="it-IT" sz="2200" dirty="0"/>
              <a:t> -&gt; </a:t>
            </a:r>
            <a:r>
              <a:rPr lang="it-IT" sz="2200" dirty="0" err="1"/>
              <a:t>year</a:t>
            </a:r>
            <a:r>
              <a:rPr lang="it-IT" sz="2200" dirty="0"/>
              <a:t>).</a:t>
            </a:r>
          </a:p>
          <a:p>
            <a:pPr lvl="0"/>
            <a:r>
              <a:rPr lang="it-IT" sz="2200" b="1" dirty="0" err="1"/>
              <a:t>Cleaned</a:t>
            </a:r>
            <a:r>
              <a:rPr lang="it-IT" sz="2200" dirty="0"/>
              <a:t> up </a:t>
            </a:r>
            <a:r>
              <a:rPr lang="it-IT" sz="2200" dirty="0" err="1"/>
              <a:t>string</a:t>
            </a:r>
            <a:r>
              <a:rPr lang="it-IT" sz="2200" dirty="0"/>
              <a:t> </a:t>
            </a:r>
            <a:r>
              <a:rPr lang="it-IT" sz="2200" dirty="0" err="1"/>
              <a:t>inconsistencies</a:t>
            </a:r>
            <a:r>
              <a:rPr lang="it-IT" sz="2200" dirty="0"/>
              <a:t> in player and club names.</a:t>
            </a:r>
          </a:p>
          <a:p>
            <a:pPr lvl="0"/>
            <a:r>
              <a:rPr lang="it-IT" sz="2200" b="1" dirty="0" err="1"/>
              <a:t>Removed</a:t>
            </a:r>
            <a:r>
              <a:rPr lang="it-IT" sz="2200" dirty="0"/>
              <a:t> </a:t>
            </a:r>
            <a:r>
              <a:rPr lang="it-IT" sz="2200" dirty="0" err="1"/>
              <a:t>rows</a:t>
            </a:r>
            <a:r>
              <a:rPr lang="it-IT" sz="2200" dirty="0"/>
              <a:t> </a:t>
            </a:r>
            <a:r>
              <a:rPr lang="it-IT" sz="2200" dirty="0" err="1"/>
              <a:t>that</a:t>
            </a:r>
            <a:r>
              <a:rPr lang="it-IT" sz="2200" dirty="0"/>
              <a:t> </a:t>
            </a:r>
            <a:r>
              <a:rPr lang="it-IT" sz="2200" dirty="0" err="1"/>
              <a:t>had</a:t>
            </a:r>
            <a:r>
              <a:rPr lang="it-IT" sz="2200" dirty="0"/>
              <a:t> </a:t>
            </a:r>
            <a:r>
              <a:rPr lang="it-IT" sz="2200" dirty="0" err="1"/>
              <a:t>missing</a:t>
            </a:r>
            <a:r>
              <a:rPr lang="it-IT" sz="2200" dirty="0"/>
              <a:t> </a:t>
            </a:r>
            <a:r>
              <a:rPr lang="it-IT" sz="2200" dirty="0" err="1"/>
              <a:t>critical</a:t>
            </a:r>
            <a:r>
              <a:rPr lang="it-IT" sz="2200" dirty="0"/>
              <a:t> </a:t>
            </a:r>
            <a:r>
              <a:rPr lang="it-IT" sz="2200" dirty="0" err="1"/>
              <a:t>identifiers</a:t>
            </a:r>
            <a:r>
              <a:rPr lang="it-IT" sz="2200" dirty="0"/>
              <a:t> (e.g., </a:t>
            </a:r>
            <a:r>
              <a:rPr lang="it-IT" sz="2200" dirty="0" err="1"/>
              <a:t>missing</a:t>
            </a:r>
            <a:r>
              <a:rPr lang="it-IT" sz="2500" dirty="0"/>
              <a:t> </a:t>
            </a:r>
            <a:r>
              <a:rPr lang="it-IT" sz="2200" dirty="0"/>
              <a:t>player names).</a:t>
            </a:r>
            <a:endParaRPr lang="it-IT" sz="2500" dirty="0"/>
          </a:p>
          <a:p>
            <a:endParaRPr lang="it-IT" dirty="0"/>
          </a:p>
        </p:txBody>
      </p:sp>
      <p:sp>
        <p:nvSpPr>
          <p:cNvPr id="4" name="CasellaDiTesto 3">
            <a:extLst>
              <a:ext uri="{FF2B5EF4-FFF2-40B4-BE49-F238E27FC236}">
                <a16:creationId xmlns:a16="http://schemas.microsoft.com/office/drawing/2014/main" id="{0D7D0526-1918-4B81-A72D-9B83E334E502}"/>
              </a:ext>
            </a:extLst>
          </p:cNvPr>
          <p:cNvSpPr txBox="1"/>
          <p:nvPr/>
        </p:nvSpPr>
        <p:spPr>
          <a:xfrm>
            <a:off x="5334000" y="2514600"/>
            <a:ext cx="6858000" cy="1969770"/>
          </a:xfrm>
          <a:prstGeom prst="rect">
            <a:avLst/>
          </a:prstGeom>
          <a:noFill/>
        </p:spPr>
        <p:txBody>
          <a:bodyPr wrap="square" rtlCol="0">
            <a:spAutoFit/>
          </a:bodyPr>
          <a:lstStyle/>
          <a:p>
            <a:r>
              <a:rPr lang="it-IT" sz="2000" b="1" dirty="0"/>
              <a:t>Player Matching &amp; </a:t>
            </a:r>
            <a:r>
              <a:rPr lang="it-IT" sz="2000" b="1" dirty="0" err="1"/>
              <a:t>Enrichment</a:t>
            </a:r>
            <a:endParaRPr lang="it-IT" sz="2000" b="1" dirty="0"/>
          </a:p>
          <a:p>
            <a:pPr marL="285750" lvl="0" indent="-285750">
              <a:buFont typeface="Arial" panose="020B0604020202020204" pitchFamily="34" charset="0"/>
              <a:buChar char="•"/>
            </a:pPr>
            <a:r>
              <a:rPr lang="it-IT" sz="1200" b="1" dirty="0" err="1"/>
              <a:t>Substituted</a:t>
            </a:r>
            <a:r>
              <a:rPr lang="it-IT" sz="1200" dirty="0"/>
              <a:t> </a:t>
            </a:r>
            <a:r>
              <a:rPr lang="it-IT" sz="1200" dirty="0" err="1"/>
              <a:t>player_id</a:t>
            </a:r>
            <a:r>
              <a:rPr lang="it-IT" sz="1200" dirty="0"/>
              <a:t> in the </a:t>
            </a:r>
            <a:r>
              <a:rPr lang="it-IT" sz="1200" dirty="0" err="1"/>
              <a:t>valuation</a:t>
            </a:r>
            <a:r>
              <a:rPr lang="it-IT" sz="1200" dirty="0"/>
              <a:t> dataset with full player names (</a:t>
            </a:r>
            <a:r>
              <a:rPr lang="it-IT" sz="1200" dirty="0" err="1"/>
              <a:t>first_name</a:t>
            </a:r>
            <a:r>
              <a:rPr lang="it-IT" sz="1200" dirty="0"/>
              <a:t> + </a:t>
            </a:r>
            <a:r>
              <a:rPr lang="it-IT" sz="1200" dirty="0" err="1"/>
              <a:t>last_name</a:t>
            </a:r>
            <a:r>
              <a:rPr lang="it-IT" sz="1200" dirty="0"/>
              <a:t>).</a:t>
            </a:r>
          </a:p>
          <a:p>
            <a:pPr marL="285750" lvl="0" indent="-285750">
              <a:buFont typeface="Arial" panose="020B0604020202020204" pitchFamily="34" charset="0"/>
              <a:buChar char="•"/>
            </a:pPr>
            <a:r>
              <a:rPr lang="it-IT" sz="1200" b="1" dirty="0" err="1"/>
              <a:t>Used</a:t>
            </a:r>
            <a:r>
              <a:rPr lang="it-IT" sz="1200" dirty="0"/>
              <a:t> the players.csv file to </a:t>
            </a:r>
            <a:r>
              <a:rPr lang="it-IT" sz="1200" dirty="0" err="1"/>
              <a:t>fill</a:t>
            </a:r>
            <a:r>
              <a:rPr lang="it-IT" sz="1200" dirty="0"/>
              <a:t> </a:t>
            </a:r>
            <a:r>
              <a:rPr lang="it-IT" sz="1200" dirty="0" err="1"/>
              <a:t>missing</a:t>
            </a:r>
            <a:r>
              <a:rPr lang="it-IT" sz="1200" dirty="0"/>
              <a:t> fields like:</a:t>
            </a:r>
          </a:p>
          <a:p>
            <a:pPr marL="742950" lvl="1" indent="-285750">
              <a:buFont typeface="Wingdings" panose="05000000000000000000" pitchFamily="2" charset="2"/>
              <a:buChar char="Ø"/>
            </a:pPr>
            <a:r>
              <a:rPr lang="it-IT" sz="1200" dirty="0" err="1"/>
              <a:t>nation</a:t>
            </a:r>
            <a:r>
              <a:rPr lang="it-IT" sz="1200" dirty="0"/>
              <a:t> from </a:t>
            </a:r>
            <a:r>
              <a:rPr lang="it-IT" sz="1200" dirty="0" err="1"/>
              <a:t>country_of_citizenship</a:t>
            </a:r>
            <a:r>
              <a:rPr lang="it-IT" sz="1200" dirty="0"/>
              <a:t>;</a:t>
            </a:r>
          </a:p>
          <a:p>
            <a:pPr marL="742950" lvl="1" indent="-285750">
              <a:buFont typeface="Wingdings" panose="05000000000000000000" pitchFamily="2" charset="2"/>
              <a:buChar char="Ø"/>
            </a:pPr>
            <a:r>
              <a:rPr lang="it-IT" sz="1200" dirty="0"/>
              <a:t>country from </a:t>
            </a:r>
            <a:r>
              <a:rPr lang="it-IT" sz="1200" dirty="0" err="1"/>
              <a:t>country_of_birth</a:t>
            </a:r>
            <a:r>
              <a:rPr lang="it-IT" sz="1200" dirty="0"/>
              <a:t>;</a:t>
            </a:r>
          </a:p>
          <a:p>
            <a:pPr marL="742950" lvl="1" indent="-285750">
              <a:buFont typeface="Wingdings" panose="05000000000000000000" pitchFamily="2" charset="2"/>
              <a:buChar char="Ø"/>
            </a:pPr>
            <a:r>
              <a:rPr lang="it-IT" sz="1200" dirty="0" err="1"/>
              <a:t>born</a:t>
            </a:r>
            <a:r>
              <a:rPr lang="it-IT" sz="1200" dirty="0"/>
              <a:t> from </a:t>
            </a:r>
            <a:r>
              <a:rPr lang="it-IT" sz="1200" dirty="0" err="1"/>
              <a:t>date_of_birth</a:t>
            </a:r>
            <a:r>
              <a:rPr lang="it-IT" sz="1200" dirty="0"/>
              <a:t> (</a:t>
            </a:r>
            <a:r>
              <a:rPr lang="it-IT" sz="1200" dirty="0" err="1"/>
              <a:t>converted</a:t>
            </a:r>
            <a:r>
              <a:rPr lang="it-IT" sz="1200" dirty="0"/>
              <a:t> to </a:t>
            </a:r>
            <a:r>
              <a:rPr lang="it-IT" sz="1200" dirty="0" err="1"/>
              <a:t>year</a:t>
            </a:r>
            <a:r>
              <a:rPr lang="it-IT" sz="1200" dirty="0"/>
              <a:t> </a:t>
            </a:r>
            <a:r>
              <a:rPr lang="it-IT" sz="1200" dirty="0" err="1"/>
              <a:t>only</a:t>
            </a:r>
            <a:r>
              <a:rPr lang="it-IT" sz="1200" dirty="0"/>
              <a:t>)</a:t>
            </a:r>
          </a:p>
          <a:p>
            <a:pPr marL="285750" indent="-285750">
              <a:buFont typeface="Arial" panose="020B0604020202020204" pitchFamily="34" charset="0"/>
              <a:buChar char="•"/>
            </a:pPr>
            <a:r>
              <a:rPr lang="it-IT" sz="1200" b="1" dirty="0" err="1"/>
              <a:t>Handled</a:t>
            </a:r>
            <a:r>
              <a:rPr lang="it-IT" sz="1200" dirty="0"/>
              <a:t> </a:t>
            </a:r>
            <a:r>
              <a:rPr lang="it-IT" sz="1200" dirty="0" err="1"/>
              <a:t>cases</a:t>
            </a:r>
            <a:r>
              <a:rPr lang="it-IT" sz="1200" dirty="0"/>
              <a:t> </a:t>
            </a:r>
            <a:r>
              <a:rPr lang="it-IT" sz="1200" dirty="0" err="1"/>
              <a:t>where</a:t>
            </a:r>
            <a:r>
              <a:rPr lang="it-IT" sz="1200" dirty="0"/>
              <a:t> names </a:t>
            </a:r>
            <a:r>
              <a:rPr lang="it-IT" sz="1200" dirty="0" err="1"/>
              <a:t>were</a:t>
            </a:r>
            <a:r>
              <a:rPr lang="it-IT" sz="1200" dirty="0"/>
              <a:t> </a:t>
            </a:r>
            <a:r>
              <a:rPr lang="it-IT" sz="1200" dirty="0" err="1"/>
              <a:t>mismatched</a:t>
            </a:r>
            <a:r>
              <a:rPr lang="it-IT" sz="1200" dirty="0"/>
              <a:t> due to </a:t>
            </a:r>
            <a:r>
              <a:rPr lang="it-IT" sz="1200" dirty="0" err="1"/>
              <a:t>formatting</a:t>
            </a:r>
            <a:r>
              <a:rPr lang="it-IT" sz="1200" dirty="0"/>
              <a:t> (e.g., </a:t>
            </a:r>
            <a:r>
              <a:rPr lang="it-IT" sz="1200" dirty="0" err="1"/>
              <a:t>only</a:t>
            </a:r>
            <a:r>
              <a:rPr lang="it-IT" sz="1200" dirty="0"/>
              <a:t> </a:t>
            </a:r>
            <a:r>
              <a:rPr lang="it-IT" sz="1200" dirty="0" err="1"/>
              <a:t>surname</a:t>
            </a:r>
            <a:r>
              <a:rPr lang="it-IT" sz="1200" dirty="0"/>
              <a:t> or extra </a:t>
            </a:r>
            <a:r>
              <a:rPr lang="it-IT" sz="1200" dirty="0" err="1"/>
              <a:t>spaces</a:t>
            </a:r>
            <a:r>
              <a:rPr lang="it-IT" sz="1200" dirty="0"/>
              <a:t>).</a:t>
            </a:r>
            <a:endParaRPr lang="it-IT" sz="2000" dirty="0"/>
          </a:p>
          <a:p>
            <a:endParaRPr lang="it-IT" dirty="0"/>
          </a:p>
        </p:txBody>
      </p:sp>
      <p:sp>
        <p:nvSpPr>
          <p:cNvPr id="5" name="CasellaDiTesto 4">
            <a:extLst>
              <a:ext uri="{FF2B5EF4-FFF2-40B4-BE49-F238E27FC236}">
                <a16:creationId xmlns:a16="http://schemas.microsoft.com/office/drawing/2014/main" id="{21FAFCF9-C3B9-D30B-3A04-99E558359C9B}"/>
              </a:ext>
            </a:extLst>
          </p:cNvPr>
          <p:cNvSpPr txBox="1"/>
          <p:nvPr/>
        </p:nvSpPr>
        <p:spPr>
          <a:xfrm>
            <a:off x="0" y="4597400"/>
            <a:ext cx="5334000" cy="1815882"/>
          </a:xfrm>
          <a:prstGeom prst="rect">
            <a:avLst/>
          </a:prstGeom>
          <a:noFill/>
        </p:spPr>
        <p:txBody>
          <a:bodyPr wrap="square" rtlCol="0">
            <a:spAutoFit/>
          </a:bodyPr>
          <a:lstStyle/>
          <a:p>
            <a:r>
              <a:rPr lang="it-IT" sz="2000" b="1" dirty="0"/>
              <a:t>Club Name </a:t>
            </a:r>
            <a:r>
              <a:rPr lang="it-IT" sz="2000" b="1" dirty="0" err="1"/>
              <a:t>Normalization</a:t>
            </a:r>
            <a:endParaRPr lang="it-IT" sz="2000" b="1" dirty="0"/>
          </a:p>
          <a:p>
            <a:pPr marL="285750" lvl="0" indent="-285750">
              <a:buFont typeface="Arial" panose="020B0604020202020204" pitchFamily="34" charset="0"/>
              <a:buChar char="•"/>
            </a:pPr>
            <a:r>
              <a:rPr lang="it-IT" sz="1200" b="1" dirty="0" err="1"/>
              <a:t>Resolved</a:t>
            </a:r>
            <a:r>
              <a:rPr lang="it-IT" sz="1200" dirty="0"/>
              <a:t> </a:t>
            </a:r>
            <a:r>
              <a:rPr lang="it-IT" sz="1200" dirty="0" err="1"/>
              <a:t>inconsistent</a:t>
            </a:r>
            <a:r>
              <a:rPr lang="it-IT" sz="1200" dirty="0"/>
              <a:t> club names </a:t>
            </a:r>
            <a:r>
              <a:rPr lang="it-IT" sz="1200" dirty="0" err="1"/>
              <a:t>between</a:t>
            </a:r>
            <a:r>
              <a:rPr lang="it-IT" sz="1200" dirty="0"/>
              <a:t> dataset 1 and dataset 2 </a:t>
            </a:r>
            <a:r>
              <a:rPr lang="it-IT" sz="1200" dirty="0" err="1"/>
              <a:t>using</a:t>
            </a:r>
            <a:r>
              <a:rPr lang="it-IT" sz="1200" dirty="0"/>
              <a:t>:</a:t>
            </a:r>
          </a:p>
          <a:p>
            <a:pPr marL="742950" lvl="1" indent="-285750">
              <a:buFont typeface="Wingdings" panose="05000000000000000000" pitchFamily="2" charset="2"/>
              <a:buChar char="Ø"/>
            </a:pPr>
            <a:r>
              <a:rPr lang="it-IT" sz="1200" dirty="0"/>
              <a:t>Manual mapping for </a:t>
            </a:r>
            <a:r>
              <a:rPr lang="it-IT" sz="1200" dirty="0" err="1"/>
              <a:t>known</a:t>
            </a:r>
            <a:r>
              <a:rPr lang="it-IT" sz="1200" dirty="0"/>
              <a:t> mismatches (e.g., Manchester United Football -&gt; Manchester Utd).</a:t>
            </a:r>
          </a:p>
          <a:p>
            <a:pPr marL="742950" lvl="1" indent="-285750">
              <a:buFont typeface="Wingdings" panose="05000000000000000000" pitchFamily="2" charset="2"/>
              <a:buChar char="Ø"/>
            </a:pPr>
            <a:r>
              <a:rPr lang="it-IT" sz="1200" dirty="0"/>
              <a:t>Fuzzy </a:t>
            </a:r>
            <a:r>
              <a:rPr lang="it-IT" sz="1200" dirty="0" err="1"/>
              <a:t>string</a:t>
            </a:r>
            <a:r>
              <a:rPr lang="it-IT" sz="1200" dirty="0"/>
              <a:t> matching with </a:t>
            </a:r>
            <a:r>
              <a:rPr lang="it-IT" sz="1200" dirty="0" err="1"/>
              <a:t>fallback</a:t>
            </a:r>
            <a:r>
              <a:rPr lang="it-IT" sz="1200" dirty="0"/>
              <a:t> </a:t>
            </a:r>
            <a:r>
              <a:rPr lang="it-IT" sz="1200" dirty="0" err="1"/>
              <a:t>logic</a:t>
            </a:r>
            <a:r>
              <a:rPr lang="it-IT" sz="1200" dirty="0"/>
              <a:t>.</a:t>
            </a:r>
          </a:p>
          <a:p>
            <a:endParaRPr lang="it-IT" sz="1400" dirty="0"/>
          </a:p>
          <a:p>
            <a:endParaRPr lang="it-IT" dirty="0"/>
          </a:p>
        </p:txBody>
      </p:sp>
      <p:pic>
        <p:nvPicPr>
          <p:cNvPr id="7" name="Immagine 6" descr="Immagine che contiene testo, schermata, Carattere&#10;&#10;Il contenuto generato dall'IA potrebbe non essere corretto.">
            <a:extLst>
              <a:ext uri="{FF2B5EF4-FFF2-40B4-BE49-F238E27FC236}">
                <a16:creationId xmlns:a16="http://schemas.microsoft.com/office/drawing/2014/main" id="{BC04E91A-990E-3A20-EEFC-DEFFE5BDCC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20" y="3680103"/>
            <a:ext cx="4566360" cy="778162"/>
          </a:xfrm>
          <a:prstGeom prst="rect">
            <a:avLst/>
          </a:prstGeom>
        </p:spPr>
      </p:pic>
      <p:pic>
        <p:nvPicPr>
          <p:cNvPr id="8" name="Immagine 7" descr="Immagine che contiene testo, schermata, Carattere&#10;&#10;Il contenuto generato dall'IA potrebbe non essere corretto.">
            <a:extLst>
              <a:ext uri="{FF2B5EF4-FFF2-40B4-BE49-F238E27FC236}">
                <a16:creationId xmlns:a16="http://schemas.microsoft.com/office/drawing/2014/main" id="{EE2AB74E-AE94-77F0-AE59-D0F2589117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76511" y="4613770"/>
            <a:ext cx="3904309" cy="2014925"/>
          </a:xfrm>
          <a:prstGeom prst="rect">
            <a:avLst/>
          </a:prstGeom>
        </p:spPr>
      </p:pic>
    </p:spTree>
    <p:extLst>
      <p:ext uri="{BB962C8B-B14F-4D97-AF65-F5344CB8AC3E}">
        <p14:creationId xmlns:p14="http://schemas.microsoft.com/office/powerpoint/2010/main" val="165616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 calcmode="lin" valueType="num">
                                      <p:cBhvr additive="base">
                                        <p:cTn id="18"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 calcmode="lin" valueType="num">
                                      <p:cBhvr additive="base">
                                        <p:cTn id="24"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3">
                                            <p:txEl>
                                              <p:pRg st="3" end="3"/>
                                            </p:txEl>
                                          </p:spTgt>
                                        </p:tgtEl>
                                        <p:attrNameLst>
                                          <p:attrName>style.visibility</p:attrName>
                                        </p:attrNameLst>
                                      </p:cBhvr>
                                      <p:to>
                                        <p:strVal val="visible"/>
                                      </p:to>
                                    </p:set>
                                    <p:anim calcmode="lin" valueType="num">
                                      <p:cBhvr additive="base">
                                        <p:cTn id="30"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2" presetClass="entr" presetSubtype="4" fill="hold" grpId="0" nodeType="clickEffect">
                                  <p:stCondLst>
                                    <p:cond delay="0"/>
                                  </p:stCondLst>
                                  <p:childTnLst>
                                    <p:set>
                                      <p:cBhvr>
                                        <p:cTn id="35" dur="1" fill="hold">
                                          <p:stCondLst>
                                            <p:cond delay="0"/>
                                          </p:stCondLst>
                                        </p:cTn>
                                        <p:tgtEl>
                                          <p:spTgt spid="3">
                                            <p:txEl>
                                              <p:pRg st="4" end="4"/>
                                            </p:txEl>
                                          </p:spTgt>
                                        </p:tgtEl>
                                        <p:attrNameLst>
                                          <p:attrName>style.visibility</p:attrName>
                                        </p:attrNameLst>
                                      </p:cBhvr>
                                      <p:to>
                                        <p:strVal val="visible"/>
                                      </p:to>
                                    </p:set>
                                    <p:anim calcmode="lin" valueType="num">
                                      <p:cBhvr additive="base">
                                        <p:cTn id="36"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7"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grpId="0" nodeType="clickEffect">
                                  <p:stCondLst>
                                    <p:cond delay="0"/>
                                  </p:stCondLst>
                                  <p:childTnLst>
                                    <p:set>
                                      <p:cBhvr>
                                        <p:cTn id="41" dur="1" fill="hold">
                                          <p:stCondLst>
                                            <p:cond delay="0"/>
                                          </p:stCondLst>
                                        </p:cTn>
                                        <p:tgtEl>
                                          <p:spTgt spid="4"/>
                                        </p:tgtEl>
                                        <p:attrNameLst>
                                          <p:attrName>style.visibility</p:attrName>
                                        </p:attrNameLst>
                                      </p:cBhvr>
                                      <p:to>
                                        <p:strVal val="visible"/>
                                      </p:to>
                                    </p:set>
                                    <p:anim calcmode="lin" valueType="num">
                                      <p:cBhvr additive="base">
                                        <p:cTn id="42" dur="500" fill="hold"/>
                                        <p:tgtEl>
                                          <p:spTgt spid="4"/>
                                        </p:tgtEl>
                                        <p:attrNameLst>
                                          <p:attrName>ppt_x</p:attrName>
                                        </p:attrNameLst>
                                      </p:cBhvr>
                                      <p:tavLst>
                                        <p:tav tm="0">
                                          <p:val>
                                            <p:strVal val="#ppt_x"/>
                                          </p:val>
                                        </p:tav>
                                        <p:tav tm="100000">
                                          <p:val>
                                            <p:strVal val="#ppt_x"/>
                                          </p:val>
                                        </p:tav>
                                      </p:tavLst>
                                    </p:anim>
                                    <p:anim calcmode="lin" valueType="num">
                                      <p:cBhvr additive="base">
                                        <p:cTn id="4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2" presetClass="entr" presetSubtype="4" fill="hold" grpId="0" nodeType="clickEffect">
                                  <p:stCondLst>
                                    <p:cond delay="0"/>
                                  </p:stCondLst>
                                  <p:childTnLst>
                                    <p:set>
                                      <p:cBhvr>
                                        <p:cTn id="47" dur="1" fill="hold">
                                          <p:stCondLst>
                                            <p:cond delay="0"/>
                                          </p:stCondLst>
                                        </p:cTn>
                                        <p:tgtEl>
                                          <p:spTgt spid="5"/>
                                        </p:tgtEl>
                                        <p:attrNameLst>
                                          <p:attrName>style.visibility</p:attrName>
                                        </p:attrNameLst>
                                      </p:cBhvr>
                                      <p:to>
                                        <p:strVal val="visible"/>
                                      </p:to>
                                    </p:set>
                                    <p:anim calcmode="lin" valueType="num">
                                      <p:cBhvr additive="base">
                                        <p:cTn id="48" dur="500" fill="hold"/>
                                        <p:tgtEl>
                                          <p:spTgt spid="5"/>
                                        </p:tgtEl>
                                        <p:attrNameLst>
                                          <p:attrName>ppt_x</p:attrName>
                                        </p:attrNameLst>
                                      </p:cBhvr>
                                      <p:tavLst>
                                        <p:tav tm="0">
                                          <p:val>
                                            <p:strVal val="#ppt_x"/>
                                          </p:val>
                                        </p:tav>
                                        <p:tav tm="100000">
                                          <p:val>
                                            <p:strVal val="#ppt_x"/>
                                          </p:val>
                                        </p:tav>
                                      </p:tavLst>
                                    </p:anim>
                                    <p:anim calcmode="lin" valueType="num">
                                      <p:cBhvr additive="base">
                                        <p:cTn id="4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2" presetID="22" presetClass="entr" presetSubtype="4" fill="hold" nodeType="clickEffect">
                                  <p:stCondLst>
                                    <p:cond delay="0"/>
                                  </p:stCondLst>
                                  <p:childTnLst>
                                    <p:set>
                                      <p:cBhvr>
                                        <p:cTn id="53" dur="1" fill="hold">
                                          <p:stCondLst>
                                            <p:cond delay="0"/>
                                          </p:stCondLst>
                                        </p:cTn>
                                        <p:tgtEl>
                                          <p:spTgt spid="7"/>
                                        </p:tgtEl>
                                        <p:attrNameLst>
                                          <p:attrName>style.visibility</p:attrName>
                                        </p:attrNameLst>
                                      </p:cBhvr>
                                      <p:to>
                                        <p:strVal val="visible"/>
                                      </p:to>
                                    </p:set>
                                    <p:animEffect transition="in" filter="wipe(down)">
                                      <p:cBhvr>
                                        <p:cTn id="54" dur="500"/>
                                        <p:tgtEl>
                                          <p:spTgt spid="7"/>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4" fill="hold" nodeType="clickEffect">
                                  <p:stCondLst>
                                    <p:cond delay="0"/>
                                  </p:stCondLst>
                                  <p:childTnLst>
                                    <p:set>
                                      <p:cBhvr>
                                        <p:cTn id="58" dur="1" fill="hold">
                                          <p:stCondLst>
                                            <p:cond delay="0"/>
                                          </p:stCondLst>
                                        </p:cTn>
                                        <p:tgtEl>
                                          <p:spTgt spid="8"/>
                                        </p:tgtEl>
                                        <p:attrNameLst>
                                          <p:attrName>style.visibility</p:attrName>
                                        </p:attrNameLst>
                                      </p:cBhvr>
                                      <p:to>
                                        <p:strVal val="visible"/>
                                      </p:to>
                                    </p:set>
                                    <p:animEffect transition="in" filter="wipe(down)">
                                      <p:cBhvr>
                                        <p:cTn id="5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p:bldP spid="5"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86EECD0-1DAE-BA3C-16E2-0BD58650F997}"/>
              </a:ext>
            </a:extLst>
          </p:cNvPr>
          <p:cNvSpPr>
            <a:spLocks noGrp="1"/>
          </p:cNvSpPr>
          <p:nvPr>
            <p:ph type="title"/>
          </p:nvPr>
        </p:nvSpPr>
        <p:spPr>
          <a:xfrm>
            <a:off x="838200" y="18255"/>
            <a:ext cx="10515600" cy="1325563"/>
          </a:xfrm>
        </p:spPr>
        <p:txBody>
          <a:bodyPr/>
          <a:lstStyle/>
          <a:p>
            <a:pPr algn="ctr"/>
            <a:r>
              <a:rPr lang="it-IT" b="1" dirty="0" err="1">
                <a:effectLst>
                  <a:outerShdw blurRad="38100" dist="38100" dir="2700000" algn="tl">
                    <a:srgbClr val="000000">
                      <a:alpha val="43137"/>
                    </a:srgbClr>
                  </a:outerShdw>
                </a:effectLst>
              </a:rPr>
              <a:t>Transform</a:t>
            </a:r>
            <a:r>
              <a:rPr lang="it-IT" b="1" dirty="0">
                <a:effectLst>
                  <a:outerShdw blurRad="38100" dist="38100" dir="2700000" algn="tl">
                    <a:srgbClr val="000000">
                      <a:alpha val="43137"/>
                    </a:srgbClr>
                  </a:outerShdw>
                </a:effectLst>
              </a:rPr>
              <a:t> </a:t>
            </a:r>
            <a:r>
              <a:rPr lang="it-IT" b="1" dirty="0" err="1">
                <a:effectLst>
                  <a:outerShdw blurRad="38100" dist="38100" dir="2700000" algn="tl">
                    <a:srgbClr val="000000">
                      <a:alpha val="43137"/>
                    </a:srgbClr>
                  </a:outerShdw>
                </a:effectLst>
              </a:rPr>
              <a:t>Phase</a:t>
            </a:r>
            <a:r>
              <a:rPr lang="it-IT" b="1" dirty="0">
                <a:effectLst>
                  <a:outerShdw blurRad="38100" dist="38100" dir="2700000" algn="tl">
                    <a:srgbClr val="000000">
                      <a:alpha val="43137"/>
                    </a:srgbClr>
                  </a:outerShdw>
                </a:effectLst>
              </a:rPr>
              <a:t> </a:t>
            </a:r>
          </a:p>
        </p:txBody>
      </p:sp>
      <p:sp>
        <p:nvSpPr>
          <p:cNvPr id="4" name="CasellaDiTesto 3">
            <a:extLst>
              <a:ext uri="{FF2B5EF4-FFF2-40B4-BE49-F238E27FC236}">
                <a16:creationId xmlns:a16="http://schemas.microsoft.com/office/drawing/2014/main" id="{D5D79330-ED19-B6C4-371F-0908D31F8DE4}"/>
              </a:ext>
            </a:extLst>
          </p:cNvPr>
          <p:cNvSpPr txBox="1"/>
          <p:nvPr/>
        </p:nvSpPr>
        <p:spPr>
          <a:xfrm>
            <a:off x="0" y="1111250"/>
            <a:ext cx="5549900" cy="1723549"/>
          </a:xfrm>
          <a:prstGeom prst="rect">
            <a:avLst/>
          </a:prstGeom>
          <a:noFill/>
        </p:spPr>
        <p:txBody>
          <a:bodyPr wrap="square" rtlCol="0">
            <a:spAutoFit/>
          </a:bodyPr>
          <a:lstStyle/>
          <a:p>
            <a:r>
              <a:rPr lang="it-IT" sz="2000" b="1" dirty="0" err="1"/>
              <a:t>Competition</a:t>
            </a:r>
            <a:r>
              <a:rPr lang="it-IT" sz="2000" b="1" dirty="0"/>
              <a:t> Name Mapping</a:t>
            </a:r>
          </a:p>
          <a:p>
            <a:pPr marL="285750" lvl="0" indent="-285750">
              <a:buFont typeface="Arial" panose="020B0604020202020204" pitchFamily="34" charset="0"/>
              <a:buChar char="•"/>
            </a:pPr>
            <a:r>
              <a:rPr lang="it-IT" sz="1200" b="1" dirty="0" err="1"/>
              <a:t>Mapped</a:t>
            </a:r>
            <a:r>
              <a:rPr lang="it-IT" sz="1200" dirty="0"/>
              <a:t> verbose </a:t>
            </a:r>
            <a:r>
              <a:rPr lang="it-IT" sz="1200" dirty="0" err="1"/>
              <a:t>competition</a:t>
            </a:r>
            <a:r>
              <a:rPr lang="it-IT" sz="1200" dirty="0"/>
              <a:t> names to </a:t>
            </a:r>
            <a:r>
              <a:rPr lang="it-IT" sz="1200" dirty="0" err="1"/>
              <a:t>standardized</a:t>
            </a:r>
            <a:r>
              <a:rPr lang="it-IT" sz="1200" dirty="0"/>
              <a:t> </a:t>
            </a:r>
            <a:r>
              <a:rPr lang="it-IT" sz="1200" dirty="0" err="1"/>
              <a:t>versions</a:t>
            </a:r>
            <a:r>
              <a:rPr lang="it-IT" sz="1200" dirty="0"/>
              <a:t> </a:t>
            </a:r>
            <a:r>
              <a:rPr lang="it-IT" sz="1200" dirty="0" err="1"/>
              <a:t>using</a:t>
            </a:r>
            <a:r>
              <a:rPr lang="it-IT" sz="1200" dirty="0"/>
              <a:t> a </a:t>
            </a:r>
            <a:r>
              <a:rPr lang="it-IT" sz="1200" dirty="0" err="1"/>
              <a:t>manual</a:t>
            </a:r>
            <a:r>
              <a:rPr lang="it-IT" sz="1200" dirty="0"/>
              <a:t> </a:t>
            </a:r>
            <a:r>
              <a:rPr lang="it-IT" sz="1200" dirty="0" err="1"/>
              <a:t>dictionary</a:t>
            </a:r>
            <a:r>
              <a:rPr lang="it-IT" sz="1200" dirty="0"/>
              <a:t>.</a:t>
            </a:r>
          </a:p>
          <a:p>
            <a:pPr marL="285750" lvl="0" indent="-285750">
              <a:buFont typeface="Arial" panose="020B0604020202020204" pitchFamily="34" charset="0"/>
              <a:buChar char="•"/>
            </a:pPr>
            <a:r>
              <a:rPr lang="it-IT" sz="1200" b="1" dirty="0" err="1"/>
              <a:t>Dropped</a:t>
            </a:r>
            <a:r>
              <a:rPr lang="it-IT" sz="1200" dirty="0"/>
              <a:t> </a:t>
            </a:r>
            <a:r>
              <a:rPr lang="it-IT" sz="1200" dirty="0" err="1"/>
              <a:t>rows</a:t>
            </a:r>
            <a:r>
              <a:rPr lang="it-IT" sz="1200" dirty="0"/>
              <a:t> for </a:t>
            </a:r>
            <a:r>
              <a:rPr lang="it-IT" sz="1200" dirty="0" err="1"/>
              <a:t>competitions</a:t>
            </a:r>
            <a:r>
              <a:rPr lang="it-IT" sz="1200" dirty="0"/>
              <a:t> </a:t>
            </a:r>
            <a:r>
              <a:rPr lang="it-IT" sz="1200" dirty="0" err="1"/>
              <a:t>outside</a:t>
            </a:r>
            <a:r>
              <a:rPr lang="it-IT" sz="1200" dirty="0"/>
              <a:t> the top 5 </a:t>
            </a:r>
            <a:r>
              <a:rPr lang="it-IT" sz="1200" dirty="0" err="1"/>
              <a:t>leagues</a:t>
            </a:r>
            <a:r>
              <a:rPr lang="it-IT" sz="1200" dirty="0"/>
              <a:t> (Premier League, Serie A, La Liga, Bundesliga, </a:t>
            </a:r>
            <a:r>
              <a:rPr lang="it-IT" sz="1200" dirty="0" err="1"/>
              <a:t>Ligue</a:t>
            </a:r>
            <a:r>
              <a:rPr lang="it-IT" sz="1200" dirty="0"/>
              <a:t> 1).</a:t>
            </a:r>
          </a:p>
          <a:p>
            <a:endParaRPr lang="it-IT" sz="2000" dirty="0"/>
          </a:p>
          <a:p>
            <a:endParaRPr lang="it-IT" dirty="0"/>
          </a:p>
        </p:txBody>
      </p:sp>
      <p:sp>
        <p:nvSpPr>
          <p:cNvPr id="5" name="CasellaDiTesto 4">
            <a:extLst>
              <a:ext uri="{FF2B5EF4-FFF2-40B4-BE49-F238E27FC236}">
                <a16:creationId xmlns:a16="http://schemas.microsoft.com/office/drawing/2014/main" id="{15FAC422-0D5B-3CFF-72E3-C0182A87D7B8}"/>
              </a:ext>
            </a:extLst>
          </p:cNvPr>
          <p:cNvSpPr txBox="1"/>
          <p:nvPr/>
        </p:nvSpPr>
        <p:spPr>
          <a:xfrm>
            <a:off x="6096000" y="2657892"/>
            <a:ext cx="6254750" cy="2123658"/>
          </a:xfrm>
          <a:prstGeom prst="rect">
            <a:avLst/>
          </a:prstGeom>
          <a:noFill/>
        </p:spPr>
        <p:txBody>
          <a:bodyPr wrap="square" rtlCol="0">
            <a:spAutoFit/>
          </a:bodyPr>
          <a:lstStyle/>
          <a:p>
            <a:r>
              <a:rPr lang="it-IT" sz="2000" b="1" dirty="0" err="1"/>
              <a:t>Enriching</a:t>
            </a:r>
            <a:r>
              <a:rPr lang="it-IT" sz="2000" b="1" dirty="0"/>
              <a:t> Club-</a:t>
            </a:r>
            <a:r>
              <a:rPr lang="it-IT" sz="2000" b="1" dirty="0" err="1"/>
              <a:t>Year</a:t>
            </a:r>
            <a:r>
              <a:rPr lang="it-IT" sz="2000" b="1" dirty="0"/>
              <a:t> Information</a:t>
            </a:r>
          </a:p>
          <a:p>
            <a:pPr marL="285750" lvl="0" indent="-285750">
              <a:buFont typeface="Arial" panose="020B0604020202020204" pitchFamily="34" charset="0"/>
              <a:buChar char="•"/>
            </a:pPr>
            <a:r>
              <a:rPr lang="it-IT" sz="1200" dirty="0"/>
              <a:t>In dataset 2, </a:t>
            </a:r>
            <a:r>
              <a:rPr lang="it-IT" sz="1200" b="1" dirty="0" err="1"/>
              <a:t>added</a:t>
            </a:r>
            <a:r>
              <a:rPr lang="it-IT" sz="1200" dirty="0"/>
              <a:t> a </a:t>
            </a:r>
            <a:r>
              <a:rPr lang="it-IT" sz="1200" dirty="0" err="1"/>
              <a:t>club_in_year</a:t>
            </a:r>
            <a:r>
              <a:rPr lang="it-IT" sz="1200" dirty="0"/>
              <a:t> </a:t>
            </a:r>
            <a:r>
              <a:rPr lang="it-IT" sz="1200" dirty="0" err="1"/>
              <a:t>column</a:t>
            </a:r>
            <a:r>
              <a:rPr lang="it-IT" sz="1200" dirty="0"/>
              <a:t> by:</a:t>
            </a:r>
          </a:p>
          <a:p>
            <a:pPr marL="742950" lvl="1" indent="-285750">
              <a:buFont typeface="Wingdings" panose="05000000000000000000" pitchFamily="2" charset="2"/>
              <a:buChar char="Ø"/>
            </a:pPr>
            <a:r>
              <a:rPr lang="it-IT" sz="1200" dirty="0" err="1"/>
              <a:t>Searching</a:t>
            </a:r>
            <a:r>
              <a:rPr lang="it-IT" sz="1200" dirty="0"/>
              <a:t> </a:t>
            </a:r>
            <a:r>
              <a:rPr lang="it-IT" sz="1200" dirty="0" err="1"/>
              <a:t>each</a:t>
            </a:r>
            <a:r>
              <a:rPr lang="it-IT" sz="1200" dirty="0"/>
              <a:t> dataset_1 file for matching (</a:t>
            </a:r>
            <a:r>
              <a:rPr lang="it-IT" sz="1200" dirty="0" err="1"/>
              <a:t>player_name</a:t>
            </a:r>
            <a:r>
              <a:rPr lang="it-IT" sz="1200" dirty="0"/>
              <a:t>, season).</a:t>
            </a:r>
          </a:p>
          <a:p>
            <a:pPr marL="742950" lvl="1" indent="-285750">
              <a:buFont typeface="Wingdings" panose="05000000000000000000" pitchFamily="2" charset="2"/>
              <a:buChar char="Ø"/>
            </a:pPr>
            <a:endParaRPr lang="it-IT" sz="1200" dirty="0"/>
          </a:p>
          <a:p>
            <a:pPr marL="742950" lvl="1" indent="-285750">
              <a:buFont typeface="Wingdings" panose="05000000000000000000" pitchFamily="2" charset="2"/>
              <a:buChar char="Ø"/>
            </a:pPr>
            <a:r>
              <a:rPr lang="it-IT" sz="1200" dirty="0" err="1"/>
              <a:t>Extracting</a:t>
            </a:r>
            <a:r>
              <a:rPr lang="it-IT" sz="1200" dirty="0"/>
              <a:t> the </a:t>
            </a:r>
            <a:r>
              <a:rPr lang="it-IT" sz="1200" dirty="0" err="1"/>
              <a:t>squad</a:t>
            </a:r>
            <a:r>
              <a:rPr lang="it-IT" sz="1200" dirty="0"/>
              <a:t> (club name) from the </a:t>
            </a:r>
            <a:r>
              <a:rPr lang="it-IT" sz="1200" dirty="0" err="1"/>
              <a:t>year</a:t>
            </a:r>
            <a:r>
              <a:rPr lang="it-IT" sz="1200" dirty="0"/>
              <a:t> of </a:t>
            </a:r>
            <a:r>
              <a:rPr lang="it-IT" sz="1200" dirty="0" err="1"/>
              <a:t>interest</a:t>
            </a:r>
            <a:r>
              <a:rPr lang="it-IT" sz="1200" dirty="0"/>
              <a:t>.</a:t>
            </a:r>
          </a:p>
          <a:p>
            <a:pPr marL="742950" lvl="1" indent="-285750">
              <a:buFont typeface="Wingdings" panose="05000000000000000000" pitchFamily="2" charset="2"/>
              <a:buChar char="Ø"/>
            </a:pPr>
            <a:endParaRPr lang="it-IT" sz="1200" dirty="0"/>
          </a:p>
          <a:p>
            <a:pPr marL="742950" lvl="1" indent="-285750">
              <a:buFont typeface="Wingdings" panose="05000000000000000000" pitchFamily="2" charset="2"/>
              <a:buChar char="Ø"/>
            </a:pPr>
            <a:r>
              <a:rPr lang="it-IT" sz="1200" dirty="0"/>
              <a:t>Using </a:t>
            </a:r>
            <a:r>
              <a:rPr lang="it-IT" sz="1200" dirty="0" err="1"/>
              <a:t>fallback</a:t>
            </a:r>
            <a:r>
              <a:rPr lang="it-IT" sz="1200" dirty="0"/>
              <a:t> to </a:t>
            </a:r>
            <a:r>
              <a:rPr lang="it-IT" sz="1200" dirty="0" err="1"/>
              <a:t>current</a:t>
            </a:r>
            <a:r>
              <a:rPr lang="it-IT" sz="1200" dirty="0"/>
              <a:t> club </a:t>
            </a:r>
            <a:r>
              <a:rPr lang="it-IT" sz="1200" dirty="0" err="1"/>
              <a:t>if</a:t>
            </a:r>
            <a:r>
              <a:rPr lang="it-IT" sz="1200" dirty="0"/>
              <a:t> none </a:t>
            </a:r>
            <a:r>
              <a:rPr lang="it-IT" sz="1200" dirty="0" err="1"/>
              <a:t>was</a:t>
            </a:r>
            <a:r>
              <a:rPr lang="it-IT" sz="1200" dirty="0"/>
              <a:t> </a:t>
            </a:r>
            <a:r>
              <a:rPr lang="it-IT" sz="1200" dirty="0" err="1"/>
              <a:t>found</a:t>
            </a:r>
            <a:r>
              <a:rPr lang="it-IT" sz="1200" dirty="0"/>
              <a:t>.</a:t>
            </a:r>
          </a:p>
          <a:p>
            <a:endParaRPr lang="it-IT" sz="2000" b="1" dirty="0"/>
          </a:p>
          <a:p>
            <a:endParaRPr lang="it-IT" sz="2000" dirty="0"/>
          </a:p>
        </p:txBody>
      </p:sp>
      <p:sp>
        <p:nvSpPr>
          <p:cNvPr id="8" name="CasellaDiTesto 7">
            <a:extLst>
              <a:ext uri="{FF2B5EF4-FFF2-40B4-BE49-F238E27FC236}">
                <a16:creationId xmlns:a16="http://schemas.microsoft.com/office/drawing/2014/main" id="{EE2C2B31-5CCC-993C-34F6-8BA1D33C9FB6}"/>
              </a:ext>
            </a:extLst>
          </p:cNvPr>
          <p:cNvSpPr txBox="1"/>
          <p:nvPr/>
        </p:nvSpPr>
        <p:spPr>
          <a:xfrm>
            <a:off x="0" y="4931142"/>
            <a:ext cx="5549900" cy="1631216"/>
          </a:xfrm>
          <a:prstGeom prst="rect">
            <a:avLst/>
          </a:prstGeom>
          <a:noFill/>
        </p:spPr>
        <p:txBody>
          <a:bodyPr wrap="square" rtlCol="0">
            <a:spAutoFit/>
          </a:bodyPr>
          <a:lstStyle/>
          <a:p>
            <a:r>
              <a:rPr lang="it-IT" sz="2000" b="1" dirty="0"/>
              <a:t>Global </a:t>
            </a:r>
            <a:r>
              <a:rPr lang="it-IT" sz="2000" b="1" dirty="0" err="1"/>
              <a:t>Missing</a:t>
            </a:r>
            <a:r>
              <a:rPr lang="it-IT" sz="2000" b="1" dirty="0"/>
              <a:t> Value </a:t>
            </a:r>
            <a:r>
              <a:rPr lang="it-IT" sz="2000" b="1" dirty="0" err="1"/>
              <a:t>Resolution</a:t>
            </a:r>
            <a:endParaRPr lang="it-IT" sz="2000" b="1" dirty="0"/>
          </a:p>
          <a:p>
            <a:pPr marL="285750" lvl="0" indent="-285750">
              <a:buFont typeface="Arial" panose="020B0604020202020204" pitchFamily="34" charset="0"/>
              <a:buChar char="•"/>
            </a:pPr>
            <a:r>
              <a:rPr lang="it-IT" sz="1200" b="1" dirty="0" err="1"/>
              <a:t>Repaired</a:t>
            </a:r>
            <a:r>
              <a:rPr lang="it-IT" sz="1200" dirty="0"/>
              <a:t> </a:t>
            </a:r>
            <a:r>
              <a:rPr lang="it-IT" sz="1200" dirty="0" err="1"/>
              <a:t>missing</a:t>
            </a:r>
            <a:r>
              <a:rPr lang="it-IT" sz="1200" dirty="0"/>
              <a:t> </a:t>
            </a:r>
            <a:r>
              <a:rPr lang="it-IT" sz="1200" dirty="0" err="1"/>
              <a:t>values</a:t>
            </a:r>
            <a:r>
              <a:rPr lang="it-IT" sz="1200" dirty="0"/>
              <a:t> in key fields (</a:t>
            </a:r>
            <a:r>
              <a:rPr lang="it-IT" sz="1200" dirty="0" err="1"/>
              <a:t>born</a:t>
            </a:r>
            <a:r>
              <a:rPr lang="it-IT" sz="1200" dirty="0"/>
              <a:t>, country, </a:t>
            </a:r>
            <a:r>
              <a:rPr lang="it-IT" sz="1200" dirty="0" err="1"/>
              <a:t>continent</a:t>
            </a:r>
            <a:r>
              <a:rPr lang="it-IT" sz="1200" dirty="0"/>
              <a:t>, </a:t>
            </a:r>
            <a:r>
              <a:rPr lang="it-IT" sz="1200" dirty="0" err="1"/>
              <a:t>nation</a:t>
            </a:r>
            <a:r>
              <a:rPr lang="it-IT" sz="1200" dirty="0"/>
              <a:t>, age) </a:t>
            </a:r>
            <a:r>
              <a:rPr lang="it-IT" sz="1200" dirty="0" err="1"/>
              <a:t>using</a:t>
            </a:r>
            <a:r>
              <a:rPr lang="it-IT" sz="1200" dirty="0"/>
              <a:t>:</a:t>
            </a:r>
          </a:p>
          <a:p>
            <a:pPr marL="742950" lvl="1" indent="-285750">
              <a:buFont typeface="Wingdings" panose="05000000000000000000" pitchFamily="2" charset="2"/>
              <a:buChar char="Ø"/>
            </a:pPr>
            <a:r>
              <a:rPr lang="it-IT" sz="1200" dirty="0" err="1"/>
              <a:t>Secondary</a:t>
            </a:r>
            <a:r>
              <a:rPr lang="it-IT" sz="1200" dirty="0"/>
              <a:t> dataset joins (players.csv)</a:t>
            </a:r>
          </a:p>
          <a:p>
            <a:pPr lvl="1"/>
            <a:r>
              <a:rPr lang="it-IT" sz="1200" dirty="0"/>
              <a:t>Value </a:t>
            </a:r>
            <a:r>
              <a:rPr lang="it-IT" sz="1200" dirty="0" err="1"/>
              <a:t>inference</a:t>
            </a:r>
            <a:r>
              <a:rPr lang="it-IT" sz="1200" dirty="0"/>
              <a:t> from </a:t>
            </a:r>
            <a:r>
              <a:rPr lang="it-IT" sz="1200" dirty="0" err="1"/>
              <a:t>same</a:t>
            </a:r>
            <a:r>
              <a:rPr lang="it-IT" sz="1200" dirty="0"/>
              <a:t>-country </a:t>
            </a:r>
            <a:r>
              <a:rPr lang="it-IT" sz="1200" dirty="0" err="1"/>
              <a:t>rows</a:t>
            </a:r>
            <a:r>
              <a:rPr lang="it-IT" sz="1200" dirty="0"/>
              <a:t> in </a:t>
            </a:r>
            <a:r>
              <a:rPr lang="it-IT" sz="1200" dirty="0" err="1"/>
              <a:t>other</a:t>
            </a:r>
            <a:r>
              <a:rPr lang="it-IT" sz="1200" dirty="0"/>
              <a:t> files.</a:t>
            </a:r>
          </a:p>
          <a:p>
            <a:pPr marL="742950" lvl="1" indent="-285750">
              <a:buFont typeface="Wingdings" panose="05000000000000000000" pitchFamily="2" charset="2"/>
              <a:buChar char="Ø"/>
            </a:pPr>
            <a:r>
              <a:rPr lang="it-IT" sz="1200" dirty="0" err="1"/>
              <a:t>Computed</a:t>
            </a:r>
            <a:r>
              <a:rPr lang="it-IT" sz="1200" dirty="0"/>
              <a:t> age </a:t>
            </a:r>
            <a:r>
              <a:rPr lang="it-IT" sz="1200" dirty="0" err="1"/>
              <a:t>using</a:t>
            </a:r>
            <a:r>
              <a:rPr lang="it-IT" sz="1200" dirty="0"/>
              <a:t> season - </a:t>
            </a:r>
            <a:r>
              <a:rPr lang="it-IT" sz="1200" dirty="0" err="1"/>
              <a:t>born</a:t>
            </a:r>
            <a:r>
              <a:rPr lang="it-IT" sz="1200" dirty="0"/>
              <a:t>.</a:t>
            </a:r>
          </a:p>
          <a:p>
            <a:endParaRPr lang="it-IT" sz="2000" b="1" dirty="0"/>
          </a:p>
        </p:txBody>
      </p:sp>
      <p:pic>
        <p:nvPicPr>
          <p:cNvPr id="6" name="Immagine 5" descr="Immagine che contiene testo, schermata, Carattere, numero&#10;&#10;Il contenuto generato dall'IA potrebbe non essere corretto.">
            <a:extLst>
              <a:ext uri="{FF2B5EF4-FFF2-40B4-BE49-F238E27FC236}">
                <a16:creationId xmlns:a16="http://schemas.microsoft.com/office/drawing/2014/main" id="{DBBC9471-C5CD-9515-97F0-2D6FB99A5D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10300" y="1111250"/>
            <a:ext cx="3534268" cy="1295581"/>
          </a:xfrm>
          <a:prstGeom prst="rect">
            <a:avLst/>
          </a:prstGeom>
        </p:spPr>
      </p:pic>
      <p:pic>
        <p:nvPicPr>
          <p:cNvPr id="7" name="Immagine 6" descr="Immagine che contiene testo, schermata, Carattere&#10;&#10;Il contenuto generato dall'IA potrebbe non essere corretto.">
            <a:extLst>
              <a:ext uri="{FF2B5EF4-FFF2-40B4-BE49-F238E27FC236}">
                <a16:creationId xmlns:a16="http://schemas.microsoft.com/office/drawing/2014/main" id="{C2C73E9D-5C0E-9997-0944-397A737D04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278" y="2525498"/>
            <a:ext cx="3787964" cy="1983002"/>
          </a:xfrm>
          <a:prstGeom prst="rect">
            <a:avLst/>
          </a:prstGeom>
        </p:spPr>
      </p:pic>
    </p:spTree>
    <p:extLst>
      <p:ext uri="{BB962C8B-B14F-4D97-AF65-F5344CB8AC3E}">
        <p14:creationId xmlns:p14="http://schemas.microsoft.com/office/powerpoint/2010/main" val="2607530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2" presetClass="entr" presetSubtype="4"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wipe(down)">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additive="base">
                                        <p:cTn id="23" dur="500" fill="hold"/>
                                        <p:tgtEl>
                                          <p:spTgt spid="5"/>
                                        </p:tgtEl>
                                        <p:attrNameLst>
                                          <p:attrName>ppt_x</p:attrName>
                                        </p:attrNameLst>
                                      </p:cBhvr>
                                      <p:tavLst>
                                        <p:tav tm="0">
                                          <p:val>
                                            <p:strVal val="#ppt_x"/>
                                          </p:val>
                                        </p:tav>
                                        <p:tav tm="100000">
                                          <p:val>
                                            <p:strVal val="#ppt_x"/>
                                          </p:val>
                                        </p:tav>
                                      </p:tavLst>
                                    </p:anim>
                                    <p:anim calcmode="lin" valueType="num">
                                      <p:cBhvr additive="base">
                                        <p:cTn id="2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nodeType="click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wipe(down)">
                                      <p:cBhvr>
                                        <p:cTn id="29" dur="50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2" presetClass="entr" presetSubtype="4" fill="hold" grpId="0" nodeType="clickEffect">
                                  <p:stCondLst>
                                    <p:cond delay="0"/>
                                  </p:stCondLst>
                                  <p:childTnLst>
                                    <p:set>
                                      <p:cBhvr>
                                        <p:cTn id="33" dur="1" fill="hold">
                                          <p:stCondLst>
                                            <p:cond delay="0"/>
                                          </p:stCondLst>
                                        </p:cTn>
                                        <p:tgtEl>
                                          <p:spTgt spid="8"/>
                                        </p:tgtEl>
                                        <p:attrNameLst>
                                          <p:attrName>style.visibility</p:attrName>
                                        </p:attrNameLst>
                                      </p:cBhvr>
                                      <p:to>
                                        <p:strVal val="visible"/>
                                      </p:to>
                                    </p:set>
                                    <p:anim calcmode="lin" valueType="num">
                                      <p:cBhvr additive="base">
                                        <p:cTn id="34" dur="500" fill="hold"/>
                                        <p:tgtEl>
                                          <p:spTgt spid="8"/>
                                        </p:tgtEl>
                                        <p:attrNameLst>
                                          <p:attrName>ppt_x</p:attrName>
                                        </p:attrNameLst>
                                      </p:cBhvr>
                                      <p:tavLst>
                                        <p:tav tm="0">
                                          <p:val>
                                            <p:strVal val="#ppt_x"/>
                                          </p:val>
                                        </p:tav>
                                        <p:tav tm="100000">
                                          <p:val>
                                            <p:strVal val="#ppt_x"/>
                                          </p:val>
                                        </p:tav>
                                      </p:tavLst>
                                    </p:anim>
                                    <p:anim calcmode="lin" valueType="num">
                                      <p:cBhvr additive="base">
                                        <p:cTn id="35"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BE3606D-86F9-B24C-1969-D2317056BCF9}"/>
              </a:ext>
            </a:extLst>
          </p:cNvPr>
          <p:cNvSpPr>
            <a:spLocks noGrp="1"/>
          </p:cNvSpPr>
          <p:nvPr>
            <p:ph type="title"/>
          </p:nvPr>
        </p:nvSpPr>
        <p:spPr>
          <a:xfrm>
            <a:off x="838200" y="18255"/>
            <a:ext cx="10515600" cy="1325563"/>
          </a:xfrm>
        </p:spPr>
        <p:txBody>
          <a:bodyPr/>
          <a:lstStyle/>
          <a:p>
            <a:pPr algn="ctr"/>
            <a:r>
              <a:rPr lang="it-IT" b="1" dirty="0" err="1">
                <a:effectLst>
                  <a:outerShdw blurRad="38100" dist="38100" dir="2700000" algn="tl">
                    <a:srgbClr val="000000">
                      <a:alpha val="43137"/>
                    </a:srgbClr>
                  </a:outerShdw>
                </a:effectLst>
              </a:rPr>
              <a:t>Preparation</a:t>
            </a:r>
            <a:r>
              <a:rPr lang="it-IT" b="1" dirty="0">
                <a:effectLst>
                  <a:outerShdw blurRad="38100" dist="38100" dir="2700000" algn="tl">
                    <a:srgbClr val="000000">
                      <a:alpha val="43137"/>
                    </a:srgbClr>
                  </a:outerShdw>
                </a:effectLst>
              </a:rPr>
              <a:t> and Load </a:t>
            </a:r>
            <a:r>
              <a:rPr lang="it-IT" b="1" dirty="0" err="1">
                <a:effectLst>
                  <a:outerShdw blurRad="38100" dist="38100" dir="2700000" algn="tl">
                    <a:srgbClr val="000000">
                      <a:alpha val="43137"/>
                    </a:srgbClr>
                  </a:outerShdw>
                </a:effectLst>
              </a:rPr>
              <a:t>Phase</a:t>
            </a:r>
            <a:endParaRPr lang="it-IT" b="1" dirty="0">
              <a:effectLst>
                <a:outerShdw blurRad="38100" dist="38100" dir="2700000" algn="tl">
                  <a:srgbClr val="000000">
                    <a:alpha val="43137"/>
                  </a:srgbClr>
                </a:outerShdw>
              </a:effectLst>
            </a:endParaRPr>
          </a:p>
        </p:txBody>
      </p:sp>
      <p:sp>
        <p:nvSpPr>
          <p:cNvPr id="3" name="Segnaposto contenuto 2">
            <a:extLst>
              <a:ext uri="{FF2B5EF4-FFF2-40B4-BE49-F238E27FC236}">
                <a16:creationId xmlns:a16="http://schemas.microsoft.com/office/drawing/2014/main" id="{7755192C-54AC-0E9D-F853-DF16CD05CD0D}"/>
              </a:ext>
            </a:extLst>
          </p:cNvPr>
          <p:cNvSpPr>
            <a:spLocks noGrp="1"/>
          </p:cNvSpPr>
          <p:nvPr>
            <p:ph idx="1"/>
          </p:nvPr>
        </p:nvSpPr>
        <p:spPr>
          <a:xfrm>
            <a:off x="0" y="1146175"/>
            <a:ext cx="5581650" cy="1546225"/>
          </a:xfrm>
        </p:spPr>
        <p:txBody>
          <a:bodyPr>
            <a:normAutofit/>
          </a:bodyPr>
          <a:lstStyle/>
          <a:p>
            <a:pPr marL="0" indent="0">
              <a:buNone/>
            </a:pPr>
            <a:r>
              <a:rPr lang="it-IT" sz="2000" b="1" dirty="0"/>
              <a:t>Global </a:t>
            </a:r>
            <a:r>
              <a:rPr lang="it-IT" sz="2000" b="1" dirty="0" err="1"/>
              <a:t>Pair</a:t>
            </a:r>
            <a:r>
              <a:rPr lang="it-IT" sz="2000" b="1" dirty="0"/>
              <a:t> Scoring</a:t>
            </a:r>
          </a:p>
          <a:p>
            <a:pPr lvl="0"/>
            <a:r>
              <a:rPr lang="it-IT" sz="1200" b="1" dirty="0" err="1"/>
              <a:t>Computed</a:t>
            </a:r>
            <a:r>
              <a:rPr lang="it-IT" sz="1200" dirty="0"/>
              <a:t> (player, season) </a:t>
            </a:r>
            <a:r>
              <a:rPr lang="it-IT" sz="1200" dirty="0" err="1"/>
              <a:t>pairs</a:t>
            </a:r>
            <a:r>
              <a:rPr lang="it-IT" sz="1200" dirty="0"/>
              <a:t> </a:t>
            </a:r>
            <a:r>
              <a:rPr lang="it-IT" sz="1200" dirty="0" err="1"/>
              <a:t>present</a:t>
            </a:r>
            <a:r>
              <a:rPr lang="it-IT" sz="1200" dirty="0"/>
              <a:t> in </a:t>
            </a:r>
            <a:r>
              <a:rPr lang="it-IT" sz="1200" b="1" dirty="0" err="1"/>
              <a:t>all</a:t>
            </a:r>
            <a:r>
              <a:rPr lang="it-IT" sz="1200" dirty="0"/>
              <a:t> </a:t>
            </a:r>
            <a:r>
              <a:rPr lang="it-IT" sz="1200" dirty="0" err="1"/>
              <a:t>stats</a:t>
            </a:r>
            <a:r>
              <a:rPr lang="it-IT" sz="1200" dirty="0"/>
              <a:t> files </a:t>
            </a:r>
            <a:r>
              <a:rPr lang="it-IT" sz="1200" b="1" dirty="0"/>
              <a:t>and</a:t>
            </a:r>
            <a:r>
              <a:rPr lang="it-IT" sz="1200" dirty="0"/>
              <a:t> the </a:t>
            </a:r>
            <a:r>
              <a:rPr lang="it-IT" sz="1200" dirty="0" err="1"/>
              <a:t>valuation</a:t>
            </a:r>
            <a:r>
              <a:rPr lang="it-IT" sz="1200" dirty="0"/>
              <a:t> file.</a:t>
            </a:r>
          </a:p>
          <a:p>
            <a:pPr lvl="0"/>
            <a:r>
              <a:rPr lang="it-IT" sz="1200" b="1" dirty="0" err="1"/>
              <a:t>Counted</a:t>
            </a:r>
            <a:r>
              <a:rPr lang="it-IT" sz="1200" dirty="0"/>
              <a:t> </a:t>
            </a:r>
            <a:r>
              <a:rPr lang="it-IT" sz="1200" dirty="0" err="1"/>
              <a:t>total</a:t>
            </a:r>
            <a:r>
              <a:rPr lang="it-IT" sz="1200" dirty="0"/>
              <a:t> </a:t>
            </a:r>
            <a:r>
              <a:rPr lang="it-IT" sz="1200" dirty="0" err="1"/>
              <a:t>missing</a:t>
            </a:r>
            <a:r>
              <a:rPr lang="it-IT" sz="1200" dirty="0"/>
              <a:t> </a:t>
            </a:r>
            <a:r>
              <a:rPr lang="it-IT" sz="1200" dirty="0" err="1"/>
              <a:t>cells</a:t>
            </a:r>
            <a:r>
              <a:rPr lang="it-IT" sz="1200" dirty="0"/>
              <a:t> </a:t>
            </a:r>
            <a:r>
              <a:rPr lang="it-IT" sz="1200" dirty="0" err="1"/>
              <a:t>across</a:t>
            </a:r>
            <a:r>
              <a:rPr lang="it-IT" sz="1200" dirty="0"/>
              <a:t> </a:t>
            </a:r>
            <a:r>
              <a:rPr lang="it-IT" sz="1200" dirty="0" err="1"/>
              <a:t>all</a:t>
            </a:r>
            <a:r>
              <a:rPr lang="it-IT" sz="1200" dirty="0"/>
              <a:t> </a:t>
            </a:r>
            <a:r>
              <a:rPr lang="it-IT" sz="1200" dirty="0" err="1"/>
              <a:t>stats</a:t>
            </a:r>
            <a:r>
              <a:rPr lang="it-IT" sz="1200" dirty="0"/>
              <a:t> files </a:t>
            </a:r>
            <a:r>
              <a:rPr lang="it-IT" sz="1200" b="1" dirty="0"/>
              <a:t>per </a:t>
            </a:r>
            <a:r>
              <a:rPr lang="it-IT" sz="1200" b="1" dirty="0" err="1"/>
              <a:t>pair</a:t>
            </a:r>
            <a:r>
              <a:rPr lang="it-IT" sz="1200" dirty="0"/>
              <a:t>.</a:t>
            </a:r>
          </a:p>
          <a:p>
            <a:pPr lvl="0"/>
            <a:r>
              <a:rPr lang="it-IT" sz="1200" b="1" dirty="0" err="1"/>
              <a:t>Selected</a:t>
            </a:r>
            <a:r>
              <a:rPr lang="it-IT" sz="1200" dirty="0"/>
              <a:t> the </a:t>
            </a:r>
            <a:r>
              <a:rPr lang="it-IT" sz="1200" b="1" dirty="0"/>
              <a:t>8,000 best player-season </a:t>
            </a:r>
            <a:r>
              <a:rPr lang="it-IT" sz="1200" b="1" dirty="0" err="1"/>
              <a:t>pairs</a:t>
            </a:r>
            <a:r>
              <a:rPr lang="it-IT" sz="1200" dirty="0"/>
              <a:t> with the </a:t>
            </a:r>
            <a:r>
              <a:rPr lang="it-IT" sz="1200" dirty="0" err="1"/>
              <a:t>lowest</a:t>
            </a:r>
            <a:r>
              <a:rPr lang="it-IT" sz="1200" dirty="0"/>
              <a:t> </a:t>
            </a:r>
            <a:r>
              <a:rPr lang="it-IT" sz="1200" dirty="0" err="1"/>
              <a:t>null</a:t>
            </a:r>
            <a:r>
              <a:rPr lang="it-IT" sz="1200" dirty="0"/>
              <a:t> </a:t>
            </a:r>
            <a:r>
              <a:rPr lang="it-IT" sz="1200" dirty="0" err="1"/>
              <a:t>count</a:t>
            </a:r>
            <a:r>
              <a:rPr lang="it-IT" sz="1200" dirty="0"/>
              <a:t>.</a:t>
            </a:r>
          </a:p>
          <a:p>
            <a:pPr marL="0" indent="0">
              <a:buNone/>
            </a:pPr>
            <a:endParaRPr lang="it-IT" sz="2000" dirty="0"/>
          </a:p>
        </p:txBody>
      </p:sp>
      <p:sp>
        <p:nvSpPr>
          <p:cNvPr id="4" name="CasellaDiTesto 3">
            <a:extLst>
              <a:ext uri="{FF2B5EF4-FFF2-40B4-BE49-F238E27FC236}">
                <a16:creationId xmlns:a16="http://schemas.microsoft.com/office/drawing/2014/main" id="{DFF1CFF0-48A3-8D8F-AB01-58966C6EDAC5}"/>
              </a:ext>
            </a:extLst>
          </p:cNvPr>
          <p:cNvSpPr txBox="1"/>
          <p:nvPr/>
        </p:nvSpPr>
        <p:spPr>
          <a:xfrm>
            <a:off x="0" y="3172966"/>
            <a:ext cx="5588000" cy="1077218"/>
          </a:xfrm>
          <a:prstGeom prst="rect">
            <a:avLst/>
          </a:prstGeom>
          <a:noFill/>
        </p:spPr>
        <p:txBody>
          <a:bodyPr wrap="square" rtlCol="0">
            <a:spAutoFit/>
          </a:bodyPr>
          <a:lstStyle/>
          <a:p>
            <a:r>
              <a:rPr lang="it-IT" sz="2000" b="1" dirty="0"/>
              <a:t>Filtering &amp; Export</a:t>
            </a:r>
          </a:p>
          <a:p>
            <a:pPr marL="285750" lvl="0" indent="-285750">
              <a:buFont typeface="Arial" panose="020B0604020202020204" pitchFamily="34" charset="0"/>
              <a:buChar char="•"/>
            </a:pPr>
            <a:r>
              <a:rPr lang="it-IT" sz="1200" b="1" dirty="0" err="1"/>
              <a:t>Filtered</a:t>
            </a:r>
            <a:r>
              <a:rPr lang="it-IT" sz="1200" dirty="0"/>
              <a:t> </a:t>
            </a:r>
            <a:r>
              <a:rPr lang="it-IT" sz="1200" dirty="0" err="1"/>
              <a:t>every</a:t>
            </a:r>
            <a:r>
              <a:rPr lang="it-IT" sz="1200" dirty="0"/>
              <a:t> </a:t>
            </a:r>
            <a:r>
              <a:rPr lang="it-IT" sz="1200" dirty="0" err="1"/>
              <a:t>stats</a:t>
            </a:r>
            <a:r>
              <a:rPr lang="it-IT" sz="1200" dirty="0"/>
              <a:t> file and the </a:t>
            </a:r>
            <a:r>
              <a:rPr lang="it-IT" sz="1200" dirty="0" err="1"/>
              <a:t>valuation</a:t>
            </a:r>
            <a:r>
              <a:rPr lang="it-IT" sz="1200" dirty="0"/>
              <a:t> file to </a:t>
            </a:r>
            <a:r>
              <a:rPr lang="it-IT" sz="1200" dirty="0" err="1"/>
              <a:t>retain</a:t>
            </a:r>
            <a:r>
              <a:rPr lang="it-IT" sz="1200" dirty="0"/>
              <a:t> </a:t>
            </a:r>
            <a:r>
              <a:rPr lang="it-IT" sz="1200" dirty="0" err="1"/>
              <a:t>only</a:t>
            </a:r>
            <a:r>
              <a:rPr lang="it-IT" sz="1200" dirty="0"/>
              <a:t> the top 8,000 </a:t>
            </a:r>
            <a:r>
              <a:rPr lang="it-IT" sz="1200" dirty="0" err="1"/>
              <a:t>pairs</a:t>
            </a:r>
            <a:r>
              <a:rPr lang="it-IT" sz="1200" dirty="0"/>
              <a:t>.</a:t>
            </a:r>
          </a:p>
          <a:p>
            <a:pPr marL="285750" lvl="0" indent="-285750">
              <a:buFont typeface="Arial" panose="020B0604020202020204" pitchFamily="34" charset="0"/>
              <a:buChar char="•"/>
            </a:pPr>
            <a:r>
              <a:rPr lang="it-IT" sz="1200" b="1" dirty="0" err="1"/>
              <a:t>Ensured</a:t>
            </a:r>
            <a:r>
              <a:rPr lang="it-IT" sz="1200" dirty="0"/>
              <a:t> </a:t>
            </a:r>
            <a:r>
              <a:rPr lang="it-IT" sz="1200" dirty="0" err="1"/>
              <a:t>all</a:t>
            </a:r>
            <a:r>
              <a:rPr lang="it-IT" sz="1200" dirty="0"/>
              <a:t> files </a:t>
            </a:r>
            <a:r>
              <a:rPr lang="it-IT" sz="1200" dirty="0" err="1"/>
              <a:t>had</a:t>
            </a:r>
            <a:r>
              <a:rPr lang="it-IT" sz="1200" dirty="0"/>
              <a:t> </a:t>
            </a:r>
            <a:r>
              <a:rPr lang="it-IT" sz="1200" dirty="0" err="1"/>
              <a:t>identical</a:t>
            </a:r>
            <a:r>
              <a:rPr lang="it-IT" sz="1200" dirty="0"/>
              <a:t> sets of player-season keys.</a:t>
            </a:r>
          </a:p>
          <a:p>
            <a:endParaRPr lang="it-IT" sz="2000" dirty="0"/>
          </a:p>
        </p:txBody>
      </p:sp>
      <p:sp>
        <p:nvSpPr>
          <p:cNvPr id="5" name="CasellaDiTesto 4">
            <a:extLst>
              <a:ext uri="{FF2B5EF4-FFF2-40B4-BE49-F238E27FC236}">
                <a16:creationId xmlns:a16="http://schemas.microsoft.com/office/drawing/2014/main" id="{CBF129BC-E9DE-61A1-381F-1B5C9A4E7C6D}"/>
              </a:ext>
            </a:extLst>
          </p:cNvPr>
          <p:cNvSpPr txBox="1"/>
          <p:nvPr/>
        </p:nvSpPr>
        <p:spPr>
          <a:xfrm>
            <a:off x="0" y="4876800"/>
            <a:ext cx="5499100" cy="1508105"/>
          </a:xfrm>
          <a:prstGeom prst="rect">
            <a:avLst/>
          </a:prstGeom>
          <a:noFill/>
        </p:spPr>
        <p:txBody>
          <a:bodyPr wrap="square" rtlCol="0">
            <a:spAutoFit/>
          </a:bodyPr>
          <a:lstStyle/>
          <a:p>
            <a:r>
              <a:rPr lang="it-IT" sz="2000" b="1" dirty="0"/>
              <a:t>Load </a:t>
            </a:r>
            <a:r>
              <a:rPr lang="it-IT" sz="2000" b="1" dirty="0" err="1"/>
              <a:t>Preparation</a:t>
            </a:r>
            <a:endParaRPr lang="it-IT" sz="2000" b="1" dirty="0"/>
          </a:p>
          <a:p>
            <a:pPr marL="285750" lvl="0" indent="-285750">
              <a:buFont typeface="Arial" panose="020B0604020202020204" pitchFamily="34" charset="0"/>
              <a:buChar char="•"/>
            </a:pPr>
            <a:r>
              <a:rPr lang="it-IT" sz="1200" dirty="0" err="1"/>
              <a:t>Final</a:t>
            </a:r>
            <a:r>
              <a:rPr lang="it-IT" sz="1200" dirty="0"/>
              <a:t> </a:t>
            </a:r>
            <a:r>
              <a:rPr lang="it-IT" sz="1200" dirty="0" err="1"/>
              <a:t>CSVs</a:t>
            </a:r>
            <a:r>
              <a:rPr lang="it-IT" sz="1200" dirty="0"/>
              <a:t> are </a:t>
            </a:r>
            <a:r>
              <a:rPr lang="it-IT" sz="1200" dirty="0" err="1"/>
              <a:t>now</a:t>
            </a:r>
            <a:r>
              <a:rPr lang="it-IT" sz="1200" dirty="0"/>
              <a:t> </a:t>
            </a:r>
            <a:r>
              <a:rPr lang="it-IT" sz="1200" dirty="0" err="1"/>
              <a:t>clean</a:t>
            </a:r>
            <a:r>
              <a:rPr lang="it-IT" sz="1200" dirty="0"/>
              <a:t>, </a:t>
            </a:r>
            <a:r>
              <a:rPr lang="it-IT" sz="1200" dirty="0" err="1"/>
              <a:t>aligned</a:t>
            </a:r>
            <a:r>
              <a:rPr lang="it-IT" sz="1200" dirty="0"/>
              <a:t>, and </a:t>
            </a:r>
            <a:r>
              <a:rPr lang="it-IT" sz="1200" dirty="0" err="1"/>
              <a:t>optimized</a:t>
            </a:r>
            <a:r>
              <a:rPr lang="it-IT" sz="1200" dirty="0"/>
              <a:t>.</a:t>
            </a:r>
          </a:p>
          <a:p>
            <a:pPr marL="285750" lvl="0" indent="-285750">
              <a:buFont typeface="Arial" panose="020B0604020202020204" pitchFamily="34" charset="0"/>
              <a:buChar char="•"/>
            </a:pPr>
            <a:r>
              <a:rPr lang="it-IT" sz="1200" dirty="0" err="1"/>
              <a:t>Each</a:t>
            </a:r>
            <a:r>
              <a:rPr lang="it-IT" sz="1200" dirty="0"/>
              <a:t> file </a:t>
            </a:r>
            <a:r>
              <a:rPr lang="it-IT" sz="1200" dirty="0" err="1"/>
              <a:t>is</a:t>
            </a:r>
            <a:r>
              <a:rPr lang="it-IT" sz="1200" dirty="0"/>
              <a:t> ready for import </a:t>
            </a:r>
            <a:r>
              <a:rPr lang="it-IT" sz="1200" dirty="0" err="1"/>
              <a:t>into</a:t>
            </a:r>
            <a:r>
              <a:rPr lang="it-IT" sz="1200" dirty="0"/>
              <a:t> </a:t>
            </a:r>
            <a:r>
              <a:rPr lang="it-IT" sz="1200" dirty="0" err="1"/>
              <a:t>PostgreSQL</a:t>
            </a:r>
            <a:r>
              <a:rPr lang="it-IT" sz="1200" dirty="0"/>
              <a:t>.</a:t>
            </a:r>
          </a:p>
          <a:p>
            <a:pPr marL="285750" lvl="0" indent="-285750">
              <a:buFont typeface="Arial" panose="020B0604020202020204" pitchFamily="34" charset="0"/>
              <a:buChar char="•"/>
            </a:pPr>
            <a:r>
              <a:rPr lang="it-IT" sz="1200" dirty="0"/>
              <a:t>Keys (player, season) can be </a:t>
            </a:r>
            <a:r>
              <a:rPr lang="it-IT" sz="1200" dirty="0" err="1"/>
              <a:t>used</a:t>
            </a:r>
            <a:r>
              <a:rPr lang="it-IT" sz="1200" dirty="0"/>
              <a:t> to join </a:t>
            </a:r>
            <a:r>
              <a:rPr lang="it-IT" sz="1200" dirty="0" err="1"/>
              <a:t>fact</a:t>
            </a:r>
            <a:r>
              <a:rPr lang="it-IT" sz="1200" dirty="0"/>
              <a:t> and </a:t>
            </a:r>
            <a:r>
              <a:rPr lang="it-IT" sz="1200" dirty="0" err="1"/>
              <a:t>dimension</a:t>
            </a:r>
            <a:r>
              <a:rPr lang="it-IT" sz="1200" dirty="0"/>
              <a:t> </a:t>
            </a:r>
            <a:r>
              <a:rPr lang="it-IT" sz="1200" dirty="0" err="1"/>
              <a:t>tables</a:t>
            </a:r>
            <a:r>
              <a:rPr lang="it-IT" sz="1200" dirty="0"/>
              <a:t>.</a:t>
            </a:r>
          </a:p>
          <a:p>
            <a:endParaRPr lang="it-IT" sz="1400" b="1" dirty="0"/>
          </a:p>
          <a:p>
            <a:endParaRPr lang="it-IT" sz="2000" dirty="0"/>
          </a:p>
        </p:txBody>
      </p:sp>
      <p:pic>
        <p:nvPicPr>
          <p:cNvPr id="7" name="Immagine 6" descr="Immagine che contiene testo, schermata, software&#10;&#10;Il contenuto generato dall'IA potrebbe non essere corretto.">
            <a:extLst>
              <a:ext uri="{FF2B5EF4-FFF2-40B4-BE49-F238E27FC236}">
                <a16:creationId xmlns:a16="http://schemas.microsoft.com/office/drawing/2014/main" id="{DC8FE6BC-2733-A410-BD02-DF6229E1B2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00850" y="1203325"/>
            <a:ext cx="4685398" cy="5016500"/>
          </a:xfrm>
          <a:prstGeom prst="rect">
            <a:avLst/>
          </a:prstGeom>
        </p:spPr>
      </p:pic>
    </p:spTree>
    <p:extLst>
      <p:ext uri="{BB962C8B-B14F-4D97-AF65-F5344CB8AC3E}">
        <p14:creationId xmlns:p14="http://schemas.microsoft.com/office/powerpoint/2010/main" val="3262198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 calcmode="lin" valueType="num">
                                      <p:cBhvr additive="base">
                                        <p:cTn id="18"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 calcmode="lin" valueType="num">
                                      <p:cBhvr additive="base">
                                        <p:cTn id="24"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3">
                                            <p:txEl>
                                              <p:pRg st="3" end="3"/>
                                            </p:txEl>
                                          </p:spTgt>
                                        </p:tgtEl>
                                        <p:attrNameLst>
                                          <p:attrName>style.visibility</p:attrName>
                                        </p:attrNameLst>
                                      </p:cBhvr>
                                      <p:to>
                                        <p:strVal val="visible"/>
                                      </p:to>
                                    </p:set>
                                    <p:anim calcmode="lin" valueType="num">
                                      <p:cBhvr additive="base">
                                        <p:cTn id="30"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2" presetClass="entr" presetSubtype="4"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2" presetClass="entr" presetSubtype="4" fill="hold" grpId="0" nodeType="clickEffect">
                                  <p:stCondLst>
                                    <p:cond delay="0"/>
                                  </p:stCondLst>
                                  <p:childTnLst>
                                    <p:set>
                                      <p:cBhvr>
                                        <p:cTn id="41" dur="1" fill="hold">
                                          <p:stCondLst>
                                            <p:cond delay="0"/>
                                          </p:stCondLst>
                                        </p:cTn>
                                        <p:tgtEl>
                                          <p:spTgt spid="5"/>
                                        </p:tgtEl>
                                        <p:attrNameLst>
                                          <p:attrName>style.visibility</p:attrName>
                                        </p:attrNameLst>
                                      </p:cBhvr>
                                      <p:to>
                                        <p:strVal val="visible"/>
                                      </p:to>
                                    </p:set>
                                    <p:anim calcmode="lin" valueType="num">
                                      <p:cBhvr additive="base">
                                        <p:cTn id="42" dur="500" fill="hold"/>
                                        <p:tgtEl>
                                          <p:spTgt spid="5"/>
                                        </p:tgtEl>
                                        <p:attrNameLst>
                                          <p:attrName>ppt_x</p:attrName>
                                        </p:attrNameLst>
                                      </p:cBhvr>
                                      <p:tavLst>
                                        <p:tav tm="0">
                                          <p:val>
                                            <p:strVal val="#ppt_x"/>
                                          </p:val>
                                        </p:tav>
                                        <p:tav tm="100000">
                                          <p:val>
                                            <p:strVal val="#ppt_x"/>
                                          </p:val>
                                        </p:tav>
                                      </p:tavLst>
                                    </p:anim>
                                    <p:anim calcmode="lin" valueType="num">
                                      <p:cBhvr additive="base">
                                        <p:cTn id="43"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7"/>
                                        </p:tgtEl>
                                        <p:attrNameLst>
                                          <p:attrName>style.visibility</p:attrName>
                                        </p:attrNameLst>
                                      </p:cBhvr>
                                      <p:to>
                                        <p:strVal val="visible"/>
                                      </p:to>
                                    </p:set>
                                    <p:animEffect transition="in" filter="fade">
                                      <p:cBhvr>
                                        <p:cTn id="48" dur="1000"/>
                                        <p:tgtEl>
                                          <p:spTgt spid="7"/>
                                        </p:tgtEl>
                                      </p:cBhvr>
                                    </p:animEffect>
                                    <p:anim calcmode="lin" valueType="num">
                                      <p:cBhvr>
                                        <p:cTn id="49" dur="1000" fill="hold"/>
                                        <p:tgtEl>
                                          <p:spTgt spid="7"/>
                                        </p:tgtEl>
                                        <p:attrNameLst>
                                          <p:attrName>ppt_x</p:attrName>
                                        </p:attrNameLst>
                                      </p:cBhvr>
                                      <p:tavLst>
                                        <p:tav tm="0">
                                          <p:val>
                                            <p:strVal val="#ppt_x"/>
                                          </p:val>
                                        </p:tav>
                                        <p:tav tm="100000">
                                          <p:val>
                                            <p:strVal val="#ppt_x"/>
                                          </p:val>
                                        </p:tav>
                                      </p:tavLst>
                                    </p:anim>
                                    <p:anim calcmode="lin" valueType="num">
                                      <p:cBhvr>
                                        <p:cTn id="5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FF40FD2-9937-7C7A-FA27-998652205457}"/>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ETL </a:t>
            </a:r>
            <a:r>
              <a:rPr lang="it-IT" b="1" dirty="0" err="1">
                <a:effectLst>
                  <a:outerShdw blurRad="38100" dist="38100" dir="2700000" algn="tl">
                    <a:srgbClr val="000000">
                      <a:alpha val="43137"/>
                    </a:srgbClr>
                  </a:outerShdw>
                </a:effectLst>
              </a:rPr>
              <a:t>Process</a:t>
            </a:r>
            <a:r>
              <a:rPr lang="it-IT" b="1" dirty="0">
                <a:effectLst>
                  <a:outerShdw blurRad="38100" dist="38100" dir="2700000" algn="tl">
                    <a:srgbClr val="000000">
                      <a:alpha val="43137"/>
                    </a:srgbClr>
                  </a:outerShdw>
                </a:effectLst>
              </a:rPr>
              <a:t> – </a:t>
            </a:r>
            <a:r>
              <a:rPr lang="it-IT" b="1" dirty="0" err="1">
                <a:effectLst>
                  <a:outerShdw blurRad="38100" dist="38100" dir="2700000" algn="tl">
                    <a:srgbClr val="000000">
                      <a:alpha val="43137"/>
                    </a:srgbClr>
                  </a:outerShdw>
                </a:effectLst>
              </a:rPr>
              <a:t>Final</a:t>
            </a:r>
            <a:r>
              <a:rPr lang="it-IT" b="1" dirty="0">
                <a:effectLst>
                  <a:outerShdw blurRad="38100" dist="38100" dir="2700000" algn="tl">
                    <a:srgbClr val="000000">
                      <a:alpha val="43137"/>
                    </a:srgbClr>
                  </a:outerShdw>
                </a:effectLst>
              </a:rPr>
              <a:t> </a:t>
            </a:r>
            <a:r>
              <a:rPr lang="it-IT" b="1" dirty="0" err="1">
                <a:effectLst>
                  <a:outerShdw blurRad="38100" dist="38100" dir="2700000" algn="tl">
                    <a:srgbClr val="000000">
                      <a:alpha val="43137"/>
                    </a:srgbClr>
                  </a:outerShdw>
                </a:effectLst>
              </a:rPr>
              <a:t>considerations</a:t>
            </a:r>
            <a:endParaRPr lang="it-IT" b="1" dirty="0">
              <a:effectLst>
                <a:outerShdw blurRad="38100" dist="38100" dir="2700000" algn="tl">
                  <a:srgbClr val="000000">
                    <a:alpha val="43137"/>
                  </a:srgbClr>
                </a:outerShdw>
              </a:effectLst>
            </a:endParaRPr>
          </a:p>
        </p:txBody>
      </p:sp>
      <p:sp>
        <p:nvSpPr>
          <p:cNvPr id="3" name="Segnaposto contenuto 2">
            <a:extLst>
              <a:ext uri="{FF2B5EF4-FFF2-40B4-BE49-F238E27FC236}">
                <a16:creationId xmlns:a16="http://schemas.microsoft.com/office/drawing/2014/main" id="{12943C22-F52E-5C8A-4FB7-1BEFBC6B45E9}"/>
              </a:ext>
            </a:extLst>
          </p:cNvPr>
          <p:cNvSpPr>
            <a:spLocks noGrp="1"/>
          </p:cNvSpPr>
          <p:nvPr>
            <p:ph idx="1"/>
          </p:nvPr>
        </p:nvSpPr>
        <p:spPr>
          <a:xfrm>
            <a:off x="0" y="1089024"/>
            <a:ext cx="12192000" cy="4537075"/>
          </a:xfrm>
        </p:spPr>
        <p:txBody>
          <a:bodyPr>
            <a:normAutofit/>
          </a:bodyPr>
          <a:lstStyle/>
          <a:p>
            <a:r>
              <a:rPr lang="it-IT" sz="2000" dirty="0" err="1"/>
              <a:t>Now</a:t>
            </a:r>
            <a:r>
              <a:rPr lang="it-IT" sz="2000" dirty="0"/>
              <a:t> </a:t>
            </a:r>
            <a:r>
              <a:rPr lang="it-IT" sz="2000" dirty="0" err="1"/>
              <a:t>we</a:t>
            </a:r>
            <a:r>
              <a:rPr lang="it-IT" sz="2000" dirty="0"/>
              <a:t> </a:t>
            </a:r>
            <a:r>
              <a:rPr lang="it-IT" sz="2000" dirty="0" err="1"/>
              <a:t>have</a:t>
            </a:r>
            <a:r>
              <a:rPr lang="it-IT" sz="2000" dirty="0"/>
              <a:t> </a:t>
            </a:r>
            <a:r>
              <a:rPr lang="it-IT" sz="2000" dirty="0" err="1"/>
              <a:t>everything</a:t>
            </a:r>
            <a:r>
              <a:rPr lang="it-IT" sz="2000" dirty="0"/>
              <a:t> to make a DFM and load to </a:t>
            </a:r>
            <a:r>
              <a:rPr lang="it-IT" sz="2000" dirty="0" err="1"/>
              <a:t>PostgreSQL</a:t>
            </a:r>
            <a:r>
              <a:rPr lang="it-IT" sz="2000" dirty="0"/>
              <a:t>, in </a:t>
            </a:r>
            <a:r>
              <a:rPr lang="it-IT" sz="2000" dirty="0" err="1"/>
              <a:t>fact</a:t>
            </a:r>
            <a:r>
              <a:rPr lang="it-IT" sz="2000" dirty="0"/>
              <a:t> </a:t>
            </a:r>
            <a:r>
              <a:rPr lang="it-IT" sz="2000" dirty="0" err="1"/>
              <a:t>we</a:t>
            </a:r>
            <a:r>
              <a:rPr lang="it-IT" sz="2000" dirty="0"/>
              <a:t> </a:t>
            </a:r>
            <a:r>
              <a:rPr lang="it-IT" sz="2000" dirty="0" err="1"/>
              <a:t>have</a:t>
            </a:r>
            <a:r>
              <a:rPr lang="it-IT" sz="2000" dirty="0"/>
              <a:t> </a:t>
            </a:r>
            <a:r>
              <a:rPr lang="it-IT" sz="2000" dirty="0" err="1"/>
              <a:t>each</a:t>
            </a:r>
            <a:r>
              <a:rPr lang="it-IT" sz="2000" dirty="0"/>
              <a:t> file of </a:t>
            </a:r>
            <a:r>
              <a:rPr lang="it-IT" sz="2000" dirty="0" err="1"/>
              <a:t>either</a:t>
            </a:r>
            <a:r>
              <a:rPr lang="it-IT" sz="2000" dirty="0"/>
              <a:t> dataset 1 and dataset 2 with the </a:t>
            </a:r>
            <a:r>
              <a:rPr lang="it-IT" sz="2000" dirty="0" err="1"/>
              <a:t>same</a:t>
            </a:r>
            <a:r>
              <a:rPr lang="it-IT" sz="2000" dirty="0"/>
              <a:t> </a:t>
            </a:r>
            <a:r>
              <a:rPr lang="it-IT" sz="2000" b="1" dirty="0"/>
              <a:t>player-season </a:t>
            </a:r>
            <a:r>
              <a:rPr lang="it-IT" sz="2000" b="1" dirty="0" err="1"/>
              <a:t>pair</a:t>
            </a:r>
            <a:r>
              <a:rPr lang="it-IT" sz="2000" b="1" dirty="0"/>
              <a:t> </a:t>
            </a:r>
            <a:r>
              <a:rPr lang="it-IT" sz="2000" dirty="0"/>
              <a:t>and </a:t>
            </a:r>
            <a:r>
              <a:rPr lang="it-IT" sz="2000" dirty="0" err="1"/>
              <a:t>obviously</a:t>
            </a:r>
            <a:r>
              <a:rPr lang="it-IT" sz="2000" dirty="0"/>
              <a:t> </a:t>
            </a:r>
            <a:r>
              <a:rPr lang="it-IT" sz="2000" dirty="0" err="1"/>
              <a:t>different</a:t>
            </a:r>
            <a:r>
              <a:rPr lang="it-IT" sz="2000" dirty="0"/>
              <a:t> </a:t>
            </a:r>
            <a:r>
              <a:rPr lang="it-IT" sz="2000" dirty="0" err="1"/>
              <a:t>columns</a:t>
            </a:r>
            <a:r>
              <a:rPr lang="it-IT" sz="2000" dirty="0"/>
              <a:t>.</a:t>
            </a:r>
          </a:p>
        </p:txBody>
      </p:sp>
      <p:pic>
        <p:nvPicPr>
          <p:cNvPr id="5" name="Immagine 4" descr="Immagine che contiene testo, schermata, Carattere&#10;&#10;Il contenuto generato dall'IA potrebbe non essere corretto.">
            <a:extLst>
              <a:ext uri="{FF2B5EF4-FFF2-40B4-BE49-F238E27FC236}">
                <a16:creationId xmlns:a16="http://schemas.microsoft.com/office/drawing/2014/main" id="{25C5BBE7-2ABF-83C2-98D6-E604B95AC1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76" y="3140108"/>
            <a:ext cx="3775123" cy="2098640"/>
          </a:xfrm>
          <a:prstGeom prst="rect">
            <a:avLst/>
          </a:prstGeom>
        </p:spPr>
      </p:pic>
      <p:cxnSp>
        <p:nvCxnSpPr>
          <p:cNvPr id="7" name="Connettore 2 6">
            <a:extLst>
              <a:ext uri="{FF2B5EF4-FFF2-40B4-BE49-F238E27FC236}">
                <a16:creationId xmlns:a16="http://schemas.microsoft.com/office/drawing/2014/main" id="{B0A5FCB5-9D4C-7B14-5A64-75DE76331E7E}"/>
              </a:ext>
            </a:extLst>
          </p:cNvPr>
          <p:cNvCxnSpPr>
            <a:cxnSpLocks/>
          </p:cNvCxnSpPr>
          <p:nvPr/>
        </p:nvCxnSpPr>
        <p:spPr>
          <a:xfrm>
            <a:off x="4239999" y="4141943"/>
            <a:ext cx="171184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9" name="Immagine 8" descr="Immagine che contiene testo, schermata, Carattere&#10;&#10;Il contenuto generato dall'IA potrebbe non essere corretto.">
            <a:extLst>
              <a:ext uri="{FF2B5EF4-FFF2-40B4-BE49-F238E27FC236}">
                <a16:creationId xmlns:a16="http://schemas.microsoft.com/office/drawing/2014/main" id="{5AD2D1AA-43E7-664A-BE42-514090EA73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1847" y="3140108"/>
            <a:ext cx="5211454" cy="2098635"/>
          </a:xfrm>
          <a:prstGeom prst="rect">
            <a:avLst/>
          </a:prstGeom>
        </p:spPr>
      </p:pic>
    </p:spTree>
    <p:extLst>
      <p:ext uri="{BB962C8B-B14F-4D97-AF65-F5344CB8AC3E}">
        <p14:creationId xmlns:p14="http://schemas.microsoft.com/office/powerpoint/2010/main" val="323817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nodeType="click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1000"/>
                                        <p:tgtEl>
                                          <p:spTgt spid="5"/>
                                        </p:tgtEl>
                                      </p:cBhvr>
                                    </p:animEffect>
                                    <p:anim calcmode="lin" valueType="num">
                                      <p:cBhvr>
                                        <p:cTn id="19" dur="1000" fill="hold"/>
                                        <p:tgtEl>
                                          <p:spTgt spid="5"/>
                                        </p:tgtEl>
                                        <p:attrNameLst>
                                          <p:attrName>ppt_x</p:attrName>
                                        </p:attrNameLst>
                                      </p:cBhvr>
                                      <p:tavLst>
                                        <p:tav tm="0">
                                          <p:val>
                                            <p:strVal val="#ppt_x"/>
                                          </p:val>
                                        </p:tav>
                                        <p:tav tm="100000">
                                          <p:val>
                                            <p:strVal val="#ppt_x"/>
                                          </p:val>
                                        </p:tav>
                                      </p:tavLst>
                                    </p:anim>
                                    <p:anim calcmode="lin" valueType="num">
                                      <p:cBhvr>
                                        <p:cTn id="20"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ppt_x</p:attrName>
                                        </p:attrNameLst>
                                      </p:cBhvr>
                                      <p:tavLst>
                                        <p:tav tm="0">
                                          <p:val>
                                            <p:strVal val="#ppt_x"/>
                                          </p:val>
                                        </p:tav>
                                        <p:tav tm="100000">
                                          <p:val>
                                            <p:strVal val="#ppt_x"/>
                                          </p:val>
                                        </p:tav>
                                      </p:tavLst>
                                    </p:anim>
                                    <p:anim calcmode="lin" valueType="num">
                                      <p:cBhvr>
                                        <p:cTn id="27"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anim calcmode="lin" valueType="num">
                                      <p:cBhvr>
                                        <p:cTn id="33" dur="1000" fill="hold"/>
                                        <p:tgtEl>
                                          <p:spTgt spid="9"/>
                                        </p:tgtEl>
                                        <p:attrNameLst>
                                          <p:attrName>ppt_x</p:attrName>
                                        </p:attrNameLst>
                                      </p:cBhvr>
                                      <p:tavLst>
                                        <p:tav tm="0">
                                          <p:val>
                                            <p:strVal val="#ppt_x"/>
                                          </p:val>
                                        </p:tav>
                                        <p:tav tm="100000">
                                          <p:val>
                                            <p:strVal val="#ppt_x"/>
                                          </p:val>
                                        </p:tav>
                                      </p:tavLst>
                                    </p:anim>
                                    <p:anim calcmode="lin" valueType="num">
                                      <p:cBhvr>
                                        <p:cTn id="34"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AE71751-2B85-9A9F-B36E-C5EAF75F28F9}"/>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DFM Schema</a:t>
            </a:r>
          </a:p>
        </p:txBody>
      </p:sp>
      <p:pic>
        <p:nvPicPr>
          <p:cNvPr id="5" name="Segnaposto contenuto 4" descr="Immagine che contiene testo, diagramma, schermata, bianco e nero&#10;&#10;Il contenuto generato dall'IA potrebbe non essere corretto.">
            <a:extLst>
              <a:ext uri="{FF2B5EF4-FFF2-40B4-BE49-F238E27FC236}">
                <a16:creationId xmlns:a16="http://schemas.microsoft.com/office/drawing/2014/main" id="{6D9493CA-FF2E-D228-1C95-4AD5E178643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25014" y="1137551"/>
            <a:ext cx="7233167" cy="5418746"/>
          </a:xfrm>
        </p:spPr>
      </p:pic>
    </p:spTree>
    <p:extLst>
      <p:ext uri="{BB962C8B-B14F-4D97-AF65-F5344CB8AC3E}">
        <p14:creationId xmlns:p14="http://schemas.microsoft.com/office/powerpoint/2010/main" val="3161981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down)">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C78EC61-692C-12F6-CD8C-00A2344FE9C7}"/>
              </a:ext>
            </a:extLst>
          </p:cNvPr>
          <p:cNvSpPr>
            <a:spLocks noGrp="1"/>
          </p:cNvSpPr>
          <p:nvPr>
            <p:ph type="title"/>
          </p:nvPr>
        </p:nvSpPr>
        <p:spPr>
          <a:xfrm>
            <a:off x="838200" y="18255"/>
            <a:ext cx="10515600" cy="1325563"/>
          </a:xfrm>
        </p:spPr>
        <p:txBody>
          <a:bodyPr/>
          <a:lstStyle/>
          <a:p>
            <a:pPr algn="ctr"/>
            <a:r>
              <a:rPr lang="it-IT" b="1" dirty="0" err="1">
                <a:effectLst>
                  <a:outerShdw blurRad="38100" dist="38100" dir="2700000" algn="tl">
                    <a:srgbClr val="000000">
                      <a:alpha val="43137"/>
                    </a:srgbClr>
                  </a:outerShdw>
                </a:effectLst>
              </a:rPr>
              <a:t>PostgreSQL</a:t>
            </a:r>
            <a:r>
              <a:rPr lang="it-IT" b="1" dirty="0">
                <a:effectLst>
                  <a:outerShdw blurRad="38100" dist="38100" dir="2700000" algn="tl">
                    <a:srgbClr val="000000">
                      <a:alpha val="43137"/>
                    </a:srgbClr>
                  </a:outerShdw>
                </a:effectLst>
              </a:rPr>
              <a:t> and Star Schema</a:t>
            </a:r>
          </a:p>
        </p:txBody>
      </p:sp>
      <p:pic>
        <p:nvPicPr>
          <p:cNvPr id="9" name="Segnaposto contenuto 8" descr="Immagine che contiene testo, schermata, numero, Parallelo&#10;&#10;Il contenuto generato dall'IA potrebbe non essere corretto.">
            <a:extLst>
              <a:ext uri="{FF2B5EF4-FFF2-40B4-BE49-F238E27FC236}">
                <a16:creationId xmlns:a16="http://schemas.microsoft.com/office/drawing/2014/main" id="{71C89C4B-EDA6-CF19-CA28-5531110AA1B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2515" y="1132278"/>
            <a:ext cx="7131034" cy="5548301"/>
          </a:xfrm>
        </p:spPr>
      </p:pic>
      <p:sp>
        <p:nvSpPr>
          <p:cNvPr id="10" name="CasellaDiTesto 9">
            <a:extLst>
              <a:ext uri="{FF2B5EF4-FFF2-40B4-BE49-F238E27FC236}">
                <a16:creationId xmlns:a16="http://schemas.microsoft.com/office/drawing/2014/main" id="{FF3645F3-DA41-7D51-19E8-38182CC015AE}"/>
              </a:ext>
            </a:extLst>
          </p:cNvPr>
          <p:cNvSpPr txBox="1"/>
          <p:nvPr/>
        </p:nvSpPr>
        <p:spPr>
          <a:xfrm>
            <a:off x="7486176" y="3005635"/>
            <a:ext cx="4513480" cy="954107"/>
          </a:xfrm>
          <a:prstGeom prst="rect">
            <a:avLst/>
          </a:prstGeom>
          <a:noFill/>
        </p:spPr>
        <p:txBody>
          <a:bodyPr wrap="none" rtlCol="0">
            <a:spAutoFit/>
          </a:bodyPr>
          <a:lstStyle/>
          <a:p>
            <a:r>
              <a:rPr lang="en-US" sz="1400" dirty="0"/>
              <a:t>• Built on a central fact table: </a:t>
            </a:r>
            <a:r>
              <a:rPr lang="en-US" sz="1400" dirty="0" err="1"/>
              <a:t>fact_player</a:t>
            </a:r>
            <a:endParaRPr lang="en-US" sz="1400" dirty="0"/>
          </a:p>
          <a:p>
            <a:r>
              <a:rPr lang="en-US" sz="1400" dirty="0"/>
              <a:t>• Connected to 4 dimensions:</a:t>
            </a:r>
          </a:p>
          <a:p>
            <a:r>
              <a:rPr lang="en-US" sz="1400" dirty="0"/>
              <a:t>   – </a:t>
            </a:r>
            <a:r>
              <a:rPr lang="en-US" sz="1400" dirty="0" err="1"/>
              <a:t>dim_player</a:t>
            </a:r>
            <a:r>
              <a:rPr lang="en-US" sz="1400" dirty="0"/>
              <a:t>, </a:t>
            </a:r>
            <a:r>
              <a:rPr lang="en-US" sz="1400" dirty="0" err="1"/>
              <a:t>dim_season</a:t>
            </a:r>
            <a:r>
              <a:rPr lang="en-US" sz="1400" dirty="0"/>
              <a:t>, </a:t>
            </a:r>
            <a:r>
              <a:rPr lang="en-US" sz="1400" dirty="0" err="1"/>
              <a:t>dim_club</a:t>
            </a:r>
            <a:r>
              <a:rPr lang="en-US" sz="1400" dirty="0"/>
              <a:t>, </a:t>
            </a:r>
            <a:r>
              <a:rPr lang="en-US" sz="1400" dirty="0" err="1"/>
              <a:t>dim_competition</a:t>
            </a:r>
            <a:endParaRPr lang="en-US" sz="1400" dirty="0"/>
          </a:p>
          <a:p>
            <a:r>
              <a:rPr lang="en-US" sz="1400" dirty="0"/>
              <a:t>• Foreign keys enforce relational integrity</a:t>
            </a:r>
            <a:endParaRPr lang="it-IT" sz="1400" dirty="0"/>
          </a:p>
        </p:txBody>
      </p:sp>
    </p:spTree>
    <p:extLst>
      <p:ext uri="{BB962C8B-B14F-4D97-AF65-F5344CB8AC3E}">
        <p14:creationId xmlns:p14="http://schemas.microsoft.com/office/powerpoint/2010/main" val="20371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down)">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ppt_x"/>
                                          </p:val>
                                        </p:tav>
                                        <p:tav tm="100000">
                                          <p:val>
                                            <p:strVal val="#ppt_x"/>
                                          </p:val>
                                        </p:tav>
                                      </p:tavLst>
                                    </p:anim>
                                    <p:anim calcmode="lin" valueType="num">
                                      <p:cBhvr additive="base">
                                        <p:cTn id="1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18575D7-5774-B9E9-7FC4-27063847C8A5}"/>
              </a:ext>
            </a:extLst>
          </p:cNvPr>
          <p:cNvSpPr>
            <a:spLocks noGrp="1"/>
          </p:cNvSpPr>
          <p:nvPr>
            <p:ph type="title"/>
          </p:nvPr>
        </p:nvSpPr>
        <p:spPr>
          <a:xfrm>
            <a:off x="838200" y="18255"/>
            <a:ext cx="10515600" cy="1325563"/>
          </a:xfrm>
        </p:spPr>
        <p:txBody>
          <a:bodyPr/>
          <a:lstStyle/>
          <a:p>
            <a:pPr algn="ctr"/>
            <a:r>
              <a:rPr lang="it-IT" b="1" dirty="0" err="1">
                <a:effectLst>
                  <a:outerShdw blurRad="38100" dist="38100" dir="2700000" algn="tl">
                    <a:srgbClr val="000000">
                      <a:alpha val="43137"/>
                    </a:srgbClr>
                  </a:outerShdw>
                </a:effectLst>
              </a:rPr>
              <a:t>Population</a:t>
            </a:r>
            <a:r>
              <a:rPr lang="it-IT" b="1" dirty="0">
                <a:effectLst>
                  <a:outerShdw blurRad="38100" dist="38100" dir="2700000" algn="tl">
                    <a:srgbClr val="000000">
                      <a:alpha val="43137"/>
                    </a:srgbClr>
                  </a:outerShdw>
                </a:effectLst>
              </a:rPr>
              <a:t> of the database</a:t>
            </a:r>
          </a:p>
        </p:txBody>
      </p:sp>
      <p:graphicFrame>
        <p:nvGraphicFramePr>
          <p:cNvPr id="4" name="Segnaposto contenuto 3">
            <a:extLst>
              <a:ext uri="{FF2B5EF4-FFF2-40B4-BE49-F238E27FC236}">
                <a16:creationId xmlns:a16="http://schemas.microsoft.com/office/drawing/2014/main" id="{B490C41A-08E1-AC73-9D3E-4633300745A7}"/>
              </a:ext>
            </a:extLst>
          </p:cNvPr>
          <p:cNvGraphicFramePr>
            <a:graphicFrameLocks noGrp="1"/>
          </p:cNvGraphicFramePr>
          <p:nvPr>
            <p:ph idx="1"/>
            <p:extLst>
              <p:ext uri="{D42A27DB-BD31-4B8C-83A1-F6EECF244321}">
                <p14:modId xmlns:p14="http://schemas.microsoft.com/office/powerpoint/2010/main" val="337723334"/>
              </p:ext>
            </p:extLst>
          </p:nvPr>
        </p:nvGraphicFramePr>
        <p:xfrm>
          <a:off x="2098675" y="1144587"/>
          <a:ext cx="7994650" cy="14255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CasellaDiTesto 6">
            <a:extLst>
              <a:ext uri="{FF2B5EF4-FFF2-40B4-BE49-F238E27FC236}">
                <a16:creationId xmlns:a16="http://schemas.microsoft.com/office/drawing/2014/main" id="{2E959F83-9801-D27A-01A7-AE8BBB695BCF}"/>
              </a:ext>
            </a:extLst>
          </p:cNvPr>
          <p:cNvSpPr txBox="1"/>
          <p:nvPr/>
        </p:nvSpPr>
        <p:spPr>
          <a:xfrm>
            <a:off x="0" y="2769969"/>
            <a:ext cx="11994107" cy="1046440"/>
          </a:xfrm>
          <a:prstGeom prst="rect">
            <a:avLst/>
          </a:prstGeom>
          <a:noFill/>
        </p:spPr>
        <p:txBody>
          <a:bodyPr wrap="square" rtlCol="0">
            <a:spAutoFit/>
          </a:bodyPr>
          <a:lstStyle/>
          <a:p>
            <a:r>
              <a:rPr lang="it-IT" dirty="0"/>
              <a:t>CSV </a:t>
            </a:r>
            <a:r>
              <a:rPr lang="it-IT" dirty="0">
                <a:sym typeface="Wingdings" panose="05000000000000000000" pitchFamily="2" charset="2"/>
              </a:rPr>
              <a:t> STAGING TABLES : </a:t>
            </a:r>
            <a:r>
              <a:rPr lang="it-IT" sz="1400" b="1" dirty="0">
                <a:sym typeface="Wingdings" panose="05000000000000000000" pitchFamily="2" charset="2"/>
              </a:rPr>
              <a:t>COPY COMMAND </a:t>
            </a:r>
          </a:p>
          <a:p>
            <a:r>
              <a:rPr lang="it-IT" sz="1400" b="1" dirty="0" err="1">
                <a:sym typeface="Wingdings" panose="05000000000000000000" pitchFamily="2" charset="2"/>
              </a:rPr>
              <a:t>Example</a:t>
            </a:r>
            <a:r>
              <a:rPr lang="it-IT" sz="1400" b="1" dirty="0">
                <a:sym typeface="Wingdings" panose="05000000000000000000" pitchFamily="2" charset="2"/>
              </a:rPr>
              <a:t>:</a:t>
            </a:r>
          </a:p>
          <a:p>
            <a:r>
              <a:rPr lang="it-IT" sz="1200" dirty="0"/>
              <a:t>\copy </a:t>
            </a:r>
            <a:r>
              <a:rPr lang="it-IT" sz="1200" dirty="0" err="1"/>
              <a:t>staging.stg_players</a:t>
            </a:r>
            <a:r>
              <a:rPr lang="it-IT" sz="1200" dirty="0"/>
              <a:t> FROM 'C:/Users/matti/Desktop/Data-</a:t>
            </a:r>
            <a:r>
              <a:rPr lang="it-IT" sz="1200" dirty="0" err="1"/>
              <a:t>Warehouse</a:t>
            </a:r>
            <a:r>
              <a:rPr lang="it-IT" sz="1200" dirty="0"/>
              <a:t>-on-football-data/data/global_selected_8000/selected_players.csv' DELIMITER ',' CSV HEADER;</a:t>
            </a:r>
          </a:p>
          <a:p>
            <a:pPr marL="342900" indent="-342900">
              <a:buFont typeface="+mj-lt"/>
              <a:buAutoNum type="arabicPeriod"/>
            </a:pPr>
            <a:endParaRPr lang="it-IT" dirty="0"/>
          </a:p>
        </p:txBody>
      </p:sp>
      <p:sp>
        <p:nvSpPr>
          <p:cNvPr id="3" name="CasellaDiTesto 2">
            <a:extLst>
              <a:ext uri="{FF2B5EF4-FFF2-40B4-BE49-F238E27FC236}">
                <a16:creationId xmlns:a16="http://schemas.microsoft.com/office/drawing/2014/main" id="{2EBA0111-C77E-24CF-AE3E-D91C271A54C1}"/>
              </a:ext>
            </a:extLst>
          </p:cNvPr>
          <p:cNvSpPr txBox="1"/>
          <p:nvPr/>
        </p:nvSpPr>
        <p:spPr>
          <a:xfrm>
            <a:off x="-44450" y="3616354"/>
            <a:ext cx="11911557" cy="369332"/>
          </a:xfrm>
          <a:prstGeom prst="rect">
            <a:avLst/>
          </a:prstGeom>
          <a:noFill/>
        </p:spPr>
        <p:txBody>
          <a:bodyPr wrap="square" rtlCol="0">
            <a:spAutoFit/>
          </a:bodyPr>
          <a:lstStyle/>
          <a:p>
            <a:pPr marL="342900" indent="-342900">
              <a:buFont typeface="+mj-lt"/>
              <a:buAutoNum type="arabicPeriod"/>
            </a:pPr>
            <a:endParaRPr lang="it-IT" dirty="0"/>
          </a:p>
        </p:txBody>
      </p:sp>
      <p:sp>
        <p:nvSpPr>
          <p:cNvPr id="5" name="CasellaDiTesto 4">
            <a:extLst>
              <a:ext uri="{FF2B5EF4-FFF2-40B4-BE49-F238E27FC236}">
                <a16:creationId xmlns:a16="http://schemas.microsoft.com/office/drawing/2014/main" id="{E16C966D-E076-827E-04D3-030F8CE758F5}"/>
              </a:ext>
            </a:extLst>
          </p:cNvPr>
          <p:cNvSpPr txBox="1"/>
          <p:nvPr/>
        </p:nvSpPr>
        <p:spPr>
          <a:xfrm>
            <a:off x="-19457" y="3676041"/>
            <a:ext cx="6115457" cy="584775"/>
          </a:xfrm>
          <a:prstGeom prst="rect">
            <a:avLst/>
          </a:prstGeom>
          <a:noFill/>
        </p:spPr>
        <p:txBody>
          <a:bodyPr wrap="none" rtlCol="0">
            <a:spAutoFit/>
          </a:bodyPr>
          <a:lstStyle/>
          <a:p>
            <a:r>
              <a:rPr lang="it-IT" dirty="0"/>
              <a:t>STAGING TABLES </a:t>
            </a:r>
            <a:r>
              <a:rPr lang="it-IT" dirty="0">
                <a:sym typeface="Wingdings" panose="05000000000000000000" pitchFamily="2" charset="2"/>
              </a:rPr>
              <a:t> STAR SCHEMA TABLES: </a:t>
            </a:r>
            <a:r>
              <a:rPr lang="it-IT" sz="1400" b="1" dirty="0">
                <a:sym typeface="Wingdings" panose="05000000000000000000" pitchFamily="2" charset="2"/>
              </a:rPr>
              <a:t>INSERT COMMAND</a:t>
            </a:r>
          </a:p>
          <a:p>
            <a:r>
              <a:rPr lang="it-IT" sz="1400" b="1" dirty="0" err="1">
                <a:sym typeface="Wingdings" panose="05000000000000000000" pitchFamily="2" charset="2"/>
              </a:rPr>
              <a:t>Example</a:t>
            </a:r>
            <a:r>
              <a:rPr lang="it-IT" sz="1400" b="1" dirty="0">
                <a:sym typeface="Wingdings" panose="05000000000000000000" pitchFamily="2" charset="2"/>
              </a:rPr>
              <a:t>:</a:t>
            </a:r>
            <a:endParaRPr lang="it-IT" b="1" dirty="0"/>
          </a:p>
        </p:txBody>
      </p:sp>
      <p:pic>
        <p:nvPicPr>
          <p:cNvPr id="8" name="Immagine 7" descr="Immagine che contiene testo, Carattere, linea, schermata&#10;&#10;Il contenuto generato dall'IA potrebbe non essere corretto.">
            <a:extLst>
              <a:ext uri="{FF2B5EF4-FFF2-40B4-BE49-F238E27FC236}">
                <a16:creationId xmlns:a16="http://schemas.microsoft.com/office/drawing/2014/main" id="{F52AA7EB-9939-6552-61D0-599EC4D7EB0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4278073"/>
            <a:ext cx="4451741" cy="492114"/>
          </a:xfrm>
          <a:prstGeom prst="rect">
            <a:avLst/>
          </a:prstGeom>
        </p:spPr>
      </p:pic>
      <p:pic>
        <p:nvPicPr>
          <p:cNvPr id="11" name="Immagine 10" descr="Immagine che contiene testo, schermata, Carattere&#10;&#10;Il contenuto generato dall'IA potrebbe non essere corretto.">
            <a:extLst>
              <a:ext uri="{FF2B5EF4-FFF2-40B4-BE49-F238E27FC236}">
                <a16:creationId xmlns:a16="http://schemas.microsoft.com/office/drawing/2014/main" id="{BF671DB6-1751-BE29-F2D7-035A04B6BA4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572250" y="3816409"/>
            <a:ext cx="4870450" cy="1759608"/>
          </a:xfrm>
          <a:prstGeom prst="rect">
            <a:avLst/>
          </a:prstGeom>
        </p:spPr>
      </p:pic>
      <p:cxnSp>
        <p:nvCxnSpPr>
          <p:cNvPr id="15" name="Connettore 2 14">
            <a:extLst>
              <a:ext uri="{FF2B5EF4-FFF2-40B4-BE49-F238E27FC236}">
                <a16:creationId xmlns:a16="http://schemas.microsoft.com/office/drawing/2014/main" id="{AF5355F2-3D38-06A3-42A9-1816E51B62CC}"/>
              </a:ext>
            </a:extLst>
          </p:cNvPr>
          <p:cNvCxnSpPr/>
          <p:nvPr/>
        </p:nvCxnSpPr>
        <p:spPr>
          <a:xfrm flipH="1">
            <a:off x="5861050" y="4819650"/>
            <a:ext cx="622300" cy="92075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CasellaDiTesto 15">
            <a:extLst>
              <a:ext uri="{FF2B5EF4-FFF2-40B4-BE49-F238E27FC236}">
                <a16:creationId xmlns:a16="http://schemas.microsoft.com/office/drawing/2014/main" id="{F8BCCDD6-27A9-C5D8-7F5B-8CCE1F67BD2E}"/>
              </a:ext>
            </a:extLst>
          </p:cNvPr>
          <p:cNvSpPr txBox="1"/>
          <p:nvPr/>
        </p:nvSpPr>
        <p:spPr>
          <a:xfrm>
            <a:off x="57150" y="5371068"/>
            <a:ext cx="5473700" cy="369332"/>
          </a:xfrm>
          <a:prstGeom prst="rect">
            <a:avLst/>
          </a:prstGeom>
          <a:noFill/>
        </p:spPr>
        <p:txBody>
          <a:bodyPr wrap="square" rtlCol="0">
            <a:spAutoFit/>
          </a:bodyPr>
          <a:lstStyle/>
          <a:p>
            <a:r>
              <a:rPr lang="en-US" dirty="0">
                <a:effectLst>
                  <a:outerShdw blurRad="38100" dist="38100" dir="2700000" algn="tl">
                    <a:srgbClr val="000000">
                      <a:alpha val="43137"/>
                    </a:srgbClr>
                  </a:outerShdw>
                </a:effectLst>
              </a:rPr>
              <a:t>Sample Player-Season Records Across Dimensions</a:t>
            </a:r>
            <a:endParaRPr lang="it-IT" dirty="0">
              <a:effectLst>
                <a:outerShdw blurRad="38100" dist="38100" dir="2700000" algn="tl">
                  <a:srgbClr val="000000">
                    <a:alpha val="43137"/>
                  </a:srgbClr>
                </a:outerShdw>
              </a:effectLst>
            </a:endParaRPr>
          </a:p>
        </p:txBody>
      </p:sp>
      <p:pic>
        <p:nvPicPr>
          <p:cNvPr id="9" name="Immagine 8">
            <a:extLst>
              <a:ext uri="{FF2B5EF4-FFF2-40B4-BE49-F238E27FC236}">
                <a16:creationId xmlns:a16="http://schemas.microsoft.com/office/drawing/2014/main" id="{6845C4DF-4105-1DC2-5050-C6834C846C9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1600" y="5932487"/>
            <a:ext cx="6426200" cy="721536"/>
          </a:xfrm>
          <a:prstGeom prst="rect">
            <a:avLst/>
          </a:prstGeom>
        </p:spPr>
      </p:pic>
    </p:spTree>
    <p:extLst>
      <p:ext uri="{BB962C8B-B14F-4D97-AF65-F5344CB8AC3E}">
        <p14:creationId xmlns:p14="http://schemas.microsoft.com/office/powerpoint/2010/main" val="2242018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p:tgtEl>
                                          <p:spTgt spid="7"/>
                                        </p:tgtEl>
                                        <p:attrNameLst>
                                          <p:attrName>ppt_x</p:attrName>
                                        </p:attrNameLst>
                                      </p:cBhvr>
                                      <p:tavLst>
                                        <p:tav tm="0">
                                          <p:val>
                                            <p:strVal val="#ppt_x"/>
                                          </p:val>
                                        </p:tav>
                                        <p:tav tm="100000">
                                          <p:val>
                                            <p:strVal val="#ppt_x"/>
                                          </p:val>
                                        </p:tav>
                                      </p:tavLst>
                                    </p:anim>
                                    <p:anim calcmode="lin" valueType="num">
                                      <p:cBhvr additive="base">
                                        <p:cTn id="1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additive="base">
                                        <p:cTn id="23" dur="500" fill="hold"/>
                                        <p:tgtEl>
                                          <p:spTgt spid="5"/>
                                        </p:tgtEl>
                                        <p:attrNameLst>
                                          <p:attrName>ppt_x</p:attrName>
                                        </p:attrNameLst>
                                      </p:cBhvr>
                                      <p:tavLst>
                                        <p:tav tm="0">
                                          <p:val>
                                            <p:strVal val="#ppt_x"/>
                                          </p:val>
                                        </p:tav>
                                        <p:tav tm="100000">
                                          <p:val>
                                            <p:strVal val="#ppt_x"/>
                                          </p:val>
                                        </p:tav>
                                      </p:tavLst>
                                    </p:anim>
                                    <p:anim calcmode="lin" valueType="num">
                                      <p:cBhvr additive="base">
                                        <p:cTn id="2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1000"/>
                                        <p:tgtEl>
                                          <p:spTgt spid="8"/>
                                        </p:tgtEl>
                                      </p:cBhvr>
                                    </p:animEffect>
                                    <p:anim calcmode="lin" valueType="num">
                                      <p:cBhvr>
                                        <p:cTn id="30" dur="1000" fill="hold"/>
                                        <p:tgtEl>
                                          <p:spTgt spid="8"/>
                                        </p:tgtEl>
                                        <p:attrNameLst>
                                          <p:attrName>ppt_x</p:attrName>
                                        </p:attrNameLst>
                                      </p:cBhvr>
                                      <p:tavLst>
                                        <p:tav tm="0">
                                          <p:val>
                                            <p:strVal val="#ppt_x"/>
                                          </p:val>
                                        </p:tav>
                                        <p:tav tm="100000">
                                          <p:val>
                                            <p:strVal val="#ppt_x"/>
                                          </p:val>
                                        </p:tav>
                                      </p:tavLst>
                                    </p:anim>
                                    <p:anim calcmode="lin" valueType="num">
                                      <p:cBhvr>
                                        <p:cTn id="3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anim calcmode="lin" valueType="num">
                                      <p:cBhvr>
                                        <p:cTn id="37" dur="1000" fill="hold"/>
                                        <p:tgtEl>
                                          <p:spTgt spid="11"/>
                                        </p:tgtEl>
                                        <p:attrNameLst>
                                          <p:attrName>ppt_x</p:attrName>
                                        </p:attrNameLst>
                                      </p:cBhvr>
                                      <p:tavLst>
                                        <p:tav tm="0">
                                          <p:val>
                                            <p:strVal val="#ppt_x"/>
                                          </p:val>
                                        </p:tav>
                                        <p:tav tm="100000">
                                          <p:val>
                                            <p:strVal val="#ppt_x"/>
                                          </p:val>
                                        </p:tav>
                                      </p:tavLst>
                                    </p:anim>
                                    <p:anim calcmode="lin" valueType="num">
                                      <p:cBhvr>
                                        <p:cTn id="38"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4" presetClass="entr" presetSubtype="10" fill="hold" nodeType="click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randombar(horizontal)">
                                      <p:cBhvr>
                                        <p:cTn id="43" dur="500"/>
                                        <p:tgtEl>
                                          <p:spTgt spid="15"/>
                                        </p:tgtEl>
                                      </p:cBhvr>
                                    </p:animEffect>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9"/>
                                        </p:tgtEl>
                                        <p:attrNameLst>
                                          <p:attrName>style.visibility</p:attrName>
                                        </p:attrNameLst>
                                      </p:cBhvr>
                                      <p:to>
                                        <p:strVal val="visible"/>
                                      </p:to>
                                    </p:set>
                                    <p:animEffect transition="in" filter="fade">
                                      <p:cBhvr>
                                        <p:cTn id="48" dur="1000"/>
                                        <p:tgtEl>
                                          <p:spTgt spid="9"/>
                                        </p:tgtEl>
                                      </p:cBhvr>
                                    </p:animEffect>
                                    <p:anim calcmode="lin" valueType="num">
                                      <p:cBhvr>
                                        <p:cTn id="49" dur="1000" fill="hold"/>
                                        <p:tgtEl>
                                          <p:spTgt spid="9"/>
                                        </p:tgtEl>
                                        <p:attrNameLst>
                                          <p:attrName>ppt_x</p:attrName>
                                        </p:attrNameLst>
                                      </p:cBhvr>
                                      <p:tavLst>
                                        <p:tav tm="0">
                                          <p:val>
                                            <p:strVal val="#ppt_x"/>
                                          </p:val>
                                        </p:tav>
                                        <p:tav tm="100000">
                                          <p:val>
                                            <p:strVal val="#ppt_x"/>
                                          </p:val>
                                        </p:tav>
                                      </p:tavLst>
                                    </p:anim>
                                    <p:anim calcmode="lin" valueType="num">
                                      <p:cBhvr>
                                        <p:cTn id="5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Graphic spid="4" grpId="0">
        <p:bldAsOne/>
      </p:bldGraphic>
      <p:bldP spid="7" grpId="0"/>
      <p:bldP spid="5" grpId="0"/>
      <p:bldP spid="1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C51C0DD-AFB2-168E-2FFC-DDE478C8A04C}"/>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SQL VIEWS USED FOR THE ANALYSIS</a:t>
            </a:r>
          </a:p>
        </p:txBody>
      </p:sp>
      <p:sp>
        <p:nvSpPr>
          <p:cNvPr id="3" name="Segnaposto contenuto 2">
            <a:extLst>
              <a:ext uri="{FF2B5EF4-FFF2-40B4-BE49-F238E27FC236}">
                <a16:creationId xmlns:a16="http://schemas.microsoft.com/office/drawing/2014/main" id="{3D7AD1CF-FB67-539D-1E4C-5462BEE1BC32}"/>
              </a:ext>
            </a:extLst>
          </p:cNvPr>
          <p:cNvSpPr>
            <a:spLocks noGrp="1"/>
          </p:cNvSpPr>
          <p:nvPr>
            <p:ph idx="1"/>
          </p:nvPr>
        </p:nvSpPr>
        <p:spPr>
          <a:xfrm>
            <a:off x="0" y="1301926"/>
            <a:ext cx="8121552" cy="1162486"/>
          </a:xfrm>
        </p:spPr>
        <p:txBody>
          <a:bodyPr>
            <a:normAutofit/>
          </a:bodyPr>
          <a:lstStyle/>
          <a:p>
            <a:r>
              <a:rPr lang="en-US" sz="1800" dirty="0"/>
              <a:t> Each analysis relies on a dedicated SQL view built on the star schema.</a:t>
            </a:r>
          </a:p>
          <a:p>
            <a:r>
              <a:rPr lang="en-US" sz="1800" dirty="0"/>
              <a:t> Views encapsulate role-based filters, joined metrics, and precomputed fields.</a:t>
            </a:r>
          </a:p>
          <a:p>
            <a:r>
              <a:rPr lang="en-US" sz="1800" dirty="0"/>
              <a:t> They ensure consistency, reusability, and clean integration with Python.</a:t>
            </a:r>
          </a:p>
          <a:p>
            <a:endParaRPr lang="it-IT" dirty="0"/>
          </a:p>
        </p:txBody>
      </p:sp>
      <p:sp>
        <p:nvSpPr>
          <p:cNvPr id="4" name="CasellaDiTesto 3">
            <a:extLst>
              <a:ext uri="{FF2B5EF4-FFF2-40B4-BE49-F238E27FC236}">
                <a16:creationId xmlns:a16="http://schemas.microsoft.com/office/drawing/2014/main" id="{13980157-335C-5627-7974-B3CF0050BFB0}"/>
              </a:ext>
            </a:extLst>
          </p:cNvPr>
          <p:cNvSpPr txBox="1"/>
          <p:nvPr/>
        </p:nvSpPr>
        <p:spPr>
          <a:xfrm>
            <a:off x="0" y="2891852"/>
            <a:ext cx="12192000" cy="646331"/>
          </a:xfrm>
          <a:prstGeom prst="rect">
            <a:avLst/>
          </a:prstGeom>
          <a:noFill/>
        </p:spPr>
        <p:txBody>
          <a:bodyPr wrap="square" rtlCol="0">
            <a:spAutoFit/>
          </a:bodyPr>
          <a:lstStyle/>
          <a:p>
            <a:r>
              <a:rPr lang="it-IT" dirty="0" err="1"/>
              <a:t>Obviously</a:t>
            </a:r>
            <a:r>
              <a:rPr lang="it-IT" dirty="0"/>
              <a:t>, first of </a:t>
            </a:r>
            <a:r>
              <a:rPr lang="it-IT" dirty="0" err="1"/>
              <a:t>all</a:t>
            </a:r>
            <a:r>
              <a:rPr lang="it-IT" dirty="0"/>
              <a:t> </a:t>
            </a:r>
            <a:r>
              <a:rPr lang="it-IT" dirty="0" err="1"/>
              <a:t>we</a:t>
            </a:r>
            <a:r>
              <a:rPr lang="it-IT" dirty="0"/>
              <a:t> </a:t>
            </a:r>
            <a:r>
              <a:rPr lang="it-IT" dirty="0" err="1"/>
              <a:t>have</a:t>
            </a:r>
            <a:r>
              <a:rPr lang="it-IT" dirty="0"/>
              <a:t> to </a:t>
            </a:r>
            <a:r>
              <a:rPr lang="it-IT" dirty="0" err="1"/>
              <a:t>connect</a:t>
            </a:r>
            <a:r>
              <a:rPr lang="it-IT" dirty="0"/>
              <a:t> the database and Python. </a:t>
            </a:r>
            <a:r>
              <a:rPr lang="en-US" dirty="0"/>
              <a:t>All SQL views were queried directly from Python using </a:t>
            </a:r>
            <a:r>
              <a:rPr lang="en-US" b="1" dirty="0" err="1"/>
              <a:t>SQLAlchemy</a:t>
            </a:r>
            <a:r>
              <a:rPr lang="en-US" dirty="0"/>
              <a:t> as the database engine and </a:t>
            </a:r>
            <a:r>
              <a:rPr lang="en-US" b="1" dirty="0"/>
              <a:t>pandas</a:t>
            </a:r>
            <a:r>
              <a:rPr lang="en-US" dirty="0"/>
              <a:t> for data manipulation</a:t>
            </a:r>
            <a:endParaRPr lang="it-IT" dirty="0"/>
          </a:p>
        </p:txBody>
      </p:sp>
      <p:pic>
        <p:nvPicPr>
          <p:cNvPr id="8" name="Immagine 7" descr="Immagine che contiene testo, schermata, Carattere&#10;&#10;Il contenuto generato dall'IA potrebbe non essere corretto.">
            <a:extLst>
              <a:ext uri="{FF2B5EF4-FFF2-40B4-BE49-F238E27FC236}">
                <a16:creationId xmlns:a16="http://schemas.microsoft.com/office/drawing/2014/main" id="{BD59136E-D97D-EB68-8ED9-7638A29126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69202" y="1343818"/>
            <a:ext cx="3771998" cy="1372386"/>
          </a:xfrm>
          <a:prstGeom prst="rect">
            <a:avLst/>
          </a:prstGeom>
        </p:spPr>
      </p:pic>
      <p:pic>
        <p:nvPicPr>
          <p:cNvPr id="6" name="Immagine 5" descr="Immagine che contiene testo, schermata, Carattere, documento&#10;&#10;Il contenuto generato dall'IA potrebbe non essere corretto.">
            <a:extLst>
              <a:ext uri="{FF2B5EF4-FFF2-40B4-BE49-F238E27FC236}">
                <a16:creationId xmlns:a16="http://schemas.microsoft.com/office/drawing/2014/main" id="{D8ADB3F6-E9EA-1CAC-0EBF-62F7861049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6902" y="3652063"/>
            <a:ext cx="4540347" cy="1919403"/>
          </a:xfrm>
          <a:prstGeom prst="rect">
            <a:avLst/>
          </a:prstGeom>
        </p:spPr>
      </p:pic>
      <p:cxnSp>
        <p:nvCxnSpPr>
          <p:cNvPr id="9" name="Connettore 2 8">
            <a:extLst>
              <a:ext uri="{FF2B5EF4-FFF2-40B4-BE49-F238E27FC236}">
                <a16:creationId xmlns:a16="http://schemas.microsoft.com/office/drawing/2014/main" id="{02229ACE-916B-0E47-6898-01532070D4D0}"/>
              </a:ext>
            </a:extLst>
          </p:cNvPr>
          <p:cNvCxnSpPr>
            <a:cxnSpLocks/>
          </p:cNvCxnSpPr>
          <p:nvPr/>
        </p:nvCxnSpPr>
        <p:spPr>
          <a:xfrm>
            <a:off x="4845050" y="5010150"/>
            <a:ext cx="939800" cy="5459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1" name="Immagine 10">
            <a:extLst>
              <a:ext uri="{FF2B5EF4-FFF2-40B4-BE49-F238E27FC236}">
                <a16:creationId xmlns:a16="http://schemas.microsoft.com/office/drawing/2014/main" id="{22CBF735-0D9D-CF5E-A474-B7FE75560B5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11850" y="5514182"/>
            <a:ext cx="6153248" cy="1029099"/>
          </a:xfrm>
          <a:prstGeom prst="rect">
            <a:avLst/>
          </a:prstGeom>
        </p:spPr>
      </p:pic>
    </p:spTree>
    <p:extLst>
      <p:ext uri="{BB962C8B-B14F-4D97-AF65-F5344CB8AC3E}">
        <p14:creationId xmlns:p14="http://schemas.microsoft.com/office/powerpoint/2010/main" val="888874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 calcmode="lin" valueType="num">
                                      <p:cBhvr additive="base">
                                        <p:cTn id="18"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 calcmode="lin" valueType="num">
                                      <p:cBhvr additive="base">
                                        <p:cTn id="24"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 calcmode="lin" valueType="num">
                                      <p:cBhvr additive="base">
                                        <p:cTn id="30" dur="500" fill="hold"/>
                                        <p:tgtEl>
                                          <p:spTgt spid="4"/>
                                        </p:tgtEl>
                                        <p:attrNameLst>
                                          <p:attrName>ppt_x</p:attrName>
                                        </p:attrNameLst>
                                      </p:cBhvr>
                                      <p:tavLst>
                                        <p:tav tm="0">
                                          <p:val>
                                            <p:strVal val="#ppt_x"/>
                                          </p:val>
                                        </p:tav>
                                        <p:tav tm="100000">
                                          <p:val>
                                            <p:strVal val="#ppt_x"/>
                                          </p:val>
                                        </p:tav>
                                      </p:tavLst>
                                    </p:anim>
                                    <p:anim calcmode="lin" valueType="num">
                                      <p:cBhvr additive="base">
                                        <p:cTn id="31"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1000"/>
                                        <p:tgtEl>
                                          <p:spTgt spid="8"/>
                                        </p:tgtEl>
                                      </p:cBhvr>
                                    </p:animEffect>
                                    <p:anim calcmode="lin" valueType="num">
                                      <p:cBhvr>
                                        <p:cTn id="37" dur="1000" fill="hold"/>
                                        <p:tgtEl>
                                          <p:spTgt spid="8"/>
                                        </p:tgtEl>
                                        <p:attrNameLst>
                                          <p:attrName>ppt_x</p:attrName>
                                        </p:attrNameLst>
                                      </p:cBhvr>
                                      <p:tavLst>
                                        <p:tav tm="0">
                                          <p:val>
                                            <p:strVal val="#ppt_x"/>
                                          </p:val>
                                        </p:tav>
                                        <p:tav tm="100000">
                                          <p:val>
                                            <p:strVal val="#ppt_x"/>
                                          </p:val>
                                        </p:tav>
                                      </p:tavLst>
                                    </p:anim>
                                    <p:anim calcmode="lin" valueType="num">
                                      <p:cBhvr>
                                        <p:cTn id="38"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6"/>
                                        </p:tgtEl>
                                        <p:attrNameLst>
                                          <p:attrName>style.visibility</p:attrName>
                                        </p:attrNameLst>
                                      </p:cBhvr>
                                      <p:to>
                                        <p:strVal val="visible"/>
                                      </p:to>
                                    </p:set>
                                    <p:animEffect transition="in" filter="fade">
                                      <p:cBhvr>
                                        <p:cTn id="43" dur="1000"/>
                                        <p:tgtEl>
                                          <p:spTgt spid="6"/>
                                        </p:tgtEl>
                                      </p:cBhvr>
                                    </p:animEffect>
                                    <p:anim calcmode="lin" valueType="num">
                                      <p:cBhvr>
                                        <p:cTn id="44" dur="1000" fill="hold"/>
                                        <p:tgtEl>
                                          <p:spTgt spid="6"/>
                                        </p:tgtEl>
                                        <p:attrNameLst>
                                          <p:attrName>ppt_x</p:attrName>
                                        </p:attrNameLst>
                                      </p:cBhvr>
                                      <p:tavLst>
                                        <p:tav tm="0">
                                          <p:val>
                                            <p:strVal val="#ppt_x"/>
                                          </p:val>
                                        </p:tav>
                                        <p:tav tm="100000">
                                          <p:val>
                                            <p:strVal val="#ppt_x"/>
                                          </p:val>
                                        </p:tav>
                                      </p:tavLst>
                                    </p:anim>
                                    <p:anim calcmode="lin" valueType="num">
                                      <p:cBhvr>
                                        <p:cTn id="45"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22" presetClass="entr" presetSubtype="4" fill="hold" nodeType="clickEffect">
                                  <p:stCondLst>
                                    <p:cond delay="0"/>
                                  </p:stCondLst>
                                  <p:childTnLst>
                                    <p:set>
                                      <p:cBhvr>
                                        <p:cTn id="49" dur="1" fill="hold">
                                          <p:stCondLst>
                                            <p:cond delay="0"/>
                                          </p:stCondLst>
                                        </p:cTn>
                                        <p:tgtEl>
                                          <p:spTgt spid="9"/>
                                        </p:tgtEl>
                                        <p:attrNameLst>
                                          <p:attrName>style.visibility</p:attrName>
                                        </p:attrNameLst>
                                      </p:cBhvr>
                                      <p:to>
                                        <p:strVal val="visible"/>
                                      </p:to>
                                    </p:set>
                                    <p:animEffect transition="in" filter="wipe(down)">
                                      <p:cBhvr>
                                        <p:cTn id="50" dur="500"/>
                                        <p:tgtEl>
                                          <p:spTgt spid="9"/>
                                        </p:tgtEl>
                                      </p:cBhvr>
                                    </p:animEffect>
                                  </p:childTnLst>
                                </p:cTn>
                              </p:par>
                            </p:childTnLst>
                          </p:cTn>
                        </p:par>
                      </p:childTnLst>
                    </p:cTn>
                  </p:par>
                  <p:par>
                    <p:cTn id="51" fill="hold">
                      <p:stCondLst>
                        <p:cond delay="indefinite"/>
                      </p:stCondLst>
                      <p:childTnLst>
                        <p:par>
                          <p:cTn id="52" fill="hold">
                            <p:stCondLst>
                              <p:cond delay="0"/>
                            </p:stCondLst>
                            <p:childTnLst>
                              <p:par>
                                <p:cTn id="53" presetID="42" presetClass="entr" presetSubtype="0" fill="hold" nodeType="click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1000"/>
                                        <p:tgtEl>
                                          <p:spTgt spid="11"/>
                                        </p:tgtEl>
                                      </p:cBhvr>
                                    </p:animEffect>
                                    <p:anim calcmode="lin" valueType="num">
                                      <p:cBhvr>
                                        <p:cTn id="56" dur="1000" fill="hold"/>
                                        <p:tgtEl>
                                          <p:spTgt spid="11"/>
                                        </p:tgtEl>
                                        <p:attrNameLst>
                                          <p:attrName>ppt_x</p:attrName>
                                        </p:attrNameLst>
                                      </p:cBhvr>
                                      <p:tavLst>
                                        <p:tav tm="0">
                                          <p:val>
                                            <p:strVal val="#ppt_x"/>
                                          </p:val>
                                        </p:tav>
                                        <p:tav tm="100000">
                                          <p:val>
                                            <p:strVal val="#ppt_x"/>
                                          </p:val>
                                        </p:tav>
                                      </p:tavLst>
                                    </p:anim>
                                    <p:anim calcmode="lin" valueType="num">
                                      <p:cBhvr>
                                        <p:cTn id="57"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910E07E-643D-1023-6416-D44E1E2D8998}"/>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ANALYSIS 1 : AGE vs MARKET VALUE</a:t>
            </a:r>
          </a:p>
        </p:txBody>
      </p:sp>
      <p:sp>
        <p:nvSpPr>
          <p:cNvPr id="4" name="CasellaDiTesto 3">
            <a:extLst>
              <a:ext uri="{FF2B5EF4-FFF2-40B4-BE49-F238E27FC236}">
                <a16:creationId xmlns:a16="http://schemas.microsoft.com/office/drawing/2014/main" id="{ED1BFA79-AB58-6595-9262-1E5117D3B712}"/>
              </a:ext>
            </a:extLst>
          </p:cNvPr>
          <p:cNvSpPr txBox="1"/>
          <p:nvPr/>
        </p:nvSpPr>
        <p:spPr>
          <a:xfrm>
            <a:off x="0" y="1206500"/>
            <a:ext cx="7173439" cy="646331"/>
          </a:xfrm>
          <a:prstGeom prst="rect">
            <a:avLst/>
          </a:prstGeom>
          <a:noFill/>
        </p:spPr>
        <p:txBody>
          <a:bodyPr wrap="none" rtlCol="0">
            <a:spAutoFit/>
          </a:bodyPr>
          <a:lstStyle/>
          <a:p>
            <a:r>
              <a:rPr lang="en-US" b="1" dirty="0"/>
              <a:t>Goal</a:t>
            </a:r>
            <a:r>
              <a:rPr lang="en-US" dirty="0"/>
              <a:t>: </a:t>
            </a:r>
            <a:r>
              <a:rPr lang="en-US" sz="1600" dirty="0"/>
              <a:t>Evaluate how age affects market value among similar-performing players</a:t>
            </a:r>
            <a:endParaRPr lang="en-US" dirty="0"/>
          </a:p>
          <a:p>
            <a:endParaRPr lang="it-IT" dirty="0"/>
          </a:p>
        </p:txBody>
      </p:sp>
      <p:sp>
        <p:nvSpPr>
          <p:cNvPr id="10" name="CasellaDiTesto 9">
            <a:extLst>
              <a:ext uri="{FF2B5EF4-FFF2-40B4-BE49-F238E27FC236}">
                <a16:creationId xmlns:a16="http://schemas.microsoft.com/office/drawing/2014/main" id="{234198A8-8EA8-C48C-FAB6-DCCA12F34ABB}"/>
              </a:ext>
            </a:extLst>
          </p:cNvPr>
          <p:cNvSpPr txBox="1"/>
          <p:nvPr/>
        </p:nvSpPr>
        <p:spPr>
          <a:xfrm>
            <a:off x="0" y="1587500"/>
            <a:ext cx="11722100" cy="1138773"/>
          </a:xfrm>
          <a:prstGeom prst="rect">
            <a:avLst/>
          </a:prstGeom>
          <a:noFill/>
        </p:spPr>
        <p:txBody>
          <a:bodyPr wrap="square" rtlCol="0">
            <a:spAutoFit/>
          </a:bodyPr>
          <a:lstStyle/>
          <a:p>
            <a:r>
              <a:rPr lang="it-IT" b="1" dirty="0"/>
              <a:t>Method:</a:t>
            </a:r>
          </a:p>
          <a:p>
            <a:pPr marL="1200150" lvl="2" indent="-285750">
              <a:buFont typeface="Arial" panose="020B0604020202020204" pitchFamily="34" charset="0"/>
              <a:buChar char="•"/>
            </a:pPr>
            <a:r>
              <a:rPr lang="en-US" sz="1600" dirty="0"/>
              <a:t>Selected player pairs with 5+ year age gap and similar stats</a:t>
            </a:r>
          </a:p>
          <a:p>
            <a:pPr marL="1200150" lvl="2" indent="-285750">
              <a:buFont typeface="Arial" panose="020B0604020202020204" pitchFamily="34" charset="0"/>
              <a:buChar char="•"/>
            </a:pPr>
            <a:r>
              <a:rPr lang="en-US" sz="1600" dirty="0"/>
              <a:t>Computed age gap and value gap for each pair</a:t>
            </a:r>
          </a:p>
          <a:p>
            <a:pPr marL="1200150" lvl="2" indent="-285750">
              <a:buFont typeface="Arial" panose="020B0604020202020204" pitchFamily="34" charset="0"/>
              <a:buChar char="•"/>
            </a:pPr>
            <a:r>
              <a:rPr lang="en-US" sz="1600" dirty="0"/>
              <a:t>Performed linear regression and plotted scatter + boxplots</a:t>
            </a:r>
          </a:p>
        </p:txBody>
      </p:sp>
      <p:pic>
        <p:nvPicPr>
          <p:cNvPr id="15" name="Immagine 14" descr="Immagine che contiene testo, schermata, diagramma, Rettangolo&#10;&#10;Il contenuto generato dall'IA potrebbe non essere corretto.">
            <a:extLst>
              <a:ext uri="{FF2B5EF4-FFF2-40B4-BE49-F238E27FC236}">
                <a16:creationId xmlns:a16="http://schemas.microsoft.com/office/drawing/2014/main" id="{D0B30335-FA6B-65DF-E735-721C59CBAC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57" y="3180851"/>
            <a:ext cx="2473393" cy="1605232"/>
          </a:xfrm>
          <a:prstGeom prst="rect">
            <a:avLst/>
          </a:prstGeom>
        </p:spPr>
      </p:pic>
      <p:pic>
        <p:nvPicPr>
          <p:cNvPr id="17" name="Immagine 16" descr="Immagine che contiene linea, testo, Diagramma, diagramma&#10;&#10;Il contenuto generato dall'IA potrebbe non essere corretto.">
            <a:extLst>
              <a:ext uri="{FF2B5EF4-FFF2-40B4-BE49-F238E27FC236}">
                <a16:creationId xmlns:a16="http://schemas.microsoft.com/office/drawing/2014/main" id="{76AC76E9-0FF8-782A-F6B9-A854BDEDD4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957" y="5169233"/>
            <a:ext cx="2473393" cy="1617300"/>
          </a:xfrm>
          <a:prstGeom prst="rect">
            <a:avLst/>
          </a:prstGeom>
        </p:spPr>
      </p:pic>
      <p:pic>
        <p:nvPicPr>
          <p:cNvPr id="19" name="Immagine 18" descr="Immagine che contiene testo, schermata, diagramma, Rettangolo&#10;&#10;Il contenuto generato dall'IA potrebbe non essere corretto.">
            <a:extLst>
              <a:ext uri="{FF2B5EF4-FFF2-40B4-BE49-F238E27FC236}">
                <a16:creationId xmlns:a16="http://schemas.microsoft.com/office/drawing/2014/main" id="{6A0EAD7D-956A-6C86-7CF2-40608B7FEB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725413" y="3180851"/>
            <a:ext cx="2628387" cy="1532153"/>
          </a:xfrm>
          <a:prstGeom prst="rect">
            <a:avLst/>
          </a:prstGeom>
        </p:spPr>
      </p:pic>
      <p:pic>
        <p:nvPicPr>
          <p:cNvPr id="21" name="Immagine 20" descr="Immagine che contiene testo, linea, Diagramma, diagramma&#10;&#10;Il contenuto generato dall'IA potrebbe non essere corretto.">
            <a:extLst>
              <a:ext uri="{FF2B5EF4-FFF2-40B4-BE49-F238E27FC236}">
                <a16:creationId xmlns:a16="http://schemas.microsoft.com/office/drawing/2014/main" id="{45E1F463-D184-1D0B-6285-4964F81CC3C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25412" y="5142359"/>
            <a:ext cx="2628387" cy="1642742"/>
          </a:xfrm>
          <a:prstGeom prst="rect">
            <a:avLst/>
          </a:prstGeom>
        </p:spPr>
      </p:pic>
      <p:pic>
        <p:nvPicPr>
          <p:cNvPr id="23" name="Immagine 22" descr="Immagine che contiene testo, schermata, diagramma, Rettangolo&#10;&#10;Il contenuto generato dall'IA potrebbe non essere corretto.">
            <a:extLst>
              <a:ext uri="{FF2B5EF4-FFF2-40B4-BE49-F238E27FC236}">
                <a16:creationId xmlns:a16="http://schemas.microsoft.com/office/drawing/2014/main" id="{A6F24634-39A1-6894-1D86-53123DD946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86408" y="3180852"/>
            <a:ext cx="2473393" cy="1605231"/>
          </a:xfrm>
          <a:prstGeom prst="rect">
            <a:avLst/>
          </a:prstGeom>
        </p:spPr>
      </p:pic>
      <p:pic>
        <p:nvPicPr>
          <p:cNvPr id="25" name="Immagine 24" descr="Immagine che contiene testo, linea, Diagramma, diagramma&#10;&#10;Il contenuto generato dall'IA potrebbe non essere corretto.">
            <a:extLst>
              <a:ext uri="{FF2B5EF4-FFF2-40B4-BE49-F238E27FC236}">
                <a16:creationId xmlns:a16="http://schemas.microsoft.com/office/drawing/2014/main" id="{1F31AAF5-54E9-1FAE-C49C-A24D7090729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86406" y="5109873"/>
            <a:ext cx="2473393" cy="1605231"/>
          </a:xfrm>
          <a:prstGeom prst="rect">
            <a:avLst/>
          </a:prstGeom>
        </p:spPr>
      </p:pic>
    </p:spTree>
    <p:extLst>
      <p:ext uri="{BB962C8B-B14F-4D97-AF65-F5344CB8AC3E}">
        <p14:creationId xmlns:p14="http://schemas.microsoft.com/office/powerpoint/2010/main" val="4557299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anim calcmode="lin" valueType="num">
                                      <p:cBhvr additive="base">
                                        <p:cTn id="18" dur="500" fill="hold"/>
                                        <p:tgtEl>
                                          <p:spTgt spid="10"/>
                                        </p:tgtEl>
                                        <p:attrNameLst>
                                          <p:attrName>ppt_x</p:attrName>
                                        </p:attrNameLst>
                                      </p:cBhvr>
                                      <p:tavLst>
                                        <p:tav tm="0">
                                          <p:val>
                                            <p:strVal val="#ppt_x"/>
                                          </p:val>
                                        </p:tav>
                                        <p:tav tm="100000">
                                          <p:val>
                                            <p:strVal val="#ppt_x"/>
                                          </p:val>
                                        </p:tav>
                                      </p:tavLst>
                                    </p:anim>
                                    <p:anim calcmode="lin" valueType="num">
                                      <p:cBhvr additive="base">
                                        <p:cTn id="19"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1000"/>
                                        <p:tgtEl>
                                          <p:spTgt spid="15"/>
                                        </p:tgtEl>
                                      </p:cBhvr>
                                    </p:animEffect>
                                    <p:anim calcmode="lin" valueType="num">
                                      <p:cBhvr>
                                        <p:cTn id="25" dur="1000" fill="hold"/>
                                        <p:tgtEl>
                                          <p:spTgt spid="15"/>
                                        </p:tgtEl>
                                        <p:attrNameLst>
                                          <p:attrName>ppt_x</p:attrName>
                                        </p:attrNameLst>
                                      </p:cBhvr>
                                      <p:tavLst>
                                        <p:tav tm="0">
                                          <p:val>
                                            <p:strVal val="#ppt_x"/>
                                          </p:val>
                                        </p:tav>
                                        <p:tav tm="100000">
                                          <p:val>
                                            <p:strVal val="#ppt_x"/>
                                          </p:val>
                                        </p:tav>
                                      </p:tavLst>
                                    </p:anim>
                                    <p:anim calcmode="lin" valueType="num">
                                      <p:cBhvr>
                                        <p:cTn id="26" dur="1000" fill="hold"/>
                                        <p:tgtEl>
                                          <p:spTgt spid="15"/>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1000"/>
                                        <p:tgtEl>
                                          <p:spTgt spid="17"/>
                                        </p:tgtEl>
                                      </p:cBhvr>
                                    </p:animEffect>
                                    <p:anim calcmode="lin" valueType="num">
                                      <p:cBhvr>
                                        <p:cTn id="30" dur="1000" fill="hold"/>
                                        <p:tgtEl>
                                          <p:spTgt spid="17"/>
                                        </p:tgtEl>
                                        <p:attrNameLst>
                                          <p:attrName>ppt_x</p:attrName>
                                        </p:attrNameLst>
                                      </p:cBhvr>
                                      <p:tavLst>
                                        <p:tav tm="0">
                                          <p:val>
                                            <p:strVal val="#ppt_x"/>
                                          </p:val>
                                        </p:tav>
                                        <p:tav tm="100000">
                                          <p:val>
                                            <p:strVal val="#ppt_x"/>
                                          </p:val>
                                        </p:tav>
                                      </p:tavLst>
                                    </p:anim>
                                    <p:anim calcmode="lin" valueType="num">
                                      <p:cBhvr>
                                        <p:cTn id="31"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1000"/>
                                        <p:tgtEl>
                                          <p:spTgt spid="23"/>
                                        </p:tgtEl>
                                      </p:cBhvr>
                                    </p:animEffect>
                                    <p:anim calcmode="lin" valueType="num">
                                      <p:cBhvr>
                                        <p:cTn id="37" dur="1000" fill="hold"/>
                                        <p:tgtEl>
                                          <p:spTgt spid="23"/>
                                        </p:tgtEl>
                                        <p:attrNameLst>
                                          <p:attrName>ppt_x</p:attrName>
                                        </p:attrNameLst>
                                      </p:cBhvr>
                                      <p:tavLst>
                                        <p:tav tm="0">
                                          <p:val>
                                            <p:strVal val="#ppt_x"/>
                                          </p:val>
                                        </p:tav>
                                        <p:tav tm="100000">
                                          <p:val>
                                            <p:strVal val="#ppt_x"/>
                                          </p:val>
                                        </p:tav>
                                      </p:tavLst>
                                    </p:anim>
                                    <p:anim calcmode="lin" valueType="num">
                                      <p:cBhvr>
                                        <p:cTn id="38" dur="1000" fill="hold"/>
                                        <p:tgtEl>
                                          <p:spTgt spid="2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1000"/>
                                        <p:tgtEl>
                                          <p:spTgt spid="25"/>
                                        </p:tgtEl>
                                      </p:cBhvr>
                                    </p:animEffect>
                                    <p:anim calcmode="lin" valueType="num">
                                      <p:cBhvr>
                                        <p:cTn id="42" dur="1000" fill="hold"/>
                                        <p:tgtEl>
                                          <p:spTgt spid="25"/>
                                        </p:tgtEl>
                                        <p:attrNameLst>
                                          <p:attrName>ppt_x</p:attrName>
                                        </p:attrNameLst>
                                      </p:cBhvr>
                                      <p:tavLst>
                                        <p:tav tm="0">
                                          <p:val>
                                            <p:strVal val="#ppt_x"/>
                                          </p:val>
                                        </p:tav>
                                        <p:tav tm="100000">
                                          <p:val>
                                            <p:strVal val="#ppt_x"/>
                                          </p:val>
                                        </p:tav>
                                      </p:tavLst>
                                    </p:anim>
                                    <p:anim calcmode="lin" valueType="num">
                                      <p:cBhvr>
                                        <p:cTn id="43" dur="10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1000"/>
                                        <p:tgtEl>
                                          <p:spTgt spid="19"/>
                                        </p:tgtEl>
                                      </p:cBhvr>
                                    </p:animEffect>
                                    <p:anim calcmode="lin" valueType="num">
                                      <p:cBhvr>
                                        <p:cTn id="49" dur="1000" fill="hold"/>
                                        <p:tgtEl>
                                          <p:spTgt spid="19"/>
                                        </p:tgtEl>
                                        <p:attrNameLst>
                                          <p:attrName>ppt_x</p:attrName>
                                        </p:attrNameLst>
                                      </p:cBhvr>
                                      <p:tavLst>
                                        <p:tav tm="0">
                                          <p:val>
                                            <p:strVal val="#ppt_x"/>
                                          </p:val>
                                        </p:tav>
                                        <p:tav tm="100000">
                                          <p:val>
                                            <p:strVal val="#ppt_x"/>
                                          </p:val>
                                        </p:tav>
                                      </p:tavLst>
                                    </p:anim>
                                    <p:anim calcmode="lin" valueType="num">
                                      <p:cBhvr>
                                        <p:cTn id="50" dur="1000" fill="hold"/>
                                        <p:tgtEl>
                                          <p:spTgt spid="19"/>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1000"/>
                                        <p:tgtEl>
                                          <p:spTgt spid="21"/>
                                        </p:tgtEl>
                                      </p:cBhvr>
                                    </p:animEffect>
                                    <p:anim calcmode="lin" valueType="num">
                                      <p:cBhvr>
                                        <p:cTn id="54" dur="1000" fill="hold"/>
                                        <p:tgtEl>
                                          <p:spTgt spid="21"/>
                                        </p:tgtEl>
                                        <p:attrNameLst>
                                          <p:attrName>ppt_x</p:attrName>
                                        </p:attrNameLst>
                                      </p:cBhvr>
                                      <p:tavLst>
                                        <p:tav tm="0">
                                          <p:val>
                                            <p:strVal val="#ppt_x"/>
                                          </p:val>
                                        </p:tav>
                                        <p:tav tm="100000">
                                          <p:val>
                                            <p:strVal val="#ppt_x"/>
                                          </p:val>
                                        </p:tav>
                                      </p:tavLst>
                                    </p:anim>
                                    <p:anim calcmode="lin" valueType="num">
                                      <p:cBhvr>
                                        <p:cTn id="55"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0DFDEEC-F6C5-E207-8080-D5CB27F38883}"/>
              </a:ext>
            </a:extLst>
          </p:cNvPr>
          <p:cNvSpPr>
            <a:spLocks noGrp="1"/>
          </p:cNvSpPr>
          <p:nvPr>
            <p:ph type="title"/>
          </p:nvPr>
        </p:nvSpPr>
        <p:spPr>
          <a:xfrm>
            <a:off x="768350" y="18255"/>
            <a:ext cx="10655300" cy="1325563"/>
          </a:xfrm>
        </p:spPr>
        <p:txBody>
          <a:bodyPr/>
          <a:lstStyle/>
          <a:p>
            <a:pPr algn="ctr"/>
            <a:r>
              <a:rPr lang="it-IT" b="1" dirty="0">
                <a:effectLst>
                  <a:outerShdw blurRad="38100" dist="38100" dir="2700000" algn="tl">
                    <a:srgbClr val="000000">
                      <a:alpha val="43137"/>
                    </a:srgbClr>
                  </a:outerShdw>
                </a:effectLst>
              </a:rPr>
              <a:t>ANALYSIS 2 : </a:t>
            </a:r>
            <a:r>
              <a:rPr lang="en-US" b="1" dirty="0">
                <a:effectLst>
                  <a:outerShdw blurRad="38100" dist="38100" dir="2700000" algn="tl">
                    <a:srgbClr val="000000">
                      <a:alpha val="43137"/>
                    </a:srgbClr>
                  </a:outerShdw>
                </a:effectLst>
              </a:rPr>
              <a:t>Metric Importance by Role (R²)</a:t>
            </a:r>
            <a:r>
              <a:rPr lang="it-IT" b="1" dirty="0">
                <a:effectLst>
                  <a:outerShdw blurRad="38100" dist="38100" dir="2700000" algn="tl">
                    <a:srgbClr val="000000">
                      <a:alpha val="43137"/>
                    </a:srgbClr>
                  </a:outerShdw>
                </a:effectLst>
              </a:rPr>
              <a:t> </a:t>
            </a:r>
          </a:p>
        </p:txBody>
      </p:sp>
      <p:sp>
        <p:nvSpPr>
          <p:cNvPr id="4" name="CasellaDiTesto 3">
            <a:extLst>
              <a:ext uri="{FF2B5EF4-FFF2-40B4-BE49-F238E27FC236}">
                <a16:creationId xmlns:a16="http://schemas.microsoft.com/office/drawing/2014/main" id="{9908B663-C7DD-EAAE-926E-22D1874ECA06}"/>
              </a:ext>
            </a:extLst>
          </p:cNvPr>
          <p:cNvSpPr txBox="1"/>
          <p:nvPr/>
        </p:nvSpPr>
        <p:spPr>
          <a:xfrm>
            <a:off x="0" y="1016000"/>
            <a:ext cx="12052300" cy="646331"/>
          </a:xfrm>
          <a:prstGeom prst="rect">
            <a:avLst/>
          </a:prstGeom>
          <a:noFill/>
        </p:spPr>
        <p:txBody>
          <a:bodyPr wrap="square" rtlCol="0">
            <a:spAutoFit/>
          </a:bodyPr>
          <a:lstStyle/>
          <a:p>
            <a:r>
              <a:rPr lang="en-US" b="1" dirty="0"/>
              <a:t>Goal</a:t>
            </a:r>
            <a:r>
              <a:rPr lang="en-US" dirty="0"/>
              <a:t>: </a:t>
            </a:r>
            <a:r>
              <a:rPr lang="en-US" sz="1600" dirty="0"/>
              <a:t>Identify which performance metrics most influence value</a:t>
            </a:r>
            <a:endParaRPr lang="en-US" dirty="0"/>
          </a:p>
          <a:p>
            <a:endParaRPr lang="it-IT" dirty="0"/>
          </a:p>
        </p:txBody>
      </p:sp>
      <p:sp>
        <p:nvSpPr>
          <p:cNvPr id="5" name="CasellaDiTesto 4">
            <a:extLst>
              <a:ext uri="{FF2B5EF4-FFF2-40B4-BE49-F238E27FC236}">
                <a16:creationId xmlns:a16="http://schemas.microsoft.com/office/drawing/2014/main" id="{065934CB-45FE-5A81-A722-2AAB61EAC604}"/>
              </a:ext>
            </a:extLst>
          </p:cNvPr>
          <p:cNvSpPr txBox="1"/>
          <p:nvPr/>
        </p:nvSpPr>
        <p:spPr>
          <a:xfrm>
            <a:off x="0" y="1403350"/>
            <a:ext cx="12007850" cy="1415772"/>
          </a:xfrm>
          <a:prstGeom prst="rect">
            <a:avLst/>
          </a:prstGeom>
          <a:noFill/>
        </p:spPr>
        <p:txBody>
          <a:bodyPr wrap="square" rtlCol="0">
            <a:spAutoFit/>
          </a:bodyPr>
          <a:lstStyle/>
          <a:p>
            <a:r>
              <a:rPr lang="it-IT" b="1" dirty="0"/>
              <a:t>Method:</a:t>
            </a:r>
          </a:p>
          <a:p>
            <a:pPr marL="1200150" lvl="2" indent="-285750">
              <a:buFont typeface="Arial" panose="020B0604020202020204" pitchFamily="34" charset="0"/>
              <a:buChar char="•"/>
            </a:pPr>
            <a:r>
              <a:rPr lang="en-US" sz="1600" dirty="0"/>
              <a:t>Forwards, midfielders, defenders each analyzed separately</a:t>
            </a:r>
          </a:p>
          <a:p>
            <a:pPr marL="1200150" lvl="2" indent="-285750">
              <a:buFont typeface="Arial" panose="020B0604020202020204" pitchFamily="34" charset="0"/>
              <a:buChar char="•"/>
            </a:pPr>
            <a:r>
              <a:rPr lang="en-US" sz="1600" dirty="0"/>
              <a:t>Simple linear regression (one metric at a time)</a:t>
            </a:r>
          </a:p>
          <a:p>
            <a:pPr marL="1200150" lvl="2" indent="-285750">
              <a:buFont typeface="Arial" panose="020B0604020202020204" pitchFamily="34" charset="0"/>
              <a:buChar char="•"/>
            </a:pPr>
            <a:r>
              <a:rPr lang="en-US" sz="1600" dirty="0"/>
              <a:t>R² values computed and compared across metrics</a:t>
            </a:r>
          </a:p>
          <a:p>
            <a:pPr marL="1200150" lvl="2" indent="-285750">
              <a:buFont typeface="Arial" panose="020B0604020202020204" pitchFamily="34" charset="0"/>
              <a:buChar char="•"/>
            </a:pPr>
            <a:endParaRPr lang="it-IT" b="1" dirty="0"/>
          </a:p>
        </p:txBody>
      </p:sp>
      <p:sp>
        <p:nvSpPr>
          <p:cNvPr id="6" name="CasellaDiTesto 5">
            <a:extLst>
              <a:ext uri="{FF2B5EF4-FFF2-40B4-BE49-F238E27FC236}">
                <a16:creationId xmlns:a16="http://schemas.microsoft.com/office/drawing/2014/main" id="{4AF1D4C3-B5F3-C249-30CA-7EF8BA4C21C9}"/>
              </a:ext>
            </a:extLst>
          </p:cNvPr>
          <p:cNvSpPr txBox="1"/>
          <p:nvPr/>
        </p:nvSpPr>
        <p:spPr>
          <a:xfrm>
            <a:off x="0" y="2640748"/>
            <a:ext cx="12007850" cy="861774"/>
          </a:xfrm>
          <a:prstGeom prst="rect">
            <a:avLst/>
          </a:prstGeom>
          <a:noFill/>
        </p:spPr>
        <p:txBody>
          <a:bodyPr wrap="square" rtlCol="0">
            <a:spAutoFit/>
          </a:bodyPr>
          <a:lstStyle/>
          <a:p>
            <a:r>
              <a:rPr lang="it-IT" b="1" dirty="0"/>
              <a:t>Note:</a:t>
            </a:r>
          </a:p>
          <a:p>
            <a:pPr marL="1200150" lvl="2" indent="-285750">
              <a:buFont typeface="Arial" panose="020B0604020202020204" pitchFamily="34" charset="0"/>
              <a:buChar char="•"/>
            </a:pPr>
            <a:r>
              <a:rPr lang="en-US" sz="1600" dirty="0"/>
              <a:t>Each regression uses OLS and returns an R² value</a:t>
            </a:r>
          </a:p>
          <a:p>
            <a:pPr marL="1200150" lvl="2" indent="-285750">
              <a:buFont typeface="Arial" panose="020B0604020202020204" pitchFamily="34" charset="0"/>
              <a:buChar char="•"/>
            </a:pPr>
            <a:r>
              <a:rPr lang="en-US" sz="1600" dirty="0"/>
              <a:t>Higher R² indicates that a metric better explains market value variation</a:t>
            </a:r>
          </a:p>
        </p:txBody>
      </p:sp>
      <p:pic>
        <p:nvPicPr>
          <p:cNvPr id="8" name="Immagine 7" descr="Immagine che contiene testo, schermata, diagramma, linea&#10;&#10;Il contenuto generato dall'IA potrebbe non essere corretto.">
            <a:extLst>
              <a:ext uri="{FF2B5EF4-FFF2-40B4-BE49-F238E27FC236}">
                <a16:creationId xmlns:a16="http://schemas.microsoft.com/office/drawing/2014/main" id="{7D61EB49-AC0E-62F0-70DD-99D75E5DE91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105" y="3876922"/>
            <a:ext cx="3333755" cy="2712158"/>
          </a:xfrm>
          <a:prstGeom prst="rect">
            <a:avLst/>
          </a:prstGeom>
        </p:spPr>
      </p:pic>
      <p:pic>
        <p:nvPicPr>
          <p:cNvPr id="10" name="Immagine 9" descr="Immagine che contiene testo, schermata, diagramma, linea&#10;&#10;Il contenuto generato dall'IA potrebbe non essere corretto.">
            <a:extLst>
              <a:ext uri="{FF2B5EF4-FFF2-40B4-BE49-F238E27FC236}">
                <a16:creationId xmlns:a16="http://schemas.microsoft.com/office/drawing/2014/main" id="{3F8F6707-4245-DB5D-264E-F5BCD35864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02579" y="3876922"/>
            <a:ext cx="3667121" cy="2644528"/>
          </a:xfrm>
          <a:prstGeom prst="rect">
            <a:avLst/>
          </a:prstGeom>
        </p:spPr>
      </p:pic>
      <p:pic>
        <p:nvPicPr>
          <p:cNvPr id="12" name="Immagine 11" descr="Immagine che contiene testo, schermata, diagramma, linea&#10;&#10;Il contenuto generato dall'IA potrebbe non essere corretto.">
            <a:extLst>
              <a:ext uri="{FF2B5EF4-FFF2-40B4-BE49-F238E27FC236}">
                <a16:creationId xmlns:a16="http://schemas.microsoft.com/office/drawing/2014/main" id="{2A646344-0FCE-55E2-79BB-E22552CBD7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92444" y="3876922"/>
            <a:ext cx="3959551" cy="2981077"/>
          </a:xfrm>
          <a:prstGeom prst="rect">
            <a:avLst/>
          </a:prstGeom>
        </p:spPr>
      </p:pic>
    </p:spTree>
    <p:extLst>
      <p:ext uri="{BB962C8B-B14F-4D97-AF65-F5344CB8AC3E}">
        <p14:creationId xmlns:p14="http://schemas.microsoft.com/office/powerpoint/2010/main" val="2508807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fill="hold"/>
                                        <p:tgtEl>
                                          <p:spTgt spid="5"/>
                                        </p:tgtEl>
                                        <p:attrNameLst>
                                          <p:attrName>ppt_x</p:attrName>
                                        </p:attrNameLst>
                                      </p:cBhvr>
                                      <p:tavLst>
                                        <p:tav tm="0">
                                          <p:val>
                                            <p:strVal val="#ppt_x"/>
                                          </p:val>
                                        </p:tav>
                                        <p:tav tm="100000">
                                          <p:val>
                                            <p:strVal val="#ppt_x"/>
                                          </p:val>
                                        </p:tav>
                                      </p:tavLst>
                                    </p:anim>
                                    <p:anim calcmode="lin" valueType="num">
                                      <p:cBhvr additive="base">
                                        <p:cTn id="1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anim calcmode="lin" valueType="num">
                                      <p:cBhvr>
                                        <p:cTn id="31" dur="1000" fill="hold"/>
                                        <p:tgtEl>
                                          <p:spTgt spid="8"/>
                                        </p:tgtEl>
                                        <p:attrNameLst>
                                          <p:attrName>ppt_x</p:attrName>
                                        </p:attrNameLst>
                                      </p:cBhvr>
                                      <p:tavLst>
                                        <p:tav tm="0">
                                          <p:val>
                                            <p:strVal val="#ppt_x"/>
                                          </p:val>
                                        </p:tav>
                                        <p:tav tm="100000">
                                          <p:val>
                                            <p:strVal val="#ppt_x"/>
                                          </p:val>
                                        </p:tav>
                                      </p:tavLst>
                                    </p:anim>
                                    <p:anim calcmode="lin" valueType="num">
                                      <p:cBhvr>
                                        <p:cTn id="3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1000"/>
                                        <p:tgtEl>
                                          <p:spTgt spid="12"/>
                                        </p:tgtEl>
                                      </p:cBhvr>
                                    </p:animEffect>
                                    <p:anim calcmode="lin" valueType="num">
                                      <p:cBhvr>
                                        <p:cTn id="38" dur="1000" fill="hold"/>
                                        <p:tgtEl>
                                          <p:spTgt spid="12"/>
                                        </p:tgtEl>
                                        <p:attrNameLst>
                                          <p:attrName>ppt_x</p:attrName>
                                        </p:attrNameLst>
                                      </p:cBhvr>
                                      <p:tavLst>
                                        <p:tav tm="0">
                                          <p:val>
                                            <p:strVal val="#ppt_x"/>
                                          </p:val>
                                        </p:tav>
                                        <p:tav tm="100000">
                                          <p:val>
                                            <p:strVal val="#ppt_x"/>
                                          </p:val>
                                        </p:tav>
                                      </p:tavLst>
                                    </p:anim>
                                    <p:anim calcmode="lin" valueType="num">
                                      <p:cBhvr>
                                        <p:cTn id="39"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EFB1DC4-C5BA-2891-8349-EB43E7A36FE3}"/>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ANALYSIS 3: League </a:t>
            </a:r>
            <a:r>
              <a:rPr lang="it-IT" b="1" dirty="0" err="1">
                <a:effectLst>
                  <a:outerShdw blurRad="38100" dist="38100" dir="2700000" algn="tl">
                    <a:srgbClr val="000000">
                      <a:alpha val="43137"/>
                    </a:srgbClr>
                  </a:outerShdw>
                </a:effectLst>
              </a:rPr>
              <a:t>Bias</a:t>
            </a:r>
            <a:endParaRPr lang="it-IT" b="1" dirty="0">
              <a:effectLst>
                <a:outerShdw blurRad="38100" dist="38100" dir="2700000" algn="tl">
                  <a:srgbClr val="000000">
                    <a:alpha val="43137"/>
                  </a:srgbClr>
                </a:outerShdw>
              </a:effectLst>
            </a:endParaRPr>
          </a:p>
        </p:txBody>
      </p:sp>
      <p:sp>
        <p:nvSpPr>
          <p:cNvPr id="3" name="CasellaDiTesto 2">
            <a:extLst>
              <a:ext uri="{FF2B5EF4-FFF2-40B4-BE49-F238E27FC236}">
                <a16:creationId xmlns:a16="http://schemas.microsoft.com/office/drawing/2014/main" id="{92E7CFB1-71B8-BC0D-BFAC-23E88819F693}"/>
              </a:ext>
            </a:extLst>
          </p:cNvPr>
          <p:cNvSpPr txBox="1"/>
          <p:nvPr/>
        </p:nvSpPr>
        <p:spPr>
          <a:xfrm>
            <a:off x="0" y="1104900"/>
            <a:ext cx="11550650" cy="646331"/>
          </a:xfrm>
          <a:prstGeom prst="rect">
            <a:avLst/>
          </a:prstGeom>
          <a:noFill/>
        </p:spPr>
        <p:txBody>
          <a:bodyPr wrap="square" rtlCol="0">
            <a:spAutoFit/>
          </a:bodyPr>
          <a:lstStyle/>
          <a:p>
            <a:r>
              <a:rPr lang="en-US" b="1" dirty="0"/>
              <a:t>Goal</a:t>
            </a:r>
            <a:r>
              <a:rPr lang="en-US" dirty="0"/>
              <a:t>: </a:t>
            </a:r>
            <a:r>
              <a:rPr lang="en-US" sz="1600" dirty="0"/>
              <a:t>Detect market valuation bias across leagues</a:t>
            </a:r>
            <a:endParaRPr lang="en-US" dirty="0"/>
          </a:p>
          <a:p>
            <a:endParaRPr lang="it-IT" dirty="0"/>
          </a:p>
        </p:txBody>
      </p:sp>
      <p:sp>
        <p:nvSpPr>
          <p:cNvPr id="5" name="CasellaDiTesto 4">
            <a:extLst>
              <a:ext uri="{FF2B5EF4-FFF2-40B4-BE49-F238E27FC236}">
                <a16:creationId xmlns:a16="http://schemas.microsoft.com/office/drawing/2014/main" id="{0985132A-F88C-AA22-18B5-E7EED7577DD3}"/>
              </a:ext>
            </a:extLst>
          </p:cNvPr>
          <p:cNvSpPr txBox="1"/>
          <p:nvPr/>
        </p:nvSpPr>
        <p:spPr>
          <a:xfrm>
            <a:off x="0" y="1485900"/>
            <a:ext cx="12141200" cy="1138773"/>
          </a:xfrm>
          <a:prstGeom prst="rect">
            <a:avLst/>
          </a:prstGeom>
          <a:noFill/>
        </p:spPr>
        <p:txBody>
          <a:bodyPr wrap="square" rtlCol="0">
            <a:spAutoFit/>
          </a:bodyPr>
          <a:lstStyle/>
          <a:p>
            <a:r>
              <a:rPr lang="en-US" b="1" dirty="0"/>
              <a:t>Method</a:t>
            </a:r>
            <a:r>
              <a:rPr lang="en-US" dirty="0"/>
              <a:t>:</a:t>
            </a:r>
          </a:p>
          <a:p>
            <a:pPr marL="1200150" lvl="2" indent="-285750">
              <a:buFont typeface="Arial" panose="020B0604020202020204" pitchFamily="34" charset="0"/>
              <a:buChar char="•"/>
            </a:pPr>
            <a:r>
              <a:rPr lang="en-US" sz="1600" dirty="0"/>
              <a:t>Composite performance score (z-scores of 5 metrics)</a:t>
            </a:r>
          </a:p>
          <a:p>
            <a:pPr marL="1200150" lvl="2" indent="-285750">
              <a:buFont typeface="Arial" panose="020B0604020202020204" pitchFamily="34" charset="0"/>
              <a:buChar char="•"/>
            </a:pPr>
            <a:r>
              <a:rPr lang="en-US" sz="1600" dirty="0"/>
              <a:t>Grouped players into performance quintiles</a:t>
            </a:r>
          </a:p>
          <a:p>
            <a:pPr marL="1200150" lvl="2" indent="-285750">
              <a:buFont typeface="Arial" panose="020B0604020202020204" pitchFamily="34" charset="0"/>
              <a:buChar char="•"/>
            </a:pPr>
            <a:r>
              <a:rPr lang="en-US" sz="1600" dirty="0"/>
              <a:t>Compared valuations across leagues using boxplots and regression with fixed effects</a:t>
            </a:r>
          </a:p>
        </p:txBody>
      </p:sp>
      <p:pic>
        <p:nvPicPr>
          <p:cNvPr id="9" name="Immagine 8" descr="Immagine che contiene diagramma, testo, schermata, linea&#10;&#10;Il contenuto generato dall'IA potrebbe non essere corretto.">
            <a:extLst>
              <a:ext uri="{FF2B5EF4-FFF2-40B4-BE49-F238E27FC236}">
                <a16:creationId xmlns:a16="http://schemas.microsoft.com/office/drawing/2014/main" id="{D5F64E3F-2BD4-4F37-CE34-F5B8C01DB0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800" y="3710801"/>
            <a:ext cx="2330449" cy="1833395"/>
          </a:xfrm>
          <a:prstGeom prst="rect">
            <a:avLst/>
          </a:prstGeom>
        </p:spPr>
      </p:pic>
      <p:pic>
        <p:nvPicPr>
          <p:cNvPr id="11" name="Immagine 10" descr="Immagine che contiene diagramma, testo, schermata, Piano&#10;&#10;Il contenuto generato dall'IA potrebbe non essere corretto.">
            <a:extLst>
              <a:ext uri="{FF2B5EF4-FFF2-40B4-BE49-F238E27FC236}">
                <a16:creationId xmlns:a16="http://schemas.microsoft.com/office/drawing/2014/main" id="{5478D7AA-1CF2-A0D8-EC9E-A68BD14185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13023" y="3710801"/>
            <a:ext cx="2800350" cy="1747455"/>
          </a:xfrm>
          <a:prstGeom prst="rect">
            <a:avLst/>
          </a:prstGeom>
        </p:spPr>
      </p:pic>
      <p:pic>
        <p:nvPicPr>
          <p:cNvPr id="13" name="Immagine 12" descr="Immagine che contiene testo, diagramma, schermata, Disegno tecnico&#10;&#10;Il contenuto generato dall'IA potrebbe non essere corretto.">
            <a:extLst>
              <a:ext uri="{FF2B5EF4-FFF2-40B4-BE49-F238E27FC236}">
                <a16:creationId xmlns:a16="http://schemas.microsoft.com/office/drawing/2014/main" id="{D19CB598-DC6D-E0F3-ABA1-2724E126FA1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30349" y="3544946"/>
            <a:ext cx="3005629" cy="2073690"/>
          </a:xfrm>
          <a:prstGeom prst="rect">
            <a:avLst/>
          </a:prstGeom>
        </p:spPr>
      </p:pic>
      <p:pic>
        <p:nvPicPr>
          <p:cNvPr id="15" name="Immagine 14" descr="Immagine che contiene diagramma, testo, schermata, Piano&#10;&#10;Il contenuto generato dall'IA potrebbe non essere corretto.">
            <a:extLst>
              <a:ext uri="{FF2B5EF4-FFF2-40B4-BE49-F238E27FC236}">
                <a16:creationId xmlns:a16="http://schemas.microsoft.com/office/drawing/2014/main" id="{2DEF1B4E-0F42-2639-E7E1-D88402B89C7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17524" y="5163307"/>
            <a:ext cx="2330449" cy="1617633"/>
          </a:xfrm>
          <a:prstGeom prst="rect">
            <a:avLst/>
          </a:prstGeom>
        </p:spPr>
      </p:pic>
      <p:pic>
        <p:nvPicPr>
          <p:cNvPr id="17" name="Immagine 16" descr="Immagine che contiene diagramma, testo, linea, Piano&#10;&#10;Il contenuto generato dall'IA potrebbe non essere corretto.">
            <a:extLst>
              <a:ext uri="{FF2B5EF4-FFF2-40B4-BE49-F238E27FC236}">
                <a16:creationId xmlns:a16="http://schemas.microsoft.com/office/drawing/2014/main" id="{5EA7F805-5480-8619-CF88-A99F0344731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14698" y="5163307"/>
            <a:ext cx="2330449" cy="1617633"/>
          </a:xfrm>
          <a:prstGeom prst="rect">
            <a:avLst/>
          </a:prstGeom>
        </p:spPr>
      </p:pic>
    </p:spTree>
    <p:extLst>
      <p:ext uri="{BB962C8B-B14F-4D97-AF65-F5344CB8AC3E}">
        <p14:creationId xmlns:p14="http://schemas.microsoft.com/office/powerpoint/2010/main" val="3812485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fill="hold"/>
                                        <p:tgtEl>
                                          <p:spTgt spid="5"/>
                                        </p:tgtEl>
                                        <p:attrNameLst>
                                          <p:attrName>ppt_x</p:attrName>
                                        </p:attrNameLst>
                                      </p:cBhvr>
                                      <p:tavLst>
                                        <p:tav tm="0">
                                          <p:val>
                                            <p:strVal val="#ppt_x"/>
                                          </p:val>
                                        </p:tav>
                                        <p:tav tm="100000">
                                          <p:val>
                                            <p:strVal val="#ppt_x"/>
                                          </p:val>
                                        </p:tav>
                                      </p:tavLst>
                                    </p:anim>
                                    <p:anim calcmode="lin" valueType="num">
                                      <p:cBhvr additive="base">
                                        <p:cTn id="1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1000"/>
                                        <p:tgtEl>
                                          <p:spTgt spid="9"/>
                                        </p:tgtEl>
                                      </p:cBhvr>
                                    </p:animEffect>
                                    <p:anim calcmode="lin" valueType="num">
                                      <p:cBhvr>
                                        <p:cTn id="25" dur="1000" fill="hold"/>
                                        <p:tgtEl>
                                          <p:spTgt spid="9"/>
                                        </p:tgtEl>
                                        <p:attrNameLst>
                                          <p:attrName>ppt_x</p:attrName>
                                        </p:attrNameLst>
                                      </p:cBhvr>
                                      <p:tavLst>
                                        <p:tav tm="0">
                                          <p:val>
                                            <p:strVal val="#ppt_x"/>
                                          </p:val>
                                        </p:tav>
                                        <p:tav tm="100000">
                                          <p:val>
                                            <p:strVal val="#ppt_x"/>
                                          </p:val>
                                        </p:tav>
                                      </p:tavLst>
                                    </p:anim>
                                    <p:anim calcmode="lin" valueType="num">
                                      <p:cBhvr>
                                        <p:cTn id="26" dur="1000" fill="hold"/>
                                        <p:tgtEl>
                                          <p:spTgt spid="9"/>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1000"/>
                                        <p:tgtEl>
                                          <p:spTgt spid="11"/>
                                        </p:tgtEl>
                                      </p:cBhvr>
                                    </p:animEffect>
                                    <p:anim calcmode="lin" valueType="num">
                                      <p:cBhvr>
                                        <p:cTn id="30" dur="1000" fill="hold"/>
                                        <p:tgtEl>
                                          <p:spTgt spid="11"/>
                                        </p:tgtEl>
                                        <p:attrNameLst>
                                          <p:attrName>ppt_x</p:attrName>
                                        </p:attrNameLst>
                                      </p:cBhvr>
                                      <p:tavLst>
                                        <p:tav tm="0">
                                          <p:val>
                                            <p:strVal val="#ppt_x"/>
                                          </p:val>
                                        </p:tav>
                                        <p:tav tm="100000">
                                          <p:val>
                                            <p:strVal val="#ppt_x"/>
                                          </p:val>
                                        </p:tav>
                                      </p:tavLst>
                                    </p:anim>
                                    <p:anim calcmode="lin" valueType="num">
                                      <p:cBhvr>
                                        <p:cTn id="31" dur="1000" fill="hold"/>
                                        <p:tgtEl>
                                          <p:spTgt spid="11"/>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1000"/>
                                        <p:tgtEl>
                                          <p:spTgt spid="13"/>
                                        </p:tgtEl>
                                      </p:cBhvr>
                                    </p:animEffect>
                                    <p:anim calcmode="lin" valueType="num">
                                      <p:cBhvr>
                                        <p:cTn id="35" dur="1000" fill="hold"/>
                                        <p:tgtEl>
                                          <p:spTgt spid="13"/>
                                        </p:tgtEl>
                                        <p:attrNameLst>
                                          <p:attrName>ppt_x</p:attrName>
                                        </p:attrNameLst>
                                      </p:cBhvr>
                                      <p:tavLst>
                                        <p:tav tm="0">
                                          <p:val>
                                            <p:strVal val="#ppt_x"/>
                                          </p:val>
                                        </p:tav>
                                        <p:tav tm="100000">
                                          <p:val>
                                            <p:strVal val="#ppt_x"/>
                                          </p:val>
                                        </p:tav>
                                      </p:tavLst>
                                    </p:anim>
                                    <p:anim calcmode="lin" valueType="num">
                                      <p:cBhvr>
                                        <p:cTn id="36" dur="1000" fill="hold"/>
                                        <p:tgtEl>
                                          <p:spTgt spid="13"/>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1000"/>
                                        <p:tgtEl>
                                          <p:spTgt spid="15"/>
                                        </p:tgtEl>
                                      </p:cBhvr>
                                    </p:animEffect>
                                    <p:anim calcmode="lin" valueType="num">
                                      <p:cBhvr>
                                        <p:cTn id="40" dur="1000" fill="hold"/>
                                        <p:tgtEl>
                                          <p:spTgt spid="15"/>
                                        </p:tgtEl>
                                        <p:attrNameLst>
                                          <p:attrName>ppt_x</p:attrName>
                                        </p:attrNameLst>
                                      </p:cBhvr>
                                      <p:tavLst>
                                        <p:tav tm="0">
                                          <p:val>
                                            <p:strVal val="#ppt_x"/>
                                          </p:val>
                                        </p:tav>
                                        <p:tav tm="100000">
                                          <p:val>
                                            <p:strVal val="#ppt_x"/>
                                          </p:val>
                                        </p:tav>
                                      </p:tavLst>
                                    </p:anim>
                                    <p:anim calcmode="lin" valueType="num">
                                      <p:cBhvr>
                                        <p:cTn id="41" dur="1000" fill="hold"/>
                                        <p:tgtEl>
                                          <p:spTgt spid="15"/>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1000"/>
                                        <p:tgtEl>
                                          <p:spTgt spid="17"/>
                                        </p:tgtEl>
                                      </p:cBhvr>
                                    </p:animEffect>
                                    <p:anim calcmode="lin" valueType="num">
                                      <p:cBhvr>
                                        <p:cTn id="45" dur="1000" fill="hold"/>
                                        <p:tgtEl>
                                          <p:spTgt spid="17"/>
                                        </p:tgtEl>
                                        <p:attrNameLst>
                                          <p:attrName>ppt_x</p:attrName>
                                        </p:attrNameLst>
                                      </p:cBhvr>
                                      <p:tavLst>
                                        <p:tav tm="0">
                                          <p:val>
                                            <p:strVal val="#ppt_x"/>
                                          </p:val>
                                        </p:tav>
                                        <p:tav tm="100000">
                                          <p:val>
                                            <p:strVal val="#ppt_x"/>
                                          </p:val>
                                        </p:tav>
                                      </p:tavLst>
                                    </p:anim>
                                    <p:anim calcmode="lin" valueType="num">
                                      <p:cBhvr>
                                        <p:cTn id="46"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3A851DC-A296-8424-DB41-5DD004C25E6C}"/>
              </a:ext>
            </a:extLst>
          </p:cNvPr>
          <p:cNvSpPr>
            <a:spLocks noGrp="1"/>
          </p:cNvSpPr>
          <p:nvPr>
            <p:ph type="title"/>
          </p:nvPr>
        </p:nvSpPr>
        <p:spPr>
          <a:xfrm>
            <a:off x="838200" y="0"/>
            <a:ext cx="10515600" cy="1325563"/>
          </a:xfrm>
        </p:spPr>
        <p:txBody>
          <a:bodyPr/>
          <a:lstStyle/>
          <a:p>
            <a:pPr algn="ctr"/>
            <a:r>
              <a:rPr lang="it-IT" b="1" dirty="0">
                <a:effectLst>
                  <a:outerShdw blurRad="38100" dist="38100" dir="2700000" algn="tl">
                    <a:srgbClr val="000000">
                      <a:alpha val="43137"/>
                    </a:srgbClr>
                  </a:outerShdw>
                </a:effectLst>
              </a:rPr>
              <a:t>ANALYSIS 3: League </a:t>
            </a:r>
            <a:r>
              <a:rPr lang="it-IT" b="1" dirty="0" err="1">
                <a:effectLst>
                  <a:outerShdw blurRad="38100" dist="38100" dir="2700000" algn="tl">
                    <a:srgbClr val="000000">
                      <a:alpha val="43137"/>
                    </a:srgbClr>
                  </a:outerShdw>
                </a:effectLst>
              </a:rPr>
              <a:t>Bias</a:t>
            </a:r>
            <a:endParaRPr lang="it-IT" dirty="0"/>
          </a:p>
        </p:txBody>
      </p:sp>
      <p:pic>
        <p:nvPicPr>
          <p:cNvPr id="5" name="Immagine 4" descr="Immagine che contiene testo, diagramma, schermata, linea&#10;&#10;Il contenuto generato dall'IA potrebbe non essere corretto.">
            <a:extLst>
              <a:ext uri="{FF2B5EF4-FFF2-40B4-BE49-F238E27FC236}">
                <a16:creationId xmlns:a16="http://schemas.microsoft.com/office/drawing/2014/main" id="{A0DDAE68-C5FF-060A-B19D-9027A31A62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561" y="960361"/>
            <a:ext cx="2034256" cy="1439674"/>
          </a:xfrm>
          <a:prstGeom prst="rect">
            <a:avLst/>
          </a:prstGeom>
        </p:spPr>
      </p:pic>
      <p:pic>
        <p:nvPicPr>
          <p:cNvPr id="7" name="Immagine 6" descr="Immagine che contiene testo, diagramma, schermata, linea&#10;&#10;Il contenuto generato dall'IA potrebbe non essere corretto.">
            <a:extLst>
              <a:ext uri="{FF2B5EF4-FFF2-40B4-BE49-F238E27FC236}">
                <a16:creationId xmlns:a16="http://schemas.microsoft.com/office/drawing/2014/main" id="{83085272-3025-D616-01B2-E2984556B7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03705" y="957901"/>
            <a:ext cx="2537287" cy="1560540"/>
          </a:xfrm>
          <a:prstGeom prst="rect">
            <a:avLst/>
          </a:prstGeom>
        </p:spPr>
      </p:pic>
      <p:pic>
        <p:nvPicPr>
          <p:cNvPr id="9" name="Immagine 8" descr="Immagine che contiene diagramma, testo, schermata, Piano&#10;&#10;Il contenuto generato dall'IA potrebbe non essere corretto.">
            <a:extLst>
              <a:ext uri="{FF2B5EF4-FFF2-40B4-BE49-F238E27FC236}">
                <a16:creationId xmlns:a16="http://schemas.microsoft.com/office/drawing/2014/main" id="{0CCB0D33-3136-83CE-59CB-759FEF5393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48880" y="957901"/>
            <a:ext cx="2407888" cy="1480953"/>
          </a:xfrm>
          <a:prstGeom prst="rect">
            <a:avLst/>
          </a:prstGeom>
        </p:spPr>
      </p:pic>
      <p:pic>
        <p:nvPicPr>
          <p:cNvPr id="11" name="Immagine 10" descr="Immagine che contiene diagramma, Rettangolo, Piano, schermata&#10;&#10;Il contenuto generato dall'IA potrebbe non essere corretto.">
            <a:extLst>
              <a:ext uri="{FF2B5EF4-FFF2-40B4-BE49-F238E27FC236}">
                <a16:creationId xmlns:a16="http://schemas.microsoft.com/office/drawing/2014/main" id="{9E1C177F-9C32-1878-C292-E1222DFBB39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2087" y="2219964"/>
            <a:ext cx="2432720" cy="1529621"/>
          </a:xfrm>
          <a:prstGeom prst="rect">
            <a:avLst/>
          </a:prstGeom>
        </p:spPr>
      </p:pic>
      <p:pic>
        <p:nvPicPr>
          <p:cNvPr id="13" name="Immagine 12" descr="Immagine che contiene diagramma, linea, Rettangolo, schermata&#10;&#10;Il contenuto generato dall'IA potrebbe non essere corretto.">
            <a:extLst>
              <a:ext uri="{FF2B5EF4-FFF2-40B4-BE49-F238E27FC236}">
                <a16:creationId xmlns:a16="http://schemas.microsoft.com/office/drawing/2014/main" id="{7DA1FAB4-E09C-1BC7-037B-DB72C5D957D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10922" y="2195670"/>
            <a:ext cx="2337958" cy="1468162"/>
          </a:xfrm>
          <a:prstGeom prst="rect">
            <a:avLst/>
          </a:prstGeom>
        </p:spPr>
      </p:pic>
      <p:pic>
        <p:nvPicPr>
          <p:cNvPr id="15" name="Immagine 14" descr="Immagine che contiene testo, diagramma, schermata, Rettangolo&#10;&#10;Il contenuto generato dall'IA potrebbe non essere corretto.">
            <a:extLst>
              <a:ext uri="{FF2B5EF4-FFF2-40B4-BE49-F238E27FC236}">
                <a16:creationId xmlns:a16="http://schemas.microsoft.com/office/drawing/2014/main" id="{69B21B42-22B8-3C79-C35F-CDFF98AE442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3774594"/>
            <a:ext cx="2095817" cy="1437169"/>
          </a:xfrm>
          <a:prstGeom prst="rect">
            <a:avLst/>
          </a:prstGeom>
        </p:spPr>
      </p:pic>
      <p:pic>
        <p:nvPicPr>
          <p:cNvPr id="17" name="Immagine 16" descr="Immagine che contiene diagramma, testo, Piano, linea&#10;&#10;Il contenuto generato dall'IA potrebbe non essere corretto.">
            <a:extLst>
              <a:ext uri="{FF2B5EF4-FFF2-40B4-BE49-F238E27FC236}">
                <a16:creationId xmlns:a16="http://schemas.microsoft.com/office/drawing/2014/main" id="{14E37158-BD06-0158-9351-4BCDF5ABF8F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503705" y="3774595"/>
            <a:ext cx="2537287" cy="1305405"/>
          </a:xfrm>
          <a:prstGeom prst="rect">
            <a:avLst/>
          </a:prstGeom>
        </p:spPr>
      </p:pic>
      <p:pic>
        <p:nvPicPr>
          <p:cNvPr id="21" name="Immagine 20" descr="Immagine che contiene diagramma, testo, Piano, linea&#10;&#10;Il contenuto generato dall'IA potrebbe non essere corretto.">
            <a:extLst>
              <a:ext uri="{FF2B5EF4-FFF2-40B4-BE49-F238E27FC236}">
                <a16:creationId xmlns:a16="http://schemas.microsoft.com/office/drawing/2014/main" id="{AD9E00BE-53D3-D91C-52BE-2DB0F571CB4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448880" y="3749585"/>
            <a:ext cx="2407888" cy="1374866"/>
          </a:xfrm>
          <a:prstGeom prst="rect">
            <a:avLst/>
          </a:prstGeom>
        </p:spPr>
      </p:pic>
      <p:pic>
        <p:nvPicPr>
          <p:cNvPr id="29" name="Immagine 28" descr="Immagine che contiene diagramma, Piano, linea, testo&#10;&#10;Il contenuto generato dall'IA potrebbe non essere corretto.">
            <a:extLst>
              <a:ext uri="{FF2B5EF4-FFF2-40B4-BE49-F238E27FC236}">
                <a16:creationId xmlns:a16="http://schemas.microsoft.com/office/drawing/2014/main" id="{BA01D4E3-F075-2417-5074-8CB68780DE5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029579" y="5081441"/>
            <a:ext cx="2540364" cy="1632396"/>
          </a:xfrm>
          <a:prstGeom prst="rect">
            <a:avLst/>
          </a:prstGeom>
        </p:spPr>
      </p:pic>
      <p:pic>
        <p:nvPicPr>
          <p:cNvPr id="31" name="Immagine 30" descr="Immagine che contiene diagramma, Rettangolo, Piano, linea&#10;&#10;Il contenuto generato dall'IA potrebbe non essere corretto.">
            <a:extLst>
              <a:ext uri="{FF2B5EF4-FFF2-40B4-BE49-F238E27FC236}">
                <a16:creationId xmlns:a16="http://schemas.microsoft.com/office/drawing/2014/main" id="{DAC91074-9326-EF2E-01EF-5E08D01EC1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075956" y="5210204"/>
            <a:ext cx="2556022" cy="1480953"/>
          </a:xfrm>
          <a:prstGeom prst="rect">
            <a:avLst/>
          </a:prstGeom>
        </p:spPr>
      </p:pic>
    </p:spTree>
    <p:extLst>
      <p:ext uri="{BB962C8B-B14F-4D97-AF65-F5344CB8AC3E}">
        <p14:creationId xmlns:p14="http://schemas.microsoft.com/office/powerpoint/2010/main" val="2322716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p:cTn id="13" dur="1000" fill="hold"/>
                                        <p:tgtEl>
                                          <p:spTgt spid="5"/>
                                        </p:tgtEl>
                                        <p:attrNameLst>
                                          <p:attrName>ppt_x</p:attrName>
                                        </p:attrNameLst>
                                      </p:cBhvr>
                                      <p:tavLst>
                                        <p:tav tm="0">
                                          <p:val>
                                            <p:strVal val="#ppt_x"/>
                                          </p:val>
                                        </p:tav>
                                        <p:tav tm="100000">
                                          <p:val>
                                            <p:strVal val="#ppt_x"/>
                                          </p:val>
                                        </p:tav>
                                      </p:tavLst>
                                    </p:anim>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ppt_x</p:attrName>
                                        </p:attrNameLst>
                                      </p:cBhvr>
                                      <p:tavLst>
                                        <p:tav tm="0">
                                          <p:val>
                                            <p:strVal val="#ppt_x"/>
                                          </p:val>
                                        </p:tav>
                                        <p:tav tm="100000">
                                          <p:val>
                                            <p:strVal val="#ppt_x"/>
                                          </p:val>
                                        </p:tav>
                                      </p:tavLst>
                                    </p:anim>
                                    <p:anim calcmode="lin" valueType="num">
                                      <p:cBhvr>
                                        <p:cTn id="19" dur="10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anim calcmode="lin" valueType="num">
                                      <p:cBhvr>
                                        <p:cTn id="23" dur="1000" fill="hold"/>
                                        <p:tgtEl>
                                          <p:spTgt spid="9"/>
                                        </p:tgtEl>
                                        <p:attrNameLst>
                                          <p:attrName>ppt_x</p:attrName>
                                        </p:attrNameLst>
                                      </p:cBhvr>
                                      <p:tavLst>
                                        <p:tav tm="0">
                                          <p:val>
                                            <p:strVal val="#ppt_x"/>
                                          </p:val>
                                        </p:tav>
                                        <p:tav tm="100000">
                                          <p:val>
                                            <p:strVal val="#ppt_x"/>
                                          </p:val>
                                        </p:tav>
                                      </p:tavLst>
                                    </p:anim>
                                    <p:anim calcmode="lin" valueType="num">
                                      <p:cBhvr>
                                        <p:cTn id="24" dur="1000" fill="hold"/>
                                        <p:tgtEl>
                                          <p:spTgt spid="9"/>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1000"/>
                                        <p:tgtEl>
                                          <p:spTgt spid="11"/>
                                        </p:tgtEl>
                                      </p:cBhvr>
                                    </p:animEffect>
                                    <p:anim calcmode="lin" valueType="num">
                                      <p:cBhvr>
                                        <p:cTn id="28" dur="1000" fill="hold"/>
                                        <p:tgtEl>
                                          <p:spTgt spid="11"/>
                                        </p:tgtEl>
                                        <p:attrNameLst>
                                          <p:attrName>ppt_x</p:attrName>
                                        </p:attrNameLst>
                                      </p:cBhvr>
                                      <p:tavLst>
                                        <p:tav tm="0">
                                          <p:val>
                                            <p:strVal val="#ppt_x"/>
                                          </p:val>
                                        </p:tav>
                                        <p:tav tm="100000">
                                          <p:val>
                                            <p:strVal val="#ppt_x"/>
                                          </p:val>
                                        </p:tav>
                                      </p:tavLst>
                                    </p:anim>
                                    <p:anim calcmode="lin" valueType="num">
                                      <p:cBhvr>
                                        <p:cTn id="29" dur="1000" fill="hold"/>
                                        <p:tgtEl>
                                          <p:spTgt spid="11"/>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1000"/>
                                        <p:tgtEl>
                                          <p:spTgt spid="13"/>
                                        </p:tgtEl>
                                      </p:cBhvr>
                                    </p:animEffect>
                                    <p:anim calcmode="lin" valueType="num">
                                      <p:cBhvr>
                                        <p:cTn id="33" dur="1000" fill="hold"/>
                                        <p:tgtEl>
                                          <p:spTgt spid="13"/>
                                        </p:tgtEl>
                                        <p:attrNameLst>
                                          <p:attrName>ppt_x</p:attrName>
                                        </p:attrNameLst>
                                      </p:cBhvr>
                                      <p:tavLst>
                                        <p:tav tm="0">
                                          <p:val>
                                            <p:strVal val="#ppt_x"/>
                                          </p:val>
                                        </p:tav>
                                        <p:tav tm="100000">
                                          <p:val>
                                            <p:strVal val="#ppt_x"/>
                                          </p:val>
                                        </p:tav>
                                      </p:tavLst>
                                    </p:anim>
                                    <p:anim calcmode="lin" valueType="num">
                                      <p:cBhvr>
                                        <p:cTn id="34"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nodeType="click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1000"/>
                                        <p:tgtEl>
                                          <p:spTgt spid="15"/>
                                        </p:tgtEl>
                                      </p:cBhvr>
                                    </p:animEffect>
                                    <p:anim calcmode="lin" valueType="num">
                                      <p:cBhvr>
                                        <p:cTn id="40" dur="1000" fill="hold"/>
                                        <p:tgtEl>
                                          <p:spTgt spid="15"/>
                                        </p:tgtEl>
                                        <p:attrNameLst>
                                          <p:attrName>ppt_x</p:attrName>
                                        </p:attrNameLst>
                                      </p:cBhvr>
                                      <p:tavLst>
                                        <p:tav tm="0">
                                          <p:val>
                                            <p:strVal val="#ppt_x"/>
                                          </p:val>
                                        </p:tav>
                                        <p:tav tm="100000">
                                          <p:val>
                                            <p:strVal val="#ppt_x"/>
                                          </p:val>
                                        </p:tav>
                                      </p:tavLst>
                                    </p:anim>
                                    <p:anim calcmode="lin" valueType="num">
                                      <p:cBhvr>
                                        <p:cTn id="41" dur="1000" fill="hold"/>
                                        <p:tgtEl>
                                          <p:spTgt spid="15"/>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1000"/>
                                        <p:tgtEl>
                                          <p:spTgt spid="17"/>
                                        </p:tgtEl>
                                      </p:cBhvr>
                                    </p:animEffect>
                                    <p:anim calcmode="lin" valueType="num">
                                      <p:cBhvr>
                                        <p:cTn id="45" dur="1000" fill="hold"/>
                                        <p:tgtEl>
                                          <p:spTgt spid="17"/>
                                        </p:tgtEl>
                                        <p:attrNameLst>
                                          <p:attrName>ppt_x</p:attrName>
                                        </p:attrNameLst>
                                      </p:cBhvr>
                                      <p:tavLst>
                                        <p:tav tm="0">
                                          <p:val>
                                            <p:strVal val="#ppt_x"/>
                                          </p:val>
                                        </p:tav>
                                        <p:tav tm="100000">
                                          <p:val>
                                            <p:strVal val="#ppt_x"/>
                                          </p:val>
                                        </p:tav>
                                      </p:tavLst>
                                    </p:anim>
                                    <p:anim calcmode="lin" valueType="num">
                                      <p:cBhvr>
                                        <p:cTn id="46" dur="1000" fill="hold"/>
                                        <p:tgtEl>
                                          <p:spTgt spid="17"/>
                                        </p:tgtEl>
                                        <p:attrNameLst>
                                          <p:attrName>ppt_y</p:attrName>
                                        </p:attrNameLst>
                                      </p:cBhvr>
                                      <p:tavLst>
                                        <p:tav tm="0">
                                          <p:val>
                                            <p:strVal val="#ppt_y+.1"/>
                                          </p:val>
                                        </p:tav>
                                        <p:tav tm="100000">
                                          <p:val>
                                            <p:strVal val="#ppt_y"/>
                                          </p:val>
                                        </p:tav>
                                      </p:tavLst>
                                    </p:anim>
                                  </p:childTnLst>
                                </p:cTn>
                              </p:par>
                              <p:par>
                                <p:cTn id="47" presetID="42" presetClass="entr" presetSubtype="0" fill="hold"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1000"/>
                                        <p:tgtEl>
                                          <p:spTgt spid="21"/>
                                        </p:tgtEl>
                                      </p:cBhvr>
                                    </p:animEffect>
                                    <p:anim calcmode="lin" valueType="num">
                                      <p:cBhvr>
                                        <p:cTn id="50" dur="1000" fill="hold"/>
                                        <p:tgtEl>
                                          <p:spTgt spid="21"/>
                                        </p:tgtEl>
                                        <p:attrNameLst>
                                          <p:attrName>ppt_x</p:attrName>
                                        </p:attrNameLst>
                                      </p:cBhvr>
                                      <p:tavLst>
                                        <p:tav tm="0">
                                          <p:val>
                                            <p:strVal val="#ppt_x"/>
                                          </p:val>
                                        </p:tav>
                                        <p:tav tm="100000">
                                          <p:val>
                                            <p:strVal val="#ppt_x"/>
                                          </p:val>
                                        </p:tav>
                                      </p:tavLst>
                                    </p:anim>
                                    <p:anim calcmode="lin" valueType="num">
                                      <p:cBhvr>
                                        <p:cTn id="51" dur="1000" fill="hold"/>
                                        <p:tgtEl>
                                          <p:spTgt spid="21"/>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29"/>
                                        </p:tgtEl>
                                        <p:attrNameLst>
                                          <p:attrName>style.visibility</p:attrName>
                                        </p:attrNameLst>
                                      </p:cBhvr>
                                      <p:to>
                                        <p:strVal val="visible"/>
                                      </p:to>
                                    </p:set>
                                    <p:animEffect transition="in" filter="fade">
                                      <p:cBhvr>
                                        <p:cTn id="54" dur="1000"/>
                                        <p:tgtEl>
                                          <p:spTgt spid="29"/>
                                        </p:tgtEl>
                                      </p:cBhvr>
                                    </p:animEffect>
                                    <p:anim calcmode="lin" valueType="num">
                                      <p:cBhvr>
                                        <p:cTn id="55" dur="1000" fill="hold"/>
                                        <p:tgtEl>
                                          <p:spTgt spid="29"/>
                                        </p:tgtEl>
                                        <p:attrNameLst>
                                          <p:attrName>ppt_x</p:attrName>
                                        </p:attrNameLst>
                                      </p:cBhvr>
                                      <p:tavLst>
                                        <p:tav tm="0">
                                          <p:val>
                                            <p:strVal val="#ppt_x"/>
                                          </p:val>
                                        </p:tav>
                                        <p:tav tm="100000">
                                          <p:val>
                                            <p:strVal val="#ppt_x"/>
                                          </p:val>
                                        </p:tav>
                                      </p:tavLst>
                                    </p:anim>
                                    <p:anim calcmode="lin" valueType="num">
                                      <p:cBhvr>
                                        <p:cTn id="56" dur="1000" fill="hold"/>
                                        <p:tgtEl>
                                          <p:spTgt spid="29"/>
                                        </p:tgtEl>
                                        <p:attrNameLst>
                                          <p:attrName>ppt_y</p:attrName>
                                        </p:attrNameLst>
                                      </p:cBhvr>
                                      <p:tavLst>
                                        <p:tav tm="0">
                                          <p:val>
                                            <p:strVal val="#ppt_y+.1"/>
                                          </p:val>
                                        </p:tav>
                                        <p:tav tm="100000">
                                          <p:val>
                                            <p:strVal val="#ppt_y"/>
                                          </p:val>
                                        </p:tav>
                                      </p:tavLst>
                                    </p:anim>
                                  </p:childTnLst>
                                </p:cTn>
                              </p:par>
                              <p:par>
                                <p:cTn id="57" presetID="42" presetClass="entr" presetSubtype="0" fill="hold" nodeType="with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1000"/>
                                        <p:tgtEl>
                                          <p:spTgt spid="31"/>
                                        </p:tgtEl>
                                      </p:cBhvr>
                                    </p:animEffect>
                                    <p:anim calcmode="lin" valueType="num">
                                      <p:cBhvr>
                                        <p:cTn id="60" dur="1000" fill="hold"/>
                                        <p:tgtEl>
                                          <p:spTgt spid="31"/>
                                        </p:tgtEl>
                                        <p:attrNameLst>
                                          <p:attrName>ppt_x</p:attrName>
                                        </p:attrNameLst>
                                      </p:cBhvr>
                                      <p:tavLst>
                                        <p:tav tm="0">
                                          <p:val>
                                            <p:strVal val="#ppt_x"/>
                                          </p:val>
                                        </p:tav>
                                        <p:tav tm="100000">
                                          <p:val>
                                            <p:strVal val="#ppt_x"/>
                                          </p:val>
                                        </p:tav>
                                      </p:tavLst>
                                    </p:anim>
                                    <p:anim calcmode="lin" valueType="num">
                                      <p:cBhvr>
                                        <p:cTn id="61" dur="1000" fill="hold"/>
                                        <p:tgtEl>
                                          <p:spTgt spid="3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6FE7BA-7173-7E0D-F89F-757E3C4E437E}"/>
              </a:ext>
            </a:extLst>
          </p:cNvPr>
          <p:cNvSpPr>
            <a:spLocks noGrp="1"/>
          </p:cNvSpPr>
          <p:nvPr>
            <p:ph type="title"/>
          </p:nvPr>
        </p:nvSpPr>
        <p:spPr>
          <a:xfrm>
            <a:off x="838200" y="18255"/>
            <a:ext cx="10515600" cy="1325563"/>
          </a:xfrm>
        </p:spPr>
        <p:txBody>
          <a:bodyPr>
            <a:normAutofit fontScale="90000"/>
          </a:bodyPr>
          <a:lstStyle/>
          <a:p>
            <a:pPr algn="ctr"/>
            <a:r>
              <a:rPr lang="it-IT" b="1" dirty="0">
                <a:effectLst>
                  <a:outerShdw blurRad="38100" dist="38100" dir="2700000" algn="tl">
                    <a:srgbClr val="000000">
                      <a:alpha val="43137"/>
                    </a:srgbClr>
                  </a:outerShdw>
                </a:effectLst>
              </a:rPr>
              <a:t>ANALYSIS 4: </a:t>
            </a:r>
            <a:r>
              <a:rPr lang="en-US" b="1" dirty="0">
                <a:effectLst>
                  <a:outerShdw blurRad="38100" dist="38100" dir="2700000" algn="tl">
                    <a:srgbClr val="000000">
                      <a:alpha val="43137"/>
                    </a:srgbClr>
                  </a:outerShdw>
                </a:effectLst>
              </a:rPr>
              <a:t>Market Value Evolution Over Time</a:t>
            </a:r>
            <a:br>
              <a:rPr lang="en-US" b="1" dirty="0">
                <a:effectLst>
                  <a:outerShdw blurRad="38100" dist="38100" dir="2700000" algn="tl">
                    <a:srgbClr val="000000">
                      <a:alpha val="43137"/>
                    </a:srgbClr>
                  </a:outerShdw>
                </a:effectLst>
              </a:rPr>
            </a:br>
            <a:endParaRPr lang="it-IT" b="1" dirty="0">
              <a:effectLst>
                <a:outerShdw blurRad="38100" dist="38100" dir="2700000" algn="tl">
                  <a:srgbClr val="000000">
                    <a:alpha val="43137"/>
                  </a:srgbClr>
                </a:outerShdw>
              </a:effectLst>
            </a:endParaRPr>
          </a:p>
        </p:txBody>
      </p:sp>
      <p:sp>
        <p:nvSpPr>
          <p:cNvPr id="4" name="CasellaDiTesto 3">
            <a:extLst>
              <a:ext uri="{FF2B5EF4-FFF2-40B4-BE49-F238E27FC236}">
                <a16:creationId xmlns:a16="http://schemas.microsoft.com/office/drawing/2014/main" id="{F718D765-DF15-A3D7-312C-0AEC2901F9F8}"/>
              </a:ext>
            </a:extLst>
          </p:cNvPr>
          <p:cNvSpPr txBox="1"/>
          <p:nvPr/>
        </p:nvSpPr>
        <p:spPr>
          <a:xfrm>
            <a:off x="0" y="768350"/>
            <a:ext cx="12192000" cy="646331"/>
          </a:xfrm>
          <a:prstGeom prst="rect">
            <a:avLst/>
          </a:prstGeom>
          <a:noFill/>
        </p:spPr>
        <p:txBody>
          <a:bodyPr wrap="square" rtlCol="0">
            <a:spAutoFit/>
          </a:bodyPr>
          <a:lstStyle/>
          <a:p>
            <a:r>
              <a:rPr lang="it-IT" b="1" dirty="0"/>
              <a:t>Goal</a:t>
            </a:r>
            <a:r>
              <a:rPr lang="it-IT" dirty="0"/>
              <a:t>: </a:t>
            </a:r>
            <a:r>
              <a:rPr lang="en-US" sz="1600" dirty="0"/>
              <a:t>Understand how player value changed from 2018 to 2024</a:t>
            </a:r>
            <a:endParaRPr lang="en-US" dirty="0"/>
          </a:p>
          <a:p>
            <a:endParaRPr lang="it-IT" dirty="0"/>
          </a:p>
        </p:txBody>
      </p:sp>
      <p:sp>
        <p:nvSpPr>
          <p:cNvPr id="5" name="CasellaDiTesto 4">
            <a:extLst>
              <a:ext uri="{FF2B5EF4-FFF2-40B4-BE49-F238E27FC236}">
                <a16:creationId xmlns:a16="http://schemas.microsoft.com/office/drawing/2014/main" id="{75B7A084-B43C-02AE-C160-4F24FC65B630}"/>
              </a:ext>
            </a:extLst>
          </p:cNvPr>
          <p:cNvSpPr txBox="1"/>
          <p:nvPr/>
        </p:nvSpPr>
        <p:spPr>
          <a:xfrm>
            <a:off x="0" y="1162050"/>
            <a:ext cx="12192000" cy="1200329"/>
          </a:xfrm>
          <a:prstGeom prst="rect">
            <a:avLst/>
          </a:prstGeom>
          <a:noFill/>
        </p:spPr>
        <p:txBody>
          <a:bodyPr wrap="square" rtlCol="0">
            <a:spAutoFit/>
          </a:bodyPr>
          <a:lstStyle/>
          <a:p>
            <a:r>
              <a:rPr lang="it-IT" b="1" dirty="0"/>
              <a:t>Method: </a:t>
            </a:r>
          </a:p>
          <a:p>
            <a:pPr marL="1200150" lvl="2" indent="-285750">
              <a:buFont typeface="Arial" panose="020B0604020202020204" pitchFamily="34" charset="0"/>
              <a:buChar char="•"/>
            </a:pPr>
            <a:r>
              <a:rPr lang="en-US" dirty="0"/>
              <a:t>Aggregated value per season and role</a:t>
            </a:r>
          </a:p>
          <a:p>
            <a:pPr marL="1200150" lvl="2" indent="-285750">
              <a:buFont typeface="Arial" panose="020B0604020202020204" pitchFamily="34" charset="0"/>
              <a:buChar char="•"/>
            </a:pPr>
            <a:r>
              <a:rPr lang="en-US" dirty="0"/>
              <a:t>Boxplots and line charts by year</a:t>
            </a:r>
          </a:p>
          <a:p>
            <a:pPr marL="1200150" lvl="2" indent="-285750">
              <a:buFont typeface="Arial" panose="020B0604020202020204" pitchFamily="34" charset="0"/>
              <a:buChar char="•"/>
            </a:pPr>
            <a:r>
              <a:rPr lang="en-US" dirty="0"/>
              <a:t>Regression on seasonal fixed effects</a:t>
            </a:r>
          </a:p>
        </p:txBody>
      </p:sp>
      <p:pic>
        <p:nvPicPr>
          <p:cNvPr id="7" name="Immagine 6" descr="Immagine che contiene diagramma, linea, schermata, Rettangolo&#10;&#10;Il contenuto generato dall'IA potrebbe non essere corretto.">
            <a:extLst>
              <a:ext uri="{FF2B5EF4-FFF2-40B4-BE49-F238E27FC236}">
                <a16:creationId xmlns:a16="http://schemas.microsoft.com/office/drawing/2014/main" id="{323CAE4F-ACCB-9691-785F-7C2301086D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3289295"/>
            <a:ext cx="2355850" cy="1714505"/>
          </a:xfrm>
          <a:prstGeom prst="rect">
            <a:avLst/>
          </a:prstGeom>
        </p:spPr>
      </p:pic>
      <p:pic>
        <p:nvPicPr>
          <p:cNvPr id="9" name="Immagine 8" descr="Immagine che contiene linea, testo, diagramma, Diagramma&#10;&#10;Il contenuto generato dall'IA potrebbe non essere corretto.">
            <a:extLst>
              <a:ext uri="{FF2B5EF4-FFF2-40B4-BE49-F238E27FC236}">
                <a16:creationId xmlns:a16="http://schemas.microsoft.com/office/drawing/2014/main" id="{BD89A8A1-DE2D-AFB8-0764-27C2E30198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5003800"/>
            <a:ext cx="2355850" cy="1722442"/>
          </a:xfrm>
          <a:prstGeom prst="rect">
            <a:avLst/>
          </a:prstGeom>
        </p:spPr>
      </p:pic>
      <p:pic>
        <p:nvPicPr>
          <p:cNvPr id="11" name="Immagine 10">
            <a:extLst>
              <a:ext uri="{FF2B5EF4-FFF2-40B4-BE49-F238E27FC236}">
                <a16:creationId xmlns:a16="http://schemas.microsoft.com/office/drawing/2014/main" id="{9F92DA2D-BE1C-03A4-3FB6-97DBE78757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82843" y="5003800"/>
            <a:ext cx="2762257" cy="1726411"/>
          </a:xfrm>
          <a:prstGeom prst="rect">
            <a:avLst/>
          </a:prstGeom>
        </p:spPr>
      </p:pic>
      <p:pic>
        <p:nvPicPr>
          <p:cNvPr id="13" name="Immagine 12" descr="Immagine che contiene diagramma, testo, schermata, linea&#10;&#10;Il contenuto generato dall'IA potrebbe non essere corretto.">
            <a:extLst>
              <a:ext uri="{FF2B5EF4-FFF2-40B4-BE49-F238E27FC236}">
                <a16:creationId xmlns:a16="http://schemas.microsoft.com/office/drawing/2014/main" id="{2DCD4E37-6152-3E3B-2777-1093A7F62E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82842" y="3289295"/>
            <a:ext cx="2762257" cy="1755775"/>
          </a:xfrm>
          <a:prstGeom prst="rect">
            <a:avLst/>
          </a:prstGeom>
        </p:spPr>
      </p:pic>
      <p:pic>
        <p:nvPicPr>
          <p:cNvPr id="15" name="Immagine 14">
            <a:extLst>
              <a:ext uri="{FF2B5EF4-FFF2-40B4-BE49-F238E27FC236}">
                <a16:creationId xmlns:a16="http://schemas.microsoft.com/office/drawing/2014/main" id="{4381D865-7858-C8B6-D190-172C4CDF7F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14940" y="4999831"/>
            <a:ext cx="2692416" cy="1726411"/>
          </a:xfrm>
          <a:prstGeom prst="rect">
            <a:avLst/>
          </a:prstGeom>
        </p:spPr>
      </p:pic>
      <p:pic>
        <p:nvPicPr>
          <p:cNvPr id="17" name="Immagine 16" descr="Immagine che contiene diagramma, linea, Rettangolo, schermata&#10;&#10;Il contenuto generato dall'IA potrebbe non essere corretto.">
            <a:extLst>
              <a:ext uri="{FF2B5EF4-FFF2-40B4-BE49-F238E27FC236}">
                <a16:creationId xmlns:a16="http://schemas.microsoft.com/office/drawing/2014/main" id="{DB960698-3A79-FB4E-15B0-4CC149A926D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245099" y="3289295"/>
            <a:ext cx="2762257" cy="1714505"/>
          </a:xfrm>
          <a:prstGeom prst="rect">
            <a:avLst/>
          </a:prstGeom>
        </p:spPr>
      </p:pic>
      <p:sp>
        <p:nvSpPr>
          <p:cNvPr id="18" name="Freccia a destra 17">
            <a:extLst>
              <a:ext uri="{FF2B5EF4-FFF2-40B4-BE49-F238E27FC236}">
                <a16:creationId xmlns:a16="http://schemas.microsoft.com/office/drawing/2014/main" id="{28E77AAB-5225-7911-8B08-F7F2181030B8}"/>
              </a:ext>
            </a:extLst>
          </p:cNvPr>
          <p:cNvSpPr/>
          <p:nvPr/>
        </p:nvSpPr>
        <p:spPr>
          <a:xfrm>
            <a:off x="8099426" y="4757515"/>
            <a:ext cx="850895"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20" name="Immagine 19" descr="Immagine che contiene linea, diagramma, Diagramma, testo&#10;&#10;Il contenuto generato dall'IA potrebbe non essere corretto.">
            <a:extLst>
              <a:ext uri="{FF2B5EF4-FFF2-40B4-BE49-F238E27FC236}">
                <a16:creationId xmlns:a16="http://schemas.microsoft.com/office/drawing/2014/main" id="{374EB61F-AE50-377D-D9A5-00467C5AADC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042391" y="5045070"/>
            <a:ext cx="2914659" cy="1681172"/>
          </a:xfrm>
          <a:prstGeom prst="rect">
            <a:avLst/>
          </a:prstGeom>
        </p:spPr>
      </p:pic>
      <p:pic>
        <p:nvPicPr>
          <p:cNvPr id="22" name="Immagine 21" descr="Immagine che contiene diagramma, testo, linea, Rettangolo&#10;&#10;Il contenuto generato dall'IA potrebbe non essere corretto.">
            <a:extLst>
              <a:ext uri="{FF2B5EF4-FFF2-40B4-BE49-F238E27FC236}">
                <a16:creationId xmlns:a16="http://schemas.microsoft.com/office/drawing/2014/main" id="{285DA012-E290-65FA-8EAE-3B0981D1711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042391" y="3289294"/>
            <a:ext cx="2914660" cy="1755775"/>
          </a:xfrm>
          <a:prstGeom prst="rect">
            <a:avLst/>
          </a:prstGeom>
        </p:spPr>
      </p:pic>
    </p:spTree>
    <p:extLst>
      <p:ext uri="{BB962C8B-B14F-4D97-AF65-F5344CB8AC3E}">
        <p14:creationId xmlns:p14="http://schemas.microsoft.com/office/powerpoint/2010/main" val="3250367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fill="hold"/>
                                        <p:tgtEl>
                                          <p:spTgt spid="5"/>
                                        </p:tgtEl>
                                        <p:attrNameLst>
                                          <p:attrName>ppt_x</p:attrName>
                                        </p:attrNameLst>
                                      </p:cBhvr>
                                      <p:tavLst>
                                        <p:tav tm="0">
                                          <p:val>
                                            <p:strVal val="#ppt_x"/>
                                          </p:val>
                                        </p:tav>
                                        <p:tav tm="100000">
                                          <p:val>
                                            <p:strVal val="#ppt_x"/>
                                          </p:val>
                                        </p:tav>
                                      </p:tavLst>
                                    </p:anim>
                                    <p:anim calcmode="lin" valueType="num">
                                      <p:cBhvr additive="base">
                                        <p:cTn id="1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1000"/>
                                        <p:tgtEl>
                                          <p:spTgt spid="9"/>
                                        </p:tgtEl>
                                      </p:cBhvr>
                                    </p:animEffect>
                                    <p:anim calcmode="lin" valueType="num">
                                      <p:cBhvr>
                                        <p:cTn id="30" dur="1000" fill="hold"/>
                                        <p:tgtEl>
                                          <p:spTgt spid="9"/>
                                        </p:tgtEl>
                                        <p:attrNameLst>
                                          <p:attrName>ppt_x</p:attrName>
                                        </p:attrNameLst>
                                      </p:cBhvr>
                                      <p:tavLst>
                                        <p:tav tm="0">
                                          <p:val>
                                            <p:strVal val="#ppt_x"/>
                                          </p:val>
                                        </p:tav>
                                        <p:tav tm="100000">
                                          <p:val>
                                            <p:strVal val="#ppt_x"/>
                                          </p:val>
                                        </p:tav>
                                      </p:tavLst>
                                    </p:anim>
                                    <p:anim calcmode="lin" valueType="num">
                                      <p:cBhvr>
                                        <p:cTn id="31"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1000"/>
                                        <p:tgtEl>
                                          <p:spTgt spid="13"/>
                                        </p:tgtEl>
                                      </p:cBhvr>
                                    </p:animEffect>
                                    <p:anim calcmode="lin" valueType="num">
                                      <p:cBhvr>
                                        <p:cTn id="37" dur="1000" fill="hold"/>
                                        <p:tgtEl>
                                          <p:spTgt spid="13"/>
                                        </p:tgtEl>
                                        <p:attrNameLst>
                                          <p:attrName>ppt_x</p:attrName>
                                        </p:attrNameLst>
                                      </p:cBhvr>
                                      <p:tavLst>
                                        <p:tav tm="0">
                                          <p:val>
                                            <p:strVal val="#ppt_x"/>
                                          </p:val>
                                        </p:tav>
                                        <p:tav tm="100000">
                                          <p:val>
                                            <p:strVal val="#ppt_x"/>
                                          </p:val>
                                        </p:tav>
                                      </p:tavLst>
                                    </p:anim>
                                    <p:anim calcmode="lin" valueType="num">
                                      <p:cBhvr>
                                        <p:cTn id="38" dur="10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1000"/>
                                        <p:tgtEl>
                                          <p:spTgt spid="11"/>
                                        </p:tgtEl>
                                      </p:cBhvr>
                                    </p:animEffect>
                                    <p:anim calcmode="lin" valueType="num">
                                      <p:cBhvr>
                                        <p:cTn id="42" dur="1000" fill="hold"/>
                                        <p:tgtEl>
                                          <p:spTgt spid="11"/>
                                        </p:tgtEl>
                                        <p:attrNameLst>
                                          <p:attrName>ppt_x</p:attrName>
                                        </p:attrNameLst>
                                      </p:cBhvr>
                                      <p:tavLst>
                                        <p:tav tm="0">
                                          <p:val>
                                            <p:strVal val="#ppt_x"/>
                                          </p:val>
                                        </p:tav>
                                        <p:tav tm="100000">
                                          <p:val>
                                            <p:strVal val="#ppt_x"/>
                                          </p:val>
                                        </p:tav>
                                      </p:tavLst>
                                    </p:anim>
                                    <p:anim calcmode="lin" valueType="num">
                                      <p:cBhvr>
                                        <p:cTn id="43"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1000"/>
                                        <p:tgtEl>
                                          <p:spTgt spid="17"/>
                                        </p:tgtEl>
                                      </p:cBhvr>
                                    </p:animEffect>
                                    <p:anim calcmode="lin" valueType="num">
                                      <p:cBhvr>
                                        <p:cTn id="49" dur="1000" fill="hold"/>
                                        <p:tgtEl>
                                          <p:spTgt spid="17"/>
                                        </p:tgtEl>
                                        <p:attrNameLst>
                                          <p:attrName>ppt_x</p:attrName>
                                        </p:attrNameLst>
                                      </p:cBhvr>
                                      <p:tavLst>
                                        <p:tav tm="0">
                                          <p:val>
                                            <p:strVal val="#ppt_x"/>
                                          </p:val>
                                        </p:tav>
                                        <p:tav tm="100000">
                                          <p:val>
                                            <p:strVal val="#ppt_x"/>
                                          </p:val>
                                        </p:tav>
                                      </p:tavLst>
                                    </p:anim>
                                    <p:anim calcmode="lin" valueType="num">
                                      <p:cBhvr>
                                        <p:cTn id="50" dur="1000" fill="hold"/>
                                        <p:tgtEl>
                                          <p:spTgt spid="17"/>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1000"/>
                                        <p:tgtEl>
                                          <p:spTgt spid="15"/>
                                        </p:tgtEl>
                                      </p:cBhvr>
                                    </p:animEffect>
                                    <p:anim calcmode="lin" valueType="num">
                                      <p:cBhvr>
                                        <p:cTn id="54" dur="1000" fill="hold"/>
                                        <p:tgtEl>
                                          <p:spTgt spid="15"/>
                                        </p:tgtEl>
                                        <p:attrNameLst>
                                          <p:attrName>ppt_x</p:attrName>
                                        </p:attrNameLst>
                                      </p:cBhvr>
                                      <p:tavLst>
                                        <p:tav tm="0">
                                          <p:val>
                                            <p:strVal val="#ppt_x"/>
                                          </p:val>
                                        </p:tav>
                                        <p:tav tm="100000">
                                          <p:val>
                                            <p:strVal val="#ppt_x"/>
                                          </p:val>
                                        </p:tav>
                                      </p:tavLst>
                                    </p:anim>
                                    <p:anim calcmode="lin" valueType="num">
                                      <p:cBhvr>
                                        <p:cTn id="55"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8" presetID="22" presetClass="entr" presetSubtype="4" fill="hold" grpId="0" nodeType="clickEffect">
                                  <p:stCondLst>
                                    <p:cond delay="0"/>
                                  </p:stCondLst>
                                  <p:childTnLst>
                                    <p:set>
                                      <p:cBhvr>
                                        <p:cTn id="59" dur="1" fill="hold">
                                          <p:stCondLst>
                                            <p:cond delay="0"/>
                                          </p:stCondLst>
                                        </p:cTn>
                                        <p:tgtEl>
                                          <p:spTgt spid="18"/>
                                        </p:tgtEl>
                                        <p:attrNameLst>
                                          <p:attrName>style.visibility</p:attrName>
                                        </p:attrNameLst>
                                      </p:cBhvr>
                                      <p:to>
                                        <p:strVal val="visible"/>
                                      </p:to>
                                    </p:set>
                                    <p:animEffect transition="in" filter="wipe(down)">
                                      <p:cBhvr>
                                        <p:cTn id="60" dur="500"/>
                                        <p:tgtEl>
                                          <p:spTgt spid="18"/>
                                        </p:tgtEl>
                                      </p:cBhvr>
                                    </p:animEffect>
                                  </p:childTnLst>
                                </p:cTn>
                              </p:par>
                              <p:par>
                                <p:cTn id="61" presetID="22" presetClass="entr" presetSubtype="4" fill="hold"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wipe(down)">
                                      <p:cBhvr>
                                        <p:cTn id="63" dur="500"/>
                                        <p:tgtEl>
                                          <p:spTgt spid="22"/>
                                        </p:tgtEl>
                                      </p:cBhvr>
                                    </p:animEffect>
                                  </p:childTnLst>
                                </p:cTn>
                              </p:par>
                              <p:par>
                                <p:cTn id="64" presetID="22" presetClass="entr" presetSubtype="4" fill="hold" nodeType="with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wipe(down)">
                                      <p:cBhvr>
                                        <p:cTn id="66"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3B957B0-D6C6-4577-8B7A-7AE6F9A32809}"/>
              </a:ext>
            </a:extLst>
          </p:cNvPr>
          <p:cNvSpPr>
            <a:spLocks noGrp="1"/>
          </p:cNvSpPr>
          <p:nvPr>
            <p:ph type="title"/>
          </p:nvPr>
        </p:nvSpPr>
        <p:spPr>
          <a:xfrm>
            <a:off x="0" y="0"/>
            <a:ext cx="12192000" cy="1325563"/>
          </a:xfrm>
        </p:spPr>
        <p:txBody>
          <a:bodyPr/>
          <a:lstStyle/>
          <a:p>
            <a:pPr algn="ctr"/>
            <a:r>
              <a:rPr lang="it-IT" b="1" dirty="0">
                <a:effectLst>
                  <a:outerShdw blurRad="38100" dist="38100" dir="2700000" algn="tl">
                    <a:srgbClr val="000000">
                      <a:alpha val="43137"/>
                    </a:srgbClr>
                  </a:outerShdw>
                </a:effectLst>
              </a:rPr>
              <a:t>ANALYSIS 5: ROLE-BASED MARKET MODELING</a:t>
            </a:r>
          </a:p>
        </p:txBody>
      </p:sp>
      <p:sp>
        <p:nvSpPr>
          <p:cNvPr id="4" name="CasellaDiTesto 3">
            <a:extLst>
              <a:ext uri="{FF2B5EF4-FFF2-40B4-BE49-F238E27FC236}">
                <a16:creationId xmlns:a16="http://schemas.microsoft.com/office/drawing/2014/main" id="{A74517DD-A4B6-DD29-7A71-2AA7C31E040A}"/>
              </a:ext>
            </a:extLst>
          </p:cNvPr>
          <p:cNvSpPr txBox="1"/>
          <p:nvPr/>
        </p:nvSpPr>
        <p:spPr>
          <a:xfrm>
            <a:off x="0" y="1002397"/>
            <a:ext cx="12192000" cy="646331"/>
          </a:xfrm>
          <a:prstGeom prst="rect">
            <a:avLst/>
          </a:prstGeom>
          <a:noFill/>
        </p:spPr>
        <p:txBody>
          <a:bodyPr wrap="square" rtlCol="0">
            <a:spAutoFit/>
          </a:bodyPr>
          <a:lstStyle/>
          <a:p>
            <a:r>
              <a:rPr lang="it-IT" b="1" dirty="0"/>
              <a:t>Goal</a:t>
            </a:r>
            <a:r>
              <a:rPr lang="it-IT" dirty="0"/>
              <a:t>: </a:t>
            </a:r>
            <a:r>
              <a:rPr lang="it-IT" sz="1600" dirty="0"/>
              <a:t>Model </a:t>
            </a:r>
            <a:r>
              <a:rPr lang="it-IT" sz="1600" dirty="0" err="1"/>
              <a:t>value</a:t>
            </a:r>
            <a:r>
              <a:rPr lang="it-IT" sz="1600" dirty="0"/>
              <a:t> per </a:t>
            </a:r>
            <a:r>
              <a:rPr lang="it-IT" sz="1600" dirty="0" err="1"/>
              <a:t>role</a:t>
            </a:r>
            <a:r>
              <a:rPr lang="it-IT" sz="1600" dirty="0"/>
              <a:t> and </a:t>
            </a:r>
            <a:r>
              <a:rPr lang="it-IT" sz="1600" dirty="0" err="1"/>
              <a:t>quantify</a:t>
            </a:r>
            <a:r>
              <a:rPr lang="it-IT" sz="1600" dirty="0"/>
              <a:t> </a:t>
            </a:r>
            <a:r>
              <a:rPr lang="it-IT" sz="1600" dirty="0" err="1"/>
              <a:t>positional</a:t>
            </a:r>
            <a:r>
              <a:rPr lang="it-IT" sz="1600" dirty="0"/>
              <a:t> </a:t>
            </a:r>
            <a:r>
              <a:rPr lang="it-IT" sz="1600" dirty="0" err="1"/>
              <a:t>bias</a:t>
            </a:r>
            <a:endParaRPr lang="it-IT" sz="1600" dirty="0"/>
          </a:p>
          <a:p>
            <a:endParaRPr lang="it-IT" dirty="0"/>
          </a:p>
        </p:txBody>
      </p:sp>
      <p:sp>
        <p:nvSpPr>
          <p:cNvPr id="5" name="CasellaDiTesto 4">
            <a:extLst>
              <a:ext uri="{FF2B5EF4-FFF2-40B4-BE49-F238E27FC236}">
                <a16:creationId xmlns:a16="http://schemas.microsoft.com/office/drawing/2014/main" id="{22EEFFD6-62FC-455D-5B62-D08456EFA21E}"/>
              </a:ext>
            </a:extLst>
          </p:cNvPr>
          <p:cNvSpPr txBox="1"/>
          <p:nvPr/>
        </p:nvSpPr>
        <p:spPr>
          <a:xfrm>
            <a:off x="0" y="1384300"/>
            <a:ext cx="12192000" cy="861774"/>
          </a:xfrm>
          <a:prstGeom prst="rect">
            <a:avLst/>
          </a:prstGeom>
          <a:noFill/>
        </p:spPr>
        <p:txBody>
          <a:bodyPr wrap="square" rtlCol="0">
            <a:spAutoFit/>
          </a:bodyPr>
          <a:lstStyle/>
          <a:p>
            <a:r>
              <a:rPr lang="it-IT" b="1" dirty="0"/>
              <a:t>Method</a:t>
            </a:r>
            <a:r>
              <a:rPr lang="it-IT" dirty="0"/>
              <a:t>: </a:t>
            </a:r>
          </a:p>
          <a:p>
            <a:pPr marL="1200150" lvl="2" indent="-285750">
              <a:buFont typeface="Arial" panose="020B0604020202020204" pitchFamily="34" charset="0"/>
              <a:buChar char="•"/>
            </a:pPr>
            <a:r>
              <a:rPr lang="en-US" sz="1600" dirty="0"/>
              <a:t>Regressed value on metrics separately for each role</a:t>
            </a:r>
          </a:p>
          <a:p>
            <a:pPr marL="1200150" lvl="2" indent="-285750">
              <a:buFont typeface="Arial" panose="020B0604020202020204" pitchFamily="34" charset="0"/>
              <a:buChar char="•"/>
            </a:pPr>
            <a:r>
              <a:rPr lang="en-US" sz="1600" dirty="0"/>
              <a:t>Collected intercepts and R² to compare baselines</a:t>
            </a:r>
          </a:p>
        </p:txBody>
      </p:sp>
      <p:sp>
        <p:nvSpPr>
          <p:cNvPr id="6" name="CasellaDiTesto 5">
            <a:extLst>
              <a:ext uri="{FF2B5EF4-FFF2-40B4-BE49-F238E27FC236}">
                <a16:creationId xmlns:a16="http://schemas.microsoft.com/office/drawing/2014/main" id="{33C204F6-7B78-EB24-6CE5-882743CCB930}"/>
              </a:ext>
            </a:extLst>
          </p:cNvPr>
          <p:cNvSpPr txBox="1"/>
          <p:nvPr/>
        </p:nvSpPr>
        <p:spPr>
          <a:xfrm>
            <a:off x="0" y="2393950"/>
            <a:ext cx="12192000" cy="1384995"/>
          </a:xfrm>
          <a:prstGeom prst="rect">
            <a:avLst/>
          </a:prstGeom>
          <a:noFill/>
        </p:spPr>
        <p:txBody>
          <a:bodyPr wrap="square" rtlCol="0">
            <a:spAutoFit/>
          </a:bodyPr>
          <a:lstStyle/>
          <a:p>
            <a:r>
              <a:rPr lang="en-US" b="1" dirty="0"/>
              <a:t>Note</a:t>
            </a:r>
            <a:r>
              <a:rPr lang="en-US" dirty="0"/>
              <a:t>: </a:t>
            </a:r>
          </a:p>
          <a:p>
            <a:pPr marL="1200150" lvl="2" indent="-285750">
              <a:buFont typeface="Arial" panose="020B0604020202020204" pitchFamily="34" charset="0"/>
              <a:buChar char="•"/>
            </a:pPr>
            <a:r>
              <a:rPr lang="en-US" sz="1600" dirty="0"/>
              <a:t>Intercept shows base market value for the role</a:t>
            </a:r>
          </a:p>
          <a:p>
            <a:pPr marL="1200150" lvl="2" indent="-285750">
              <a:buFont typeface="Arial" panose="020B0604020202020204" pitchFamily="34" charset="0"/>
              <a:buChar char="•"/>
            </a:pPr>
            <a:r>
              <a:rPr lang="en-US" sz="1600" dirty="0"/>
              <a:t>R² indicates how well role-specific metrics explain value</a:t>
            </a:r>
          </a:p>
          <a:p>
            <a:pPr marL="1200150" lvl="2" indent="-285750">
              <a:buFont typeface="Arial" panose="020B0604020202020204" pitchFamily="34" charset="0"/>
              <a:buChar char="•"/>
            </a:pPr>
            <a:endParaRPr lang="en-US" sz="1600" dirty="0"/>
          </a:p>
          <a:p>
            <a:endParaRPr lang="it-IT" dirty="0"/>
          </a:p>
        </p:txBody>
      </p:sp>
      <p:pic>
        <p:nvPicPr>
          <p:cNvPr id="8" name="Immagine 7" descr="Immagine che contiene testo, schermata, diagramma, Rettangolo&#10;&#10;Il contenuto generato dall'IA potrebbe non essere corretto.">
            <a:extLst>
              <a:ext uri="{FF2B5EF4-FFF2-40B4-BE49-F238E27FC236}">
                <a16:creationId xmlns:a16="http://schemas.microsoft.com/office/drawing/2014/main" id="{D353652C-0BE9-DE28-DDEB-5B3D3356A7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7245" y="3613146"/>
            <a:ext cx="4229106" cy="3014136"/>
          </a:xfrm>
          <a:prstGeom prst="rect">
            <a:avLst/>
          </a:prstGeom>
        </p:spPr>
      </p:pic>
      <p:pic>
        <p:nvPicPr>
          <p:cNvPr id="10" name="Immagine 9" descr="Immagine che contiene testo, schermata, diagramma, linea&#10;&#10;Il contenuto generato dall'IA potrebbe non essere corretto.">
            <a:extLst>
              <a:ext uri="{FF2B5EF4-FFF2-40B4-BE49-F238E27FC236}">
                <a16:creationId xmlns:a16="http://schemas.microsoft.com/office/drawing/2014/main" id="{DD7BF081-41D2-CE21-9B21-BC6E059856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73795" y="3613146"/>
            <a:ext cx="4521205" cy="3014136"/>
          </a:xfrm>
          <a:prstGeom prst="rect">
            <a:avLst/>
          </a:prstGeom>
        </p:spPr>
      </p:pic>
    </p:spTree>
    <p:extLst>
      <p:ext uri="{BB962C8B-B14F-4D97-AF65-F5344CB8AC3E}">
        <p14:creationId xmlns:p14="http://schemas.microsoft.com/office/powerpoint/2010/main" val="426593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8" dur="500" fill="hold"/>
                                        <p:tgtEl>
                                          <p:spTgt spid="5"/>
                                        </p:tgtEl>
                                        <p:attrNameLst>
                                          <p:attrName>ppt_x</p:attrName>
                                        </p:attrNameLst>
                                      </p:cBhvr>
                                      <p:tavLst>
                                        <p:tav tm="0">
                                          <p:val>
                                            <p:strVal val="#ppt_x"/>
                                          </p:val>
                                        </p:tav>
                                        <p:tav tm="100000">
                                          <p:val>
                                            <p:strVal val="#ppt_x"/>
                                          </p:val>
                                        </p:tav>
                                      </p:tavLst>
                                    </p:anim>
                                    <p:anim calcmode="lin" valueType="num">
                                      <p:cBhvr additive="base">
                                        <p:cTn id="1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anim calcmode="lin" valueType="num">
                                      <p:cBhvr>
                                        <p:cTn id="31" dur="1000" fill="hold"/>
                                        <p:tgtEl>
                                          <p:spTgt spid="8"/>
                                        </p:tgtEl>
                                        <p:attrNameLst>
                                          <p:attrName>ppt_x</p:attrName>
                                        </p:attrNameLst>
                                      </p:cBhvr>
                                      <p:tavLst>
                                        <p:tav tm="0">
                                          <p:val>
                                            <p:strVal val="#ppt_x"/>
                                          </p:val>
                                        </p:tav>
                                        <p:tav tm="100000">
                                          <p:val>
                                            <p:strVal val="#ppt_x"/>
                                          </p:val>
                                        </p:tav>
                                      </p:tavLst>
                                    </p:anim>
                                    <p:anim calcmode="lin" valueType="num">
                                      <p:cBhvr>
                                        <p:cTn id="3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1000"/>
                                        <p:tgtEl>
                                          <p:spTgt spid="10"/>
                                        </p:tgtEl>
                                      </p:cBhvr>
                                    </p:animEffect>
                                    <p:anim calcmode="lin" valueType="num">
                                      <p:cBhvr>
                                        <p:cTn id="38" dur="1000" fill="hold"/>
                                        <p:tgtEl>
                                          <p:spTgt spid="10"/>
                                        </p:tgtEl>
                                        <p:attrNameLst>
                                          <p:attrName>ppt_x</p:attrName>
                                        </p:attrNameLst>
                                      </p:cBhvr>
                                      <p:tavLst>
                                        <p:tav tm="0">
                                          <p:val>
                                            <p:strVal val="#ppt_x"/>
                                          </p:val>
                                        </p:tav>
                                        <p:tav tm="100000">
                                          <p:val>
                                            <p:strVal val="#ppt_x"/>
                                          </p:val>
                                        </p:tav>
                                      </p:tavLst>
                                    </p:anim>
                                    <p:anim calcmode="lin" valueType="num">
                                      <p:cBhvr>
                                        <p:cTn id="3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2095C61-115A-30FF-7F0C-068D0F3F9AF0}"/>
              </a:ext>
            </a:extLst>
          </p:cNvPr>
          <p:cNvSpPr>
            <a:spLocks noGrp="1"/>
          </p:cNvSpPr>
          <p:nvPr>
            <p:ph type="title"/>
          </p:nvPr>
        </p:nvSpPr>
        <p:spPr>
          <a:xfrm>
            <a:off x="838200" y="18255"/>
            <a:ext cx="10515600" cy="1325563"/>
          </a:xfrm>
        </p:spPr>
        <p:txBody>
          <a:bodyPr/>
          <a:lstStyle/>
          <a:p>
            <a:pPr algn="ctr"/>
            <a:r>
              <a:rPr lang="it-IT" b="1" dirty="0">
                <a:effectLst>
                  <a:outerShdw blurRad="38100" dist="38100" dir="2700000" algn="tl">
                    <a:srgbClr val="000000">
                      <a:alpha val="43137"/>
                    </a:srgbClr>
                  </a:outerShdw>
                </a:effectLst>
              </a:rPr>
              <a:t>CONCLUSIONS</a:t>
            </a:r>
          </a:p>
        </p:txBody>
      </p:sp>
      <p:sp>
        <p:nvSpPr>
          <p:cNvPr id="4" name="CasellaDiTesto 3">
            <a:extLst>
              <a:ext uri="{FF2B5EF4-FFF2-40B4-BE49-F238E27FC236}">
                <a16:creationId xmlns:a16="http://schemas.microsoft.com/office/drawing/2014/main" id="{09833C59-AD81-D293-6552-CD9030A5B020}"/>
              </a:ext>
            </a:extLst>
          </p:cNvPr>
          <p:cNvSpPr txBox="1"/>
          <p:nvPr/>
        </p:nvSpPr>
        <p:spPr>
          <a:xfrm>
            <a:off x="0" y="1168400"/>
            <a:ext cx="12192000" cy="1138773"/>
          </a:xfrm>
          <a:prstGeom prst="rect">
            <a:avLst/>
          </a:prstGeom>
          <a:noFill/>
        </p:spPr>
        <p:txBody>
          <a:bodyPr wrap="square" rtlCol="0">
            <a:spAutoFit/>
          </a:bodyPr>
          <a:lstStyle/>
          <a:p>
            <a:r>
              <a:rPr lang="it-IT" b="1" dirty="0" err="1"/>
              <a:t>What</a:t>
            </a:r>
            <a:r>
              <a:rPr lang="it-IT" b="1" dirty="0"/>
              <a:t> </a:t>
            </a:r>
            <a:r>
              <a:rPr lang="it-IT" b="1" dirty="0" err="1"/>
              <a:t>this</a:t>
            </a:r>
            <a:r>
              <a:rPr lang="it-IT" b="1" dirty="0"/>
              <a:t> project </a:t>
            </a:r>
            <a:r>
              <a:rPr lang="it-IT" b="1" dirty="0" err="1"/>
              <a:t>achieved</a:t>
            </a:r>
            <a:r>
              <a:rPr lang="it-IT" b="1" dirty="0"/>
              <a:t>:</a:t>
            </a:r>
          </a:p>
          <a:p>
            <a:pPr marL="3486150" lvl="7" indent="-285750">
              <a:buFont typeface="Arial" panose="020B0604020202020204" pitchFamily="34" charset="0"/>
              <a:buChar char="•"/>
            </a:pPr>
            <a:r>
              <a:rPr lang="en-US" sz="1600" dirty="0"/>
              <a:t>Built a complete Data Warehouse pipeline: from raw CSVs to a </a:t>
            </a:r>
            <a:r>
              <a:rPr lang="en-US" sz="1600" dirty="0" err="1"/>
              <a:t>queryable</a:t>
            </a:r>
            <a:r>
              <a:rPr lang="en-US" sz="1600" dirty="0"/>
              <a:t> star schema</a:t>
            </a:r>
          </a:p>
          <a:p>
            <a:pPr marL="3486150" lvl="7" indent="-285750">
              <a:buFont typeface="Arial" panose="020B0604020202020204" pitchFamily="34" charset="0"/>
              <a:buChar char="•"/>
            </a:pPr>
            <a:r>
              <a:rPr lang="en-US" sz="1600" dirty="0"/>
              <a:t>Integrated performance metrics and market valuations across top 5 European leagues</a:t>
            </a:r>
          </a:p>
          <a:p>
            <a:pPr marL="3486150" lvl="7" indent="-285750">
              <a:buFont typeface="Arial" panose="020B0604020202020204" pitchFamily="34" charset="0"/>
              <a:buChar char="•"/>
            </a:pPr>
            <a:r>
              <a:rPr lang="it-IT" sz="1600" dirty="0" err="1"/>
              <a:t>Enabled</a:t>
            </a:r>
            <a:r>
              <a:rPr lang="it-IT" sz="1600" dirty="0"/>
              <a:t> </a:t>
            </a:r>
            <a:r>
              <a:rPr lang="it-IT" sz="1600" dirty="0" err="1"/>
              <a:t>meaningful</a:t>
            </a:r>
            <a:r>
              <a:rPr lang="it-IT" sz="1600" dirty="0"/>
              <a:t> </a:t>
            </a:r>
            <a:r>
              <a:rPr lang="it-IT" sz="1600" dirty="0" err="1"/>
              <a:t>statistical</a:t>
            </a:r>
            <a:r>
              <a:rPr lang="it-IT" sz="1600" dirty="0"/>
              <a:t> </a:t>
            </a:r>
            <a:r>
              <a:rPr lang="it-IT" sz="1600" dirty="0" err="1"/>
              <a:t>analysis</a:t>
            </a:r>
            <a:endParaRPr lang="it-IT" sz="1600" dirty="0"/>
          </a:p>
        </p:txBody>
      </p:sp>
      <p:sp>
        <p:nvSpPr>
          <p:cNvPr id="5" name="CasellaDiTesto 4">
            <a:extLst>
              <a:ext uri="{FF2B5EF4-FFF2-40B4-BE49-F238E27FC236}">
                <a16:creationId xmlns:a16="http://schemas.microsoft.com/office/drawing/2014/main" id="{49C2046F-C3DF-AA0D-7A13-B778500C2F4E}"/>
              </a:ext>
            </a:extLst>
          </p:cNvPr>
          <p:cNvSpPr txBox="1"/>
          <p:nvPr/>
        </p:nvSpPr>
        <p:spPr>
          <a:xfrm>
            <a:off x="0" y="2565400"/>
            <a:ext cx="12192000" cy="1415772"/>
          </a:xfrm>
          <a:prstGeom prst="rect">
            <a:avLst/>
          </a:prstGeom>
          <a:noFill/>
        </p:spPr>
        <p:txBody>
          <a:bodyPr wrap="square" rtlCol="0">
            <a:spAutoFit/>
          </a:bodyPr>
          <a:lstStyle/>
          <a:p>
            <a:pPr algn="just"/>
            <a:r>
              <a:rPr lang="it-IT" b="1" dirty="0" err="1"/>
              <a:t>Final</a:t>
            </a:r>
            <a:r>
              <a:rPr lang="it-IT" b="1" dirty="0"/>
              <a:t> </a:t>
            </a:r>
            <a:r>
              <a:rPr lang="it-IT" b="1" dirty="0" err="1"/>
              <a:t>considerations</a:t>
            </a:r>
            <a:r>
              <a:rPr lang="it-IT" b="1" dirty="0"/>
              <a:t>:</a:t>
            </a:r>
          </a:p>
          <a:p>
            <a:pPr marL="2571750" lvl="5" indent="-285750" algn="just">
              <a:buFont typeface="Arial" panose="020B0604020202020204" pitchFamily="34" charset="0"/>
              <a:buChar char="•"/>
            </a:pPr>
            <a:r>
              <a:rPr lang="en-US" sz="1600" dirty="0"/>
              <a:t>Younger players are consistently overvalued compared to older peers with similar performance</a:t>
            </a:r>
          </a:p>
          <a:p>
            <a:pPr marL="2571750" lvl="5" indent="-285750" algn="just">
              <a:buFont typeface="Arial" panose="020B0604020202020204" pitchFamily="34" charset="0"/>
              <a:buChar char="•"/>
            </a:pPr>
            <a:r>
              <a:rPr lang="en-US" sz="1600" dirty="0"/>
              <a:t>Premier League and La Liga players tend to be priced higher regardless of performance</a:t>
            </a:r>
          </a:p>
          <a:p>
            <a:pPr marL="2571750" lvl="5" indent="-285750" algn="just">
              <a:buFont typeface="Arial" panose="020B0604020202020204" pitchFamily="34" charset="0"/>
              <a:buChar char="•"/>
            </a:pPr>
            <a:r>
              <a:rPr lang="en-US" sz="1600" dirty="0"/>
              <a:t>Positional roles affect baseline valuation, forwards have the highest starting point</a:t>
            </a:r>
          </a:p>
          <a:p>
            <a:pPr marL="2571750" lvl="5" indent="-285750" algn="just">
              <a:buFont typeface="Arial" panose="020B0604020202020204" pitchFamily="34" charset="0"/>
              <a:buChar char="•"/>
            </a:pPr>
            <a:endParaRPr lang="it-IT" dirty="0"/>
          </a:p>
        </p:txBody>
      </p:sp>
      <p:sp>
        <p:nvSpPr>
          <p:cNvPr id="9" name="CasellaDiTesto 8">
            <a:extLst>
              <a:ext uri="{FF2B5EF4-FFF2-40B4-BE49-F238E27FC236}">
                <a16:creationId xmlns:a16="http://schemas.microsoft.com/office/drawing/2014/main" id="{D549ACA4-503F-875B-5C57-A7E2F608A667}"/>
              </a:ext>
            </a:extLst>
          </p:cNvPr>
          <p:cNvSpPr txBox="1"/>
          <p:nvPr/>
        </p:nvSpPr>
        <p:spPr>
          <a:xfrm>
            <a:off x="0" y="3981172"/>
            <a:ext cx="12192000" cy="1754326"/>
          </a:xfrm>
          <a:prstGeom prst="rect">
            <a:avLst/>
          </a:prstGeom>
          <a:noFill/>
        </p:spPr>
        <p:txBody>
          <a:bodyPr wrap="square" rtlCol="0">
            <a:spAutoFit/>
          </a:bodyPr>
          <a:lstStyle/>
          <a:p>
            <a:r>
              <a:rPr lang="it-IT" b="1" dirty="0"/>
              <a:t>Link of the repository: </a:t>
            </a:r>
            <a:r>
              <a:rPr lang="it-IT" dirty="0">
                <a:hlinkClick r:id="rId2"/>
              </a:rPr>
              <a:t>https://github.com/mattia9203/Data-Warehouse-on-football-data.git</a:t>
            </a:r>
            <a:endParaRPr lang="it-IT" dirty="0"/>
          </a:p>
          <a:p>
            <a:endParaRPr lang="it-IT" b="1" dirty="0"/>
          </a:p>
          <a:p>
            <a:r>
              <a:rPr lang="it-IT" b="1" dirty="0"/>
              <a:t>Link of the datasets: </a:t>
            </a:r>
          </a:p>
          <a:p>
            <a:pPr marL="342900" indent="-342900">
              <a:buFont typeface="+mj-lt"/>
              <a:buAutoNum type="arabicPeriod"/>
            </a:pPr>
            <a:r>
              <a:rPr lang="it-IT" dirty="0">
                <a:hlinkClick r:id="rId3"/>
              </a:rPr>
              <a:t>https://www.kaggle.com/datasets/conalhenderson/football-data-warehouse/data</a:t>
            </a:r>
            <a:endParaRPr lang="it-IT" dirty="0"/>
          </a:p>
          <a:p>
            <a:pPr marL="342900" indent="-342900">
              <a:buFont typeface="+mj-lt"/>
              <a:buAutoNum type="arabicPeriod"/>
            </a:pPr>
            <a:r>
              <a:rPr lang="it-IT" dirty="0">
                <a:hlinkClick r:id="rId4"/>
              </a:rPr>
              <a:t>https://www.kaggle.com/datasets/davidcariboo/player-scores/data</a:t>
            </a:r>
            <a:endParaRPr lang="it-IT" dirty="0"/>
          </a:p>
          <a:p>
            <a:r>
              <a:rPr lang="it-IT" b="1" dirty="0"/>
              <a:t>		       </a:t>
            </a:r>
          </a:p>
        </p:txBody>
      </p:sp>
      <p:sp>
        <p:nvSpPr>
          <p:cNvPr id="10" name="CasellaDiTesto 9">
            <a:extLst>
              <a:ext uri="{FF2B5EF4-FFF2-40B4-BE49-F238E27FC236}">
                <a16:creationId xmlns:a16="http://schemas.microsoft.com/office/drawing/2014/main" id="{B0EB7929-6BFD-0665-5E84-EEA300BED099}"/>
              </a:ext>
            </a:extLst>
          </p:cNvPr>
          <p:cNvSpPr txBox="1"/>
          <p:nvPr/>
        </p:nvSpPr>
        <p:spPr>
          <a:xfrm>
            <a:off x="0" y="5689600"/>
            <a:ext cx="12192000" cy="984885"/>
          </a:xfrm>
          <a:prstGeom prst="rect">
            <a:avLst/>
          </a:prstGeom>
          <a:noFill/>
        </p:spPr>
        <p:txBody>
          <a:bodyPr wrap="square" rtlCol="0">
            <a:spAutoFit/>
          </a:bodyPr>
          <a:lstStyle/>
          <a:p>
            <a:r>
              <a:rPr lang="it-IT" sz="1600" b="1" dirty="0"/>
              <a:t>Tools and </a:t>
            </a:r>
            <a:r>
              <a:rPr lang="it-IT" sz="1600" b="1" dirty="0" err="1"/>
              <a:t>references</a:t>
            </a:r>
            <a:r>
              <a:rPr lang="it-IT" sz="1600" b="1" dirty="0"/>
              <a:t>: </a:t>
            </a:r>
            <a:r>
              <a:rPr lang="it-IT" sz="1200" dirty="0" err="1"/>
              <a:t>Pandas</a:t>
            </a:r>
            <a:r>
              <a:rPr lang="it-IT" sz="1400" dirty="0"/>
              <a:t> - </a:t>
            </a:r>
            <a:r>
              <a:rPr lang="it-IT" sz="1200" dirty="0">
                <a:hlinkClick r:id="rId5"/>
              </a:rPr>
              <a:t>https://pandas.pydata.org/</a:t>
            </a:r>
            <a:r>
              <a:rPr lang="it-IT" sz="1200" dirty="0" err="1">
                <a:hlinkClick r:id="rId5"/>
              </a:rPr>
              <a:t>docs</a:t>
            </a:r>
            <a:r>
              <a:rPr lang="it-IT" sz="1200" dirty="0">
                <a:hlinkClick r:id="rId5"/>
              </a:rPr>
              <a:t>/</a:t>
            </a:r>
            <a:r>
              <a:rPr lang="it-IT" sz="1400" dirty="0"/>
              <a:t>, </a:t>
            </a:r>
            <a:r>
              <a:rPr lang="it-IT" sz="1200" dirty="0" err="1"/>
              <a:t>PostgreSQL</a:t>
            </a:r>
            <a:r>
              <a:rPr lang="it-IT" sz="1400" dirty="0"/>
              <a:t> - </a:t>
            </a:r>
            <a:r>
              <a:rPr lang="it-IT" sz="1200" dirty="0">
                <a:hlinkClick r:id="rId6"/>
              </a:rPr>
              <a:t>https://www.postgresql.org/docs/ </a:t>
            </a:r>
            <a:r>
              <a:rPr lang="it-IT" sz="1200" dirty="0"/>
              <a:t>, </a:t>
            </a:r>
            <a:r>
              <a:rPr lang="it-IT" sz="1200" dirty="0" err="1"/>
              <a:t>Matplotlib</a:t>
            </a:r>
            <a:r>
              <a:rPr lang="it-IT" sz="1200" dirty="0"/>
              <a:t> - </a:t>
            </a:r>
            <a:r>
              <a:rPr lang="it-IT" sz="1200" dirty="0">
                <a:hlinkClick r:id="rId7"/>
              </a:rPr>
              <a:t>https://matplotlib.org/stable/users/index.html</a:t>
            </a:r>
            <a:endParaRPr lang="it-IT" sz="1200" dirty="0"/>
          </a:p>
          <a:p>
            <a:r>
              <a:rPr lang="it-IT" sz="1200" b="1" dirty="0"/>
              <a:t>		     </a:t>
            </a:r>
          </a:p>
          <a:p>
            <a:r>
              <a:rPr lang="it-IT" sz="1200" b="1" dirty="0"/>
              <a:t>                                                               </a:t>
            </a:r>
            <a:r>
              <a:rPr lang="it-IT" sz="1200" dirty="0" err="1"/>
              <a:t>Statsmodels</a:t>
            </a:r>
            <a:r>
              <a:rPr lang="it-IT" sz="1200" b="1" dirty="0"/>
              <a:t> - </a:t>
            </a:r>
            <a:r>
              <a:rPr lang="it-IT" sz="1200" dirty="0">
                <a:hlinkClick r:id="rId8"/>
              </a:rPr>
              <a:t>https://www.statsmodels.org/stable/index.html</a:t>
            </a:r>
            <a:r>
              <a:rPr lang="it-IT" sz="1200" dirty="0"/>
              <a:t>, </a:t>
            </a:r>
            <a:r>
              <a:rPr lang="it-IT" sz="1200" dirty="0" err="1"/>
              <a:t>SQLAlchemy</a:t>
            </a:r>
            <a:r>
              <a:rPr lang="it-IT" sz="1200" dirty="0"/>
              <a:t> - </a:t>
            </a:r>
            <a:r>
              <a:rPr lang="it-IT" sz="1200" dirty="0">
                <a:hlinkClick r:id="rId9"/>
              </a:rPr>
              <a:t>https://docs.sqlalchemy.org/</a:t>
            </a:r>
            <a:r>
              <a:rPr lang="it-IT" sz="1200" dirty="0"/>
              <a:t>, </a:t>
            </a:r>
            <a:r>
              <a:rPr lang="it-IT" sz="1200" dirty="0" err="1"/>
              <a:t>pgAdmin</a:t>
            </a:r>
            <a:r>
              <a:rPr lang="it-IT" sz="1200" dirty="0"/>
              <a:t> - </a:t>
            </a:r>
            <a:r>
              <a:rPr lang="it-IT" sz="1200" dirty="0">
                <a:hlinkClick r:id="rId10"/>
              </a:rPr>
              <a:t>https://www.pgadmin.org/docs/</a:t>
            </a:r>
            <a:endParaRPr lang="it-IT" sz="1200" dirty="0"/>
          </a:p>
          <a:p>
            <a:endParaRPr lang="it-IT" b="1" dirty="0"/>
          </a:p>
        </p:txBody>
      </p:sp>
    </p:spTree>
    <p:extLst>
      <p:ext uri="{BB962C8B-B14F-4D97-AF65-F5344CB8AC3E}">
        <p14:creationId xmlns:p14="http://schemas.microsoft.com/office/powerpoint/2010/main" val="678875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fill="hold"/>
                                        <p:tgtEl>
                                          <p:spTgt spid="4"/>
                                        </p:tgtEl>
                                        <p:attrNameLst>
                                          <p:attrName>ppt_x</p:attrName>
                                        </p:attrNameLst>
                                      </p:cBhvr>
                                      <p:tavLst>
                                        <p:tav tm="0">
                                          <p:val>
                                            <p:strVal val="#ppt_x"/>
                                          </p:val>
                                        </p:tav>
                                        <p:tav tm="100000">
                                          <p:val>
                                            <p:strVal val="#ppt_x"/>
                                          </p:val>
                                        </p:tav>
                                      </p:tavLst>
                                    </p:anim>
                                    <p:anim calcmode="lin" valueType="num">
                                      <p:cBhvr additive="base">
                                        <p:cTn id="13" dur="500" fill="hold"/>
                                        <p:tgtEl>
                                          <p:spTgt spid="4"/>
                                        </p:tgtEl>
                                        <p:attrNameLst>
                                          <p:attrName>ppt_y</p:attrName>
                                        </p:attrNameLst>
                                      </p:cBhvr>
                                      <p:tavLst>
                                        <p:tav tm="0">
                                          <p:val>
                                            <p:strVal val="1+#ppt_h/2"/>
                                          </p:val>
                                        </p:tav>
                                        <p:tav tm="100000">
                                          <p:val>
                                            <p:strVal val="#ppt_y"/>
                                          </p:val>
                                        </p:tav>
                                      </p:tavLst>
                                    </p:anim>
                                  </p:childTnLst>
                                </p:cTn>
                              </p:par>
                              <p:par>
                                <p:cTn id="14" presetID="2" presetClass="entr" presetSubtype="4"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00" fill="hold"/>
                                        <p:tgtEl>
                                          <p:spTgt spid="5"/>
                                        </p:tgtEl>
                                        <p:attrNameLst>
                                          <p:attrName>ppt_x</p:attrName>
                                        </p:attrNameLst>
                                      </p:cBhvr>
                                      <p:tavLst>
                                        <p:tav tm="0">
                                          <p:val>
                                            <p:strVal val="#ppt_x"/>
                                          </p:val>
                                        </p:tav>
                                        <p:tav tm="100000">
                                          <p:val>
                                            <p:strVal val="#ppt_x"/>
                                          </p:val>
                                        </p:tav>
                                      </p:tavLst>
                                    </p:anim>
                                    <p:anim calcmode="lin" valueType="num">
                                      <p:cBhvr additive="base">
                                        <p:cTn id="17" dur="500" fill="hold"/>
                                        <p:tgtEl>
                                          <p:spTgt spid="5"/>
                                        </p:tgtEl>
                                        <p:attrNameLst>
                                          <p:attrName>ppt_y</p:attrName>
                                        </p:attrNameLst>
                                      </p:cBhvr>
                                      <p:tavLst>
                                        <p:tav tm="0">
                                          <p:val>
                                            <p:strVal val="1+#ppt_h/2"/>
                                          </p:val>
                                        </p:tav>
                                        <p:tav tm="100000">
                                          <p:val>
                                            <p:strVal val="#ppt_y"/>
                                          </p:val>
                                        </p:tav>
                                      </p:tavLst>
                                    </p:anim>
                                  </p:childTnLst>
                                </p:cTn>
                              </p:par>
                              <p:par>
                                <p:cTn id="18" presetID="2" presetClass="entr" presetSubtype="4"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 calcmode="lin" valueType="num">
                                      <p:cBhvr additive="base">
                                        <p:cTn id="20" dur="500" fill="hold"/>
                                        <p:tgtEl>
                                          <p:spTgt spid="9"/>
                                        </p:tgtEl>
                                        <p:attrNameLst>
                                          <p:attrName>ppt_x</p:attrName>
                                        </p:attrNameLst>
                                      </p:cBhvr>
                                      <p:tavLst>
                                        <p:tav tm="0">
                                          <p:val>
                                            <p:strVal val="#ppt_x"/>
                                          </p:val>
                                        </p:tav>
                                        <p:tav tm="100000">
                                          <p:val>
                                            <p:strVal val="#ppt_x"/>
                                          </p:val>
                                        </p:tav>
                                      </p:tavLst>
                                    </p:anim>
                                    <p:anim calcmode="lin" valueType="num">
                                      <p:cBhvr additive="base">
                                        <p:cTn id="21" dur="500" fill="hold"/>
                                        <p:tgtEl>
                                          <p:spTgt spid="9"/>
                                        </p:tgtEl>
                                        <p:attrNameLst>
                                          <p:attrName>ppt_y</p:attrName>
                                        </p:attrNameLst>
                                      </p:cBhvr>
                                      <p:tavLst>
                                        <p:tav tm="0">
                                          <p:val>
                                            <p:strVal val="1+#ppt_h/2"/>
                                          </p:val>
                                        </p:tav>
                                        <p:tav tm="100000">
                                          <p:val>
                                            <p:strVal val="#ppt_y"/>
                                          </p:val>
                                        </p:tav>
                                      </p:tavLst>
                                    </p:anim>
                                  </p:childTnLst>
                                </p:cTn>
                              </p:par>
                              <p:par>
                                <p:cTn id="22" presetID="2" presetClass="entr" presetSubtype="4"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 calcmode="lin" valueType="num">
                                      <p:cBhvr additive="base">
                                        <p:cTn id="24" dur="500" fill="hold"/>
                                        <p:tgtEl>
                                          <p:spTgt spid="10"/>
                                        </p:tgtEl>
                                        <p:attrNameLst>
                                          <p:attrName>ppt_x</p:attrName>
                                        </p:attrNameLst>
                                      </p:cBhvr>
                                      <p:tavLst>
                                        <p:tav tm="0">
                                          <p:val>
                                            <p:strVal val="#ppt_x"/>
                                          </p:val>
                                        </p:tav>
                                        <p:tav tm="100000">
                                          <p:val>
                                            <p:strVal val="#ppt_x"/>
                                          </p:val>
                                        </p:tav>
                                      </p:tavLst>
                                    </p:anim>
                                    <p:anim calcmode="lin" valueType="num">
                                      <p:cBhvr additive="base">
                                        <p:cTn id="25"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5" grpId="0"/>
      <p:bldP spid="9" grpId="0"/>
      <p:bldP spid="10" grpId="0"/>
    </p:bldLst>
  </p:timing>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1766</TotalTime>
  <Words>1531</Words>
  <Application>Microsoft Office PowerPoint</Application>
  <PresentationFormat>Widescreen</PresentationFormat>
  <Paragraphs>159</Paragraphs>
  <Slides>19</Slides>
  <Notes>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19</vt:i4>
      </vt:variant>
    </vt:vector>
  </HeadingPairs>
  <TitlesOfParts>
    <vt:vector size="25" baseType="lpstr">
      <vt:lpstr>Aptos</vt:lpstr>
      <vt:lpstr>Aptos Display</vt:lpstr>
      <vt:lpstr>Arial</vt:lpstr>
      <vt:lpstr>Calibri</vt:lpstr>
      <vt:lpstr>Wingdings</vt:lpstr>
      <vt:lpstr>Tema di Office</vt:lpstr>
      <vt:lpstr>Football Data WareHouse</vt:lpstr>
      <vt:lpstr>Motivation &amp; objective</vt:lpstr>
      <vt:lpstr>Datasets Overview</vt:lpstr>
      <vt:lpstr>ETL Process - Overview</vt:lpstr>
      <vt:lpstr>Transform Phase</vt:lpstr>
      <vt:lpstr>Transform Phase </vt:lpstr>
      <vt:lpstr>Preparation and Load Phase</vt:lpstr>
      <vt:lpstr>ETL Process – Final considerations</vt:lpstr>
      <vt:lpstr>DFM Schema</vt:lpstr>
      <vt:lpstr>PostgreSQL and Star Schema</vt:lpstr>
      <vt:lpstr>Population of the database</vt:lpstr>
      <vt:lpstr>SQL VIEWS USED FOR THE ANALYSIS</vt:lpstr>
      <vt:lpstr>ANALYSIS 1 : AGE vs MARKET VALUE</vt:lpstr>
      <vt:lpstr>ANALYSIS 2 : Metric Importance by Role (R²) </vt:lpstr>
      <vt:lpstr>ANALYSIS 3: League Bias</vt:lpstr>
      <vt:lpstr>ANALYSIS 3: League Bias</vt:lpstr>
      <vt:lpstr>ANALYSIS 4: Market Value Evolution Over Time </vt:lpstr>
      <vt:lpstr>ANALYSIS 5: ROLE-BASED MARKET MODELING</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Mattia Maucione</dc:creator>
  <cp:lastModifiedBy>Mattia Maucione</cp:lastModifiedBy>
  <cp:revision>16</cp:revision>
  <dcterms:created xsi:type="dcterms:W3CDTF">2025-06-16T15:42:15Z</dcterms:created>
  <dcterms:modified xsi:type="dcterms:W3CDTF">2025-07-11T16:39:40Z</dcterms:modified>
</cp:coreProperties>
</file>